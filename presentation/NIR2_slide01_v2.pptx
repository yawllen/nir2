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6" r:id="rId4"/>
    <p:sldId id="268" r:id="rId5"/>
    <p:sldId id="273" r:id="rId6"/>
    <p:sldId id="270" r:id="rId7"/>
    <p:sldId id="271" r:id="rId8"/>
    <p:sldId id="272" r:id="rId9"/>
    <p:sldId id="274" r:id="rId10"/>
    <p:sldId id="266" r:id="rId11"/>
  </p:sldIdLst>
  <p:sldSz cx="9144000" cy="6858000" type="screen4x3"/>
  <p:notesSz cx="6858000" cy="9144000"/>
  <p:defaultTextStyle>
    <a:defPPr>
      <a:buNone/>
    </a:defPPr>
    <a:lvl1pPr marL="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083E6E3-FA7D-4D7B-A595-EF9225AFEA82}" styleName="Светлый стиль 1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1" d="100"/>
          <a:sy n="71" d="100"/>
        </p:scale>
        <p:origin x="40" y="7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Титульные сведения: C:/Users/Yawllen/Documents/GitHub/Nir2/Title.tex. Группа ИВТм-251 и научный руководитель А. С. Астахов уточнены пользователем. Визуальный шаблон: первый слайд C:/Users/Yawllen/Downloads/Eshenko_VKR.pptx.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448156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28071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1BACC8-2C4D-334B-9042-96E69D47F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22BE1D05-A3F2-9A1C-96D7-51E72924A0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01E14AF7-2AA3-67C6-62C2-2ADB9EC803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D686308-0247-4379-103C-289F8CA0A1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7347D7-6652-406A-AA51-ABE302EA4CF8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44389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1BACC8-2C4D-334B-9042-96E69D47F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22BE1D05-A3F2-9A1C-96D7-51E72924A0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01E14AF7-2AA3-67C6-62C2-2ADB9EC803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D686308-0247-4379-103C-289F8CA0A1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7347D7-6652-406A-AA51-ABE302EA4CF8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39818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726DC-CE10-F03F-2142-18D5DEE97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CBD27571-4120-1AD9-24AF-1F6C37D039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C020C72C-20DC-053F-06DA-226D6D644D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5F1735C-DD43-29D0-C068-51A4DFD826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7347D7-6652-406A-AA51-ABE302EA4CF8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98463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726DC-CE10-F03F-2142-18D5DEE97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CBD27571-4120-1AD9-24AF-1F6C37D039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C020C72C-20DC-053F-06DA-226D6D644D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5F1735C-DD43-29D0-C068-51A4DFD826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7347D7-6652-406A-AA51-ABE302EA4CF8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02733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726DC-CE10-F03F-2142-18D5DEE97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CBD27571-4120-1AD9-24AF-1F6C37D039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C020C72C-20DC-053F-06DA-226D6D644D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5F1735C-DD43-29D0-C068-51A4DFD826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7347D7-6652-406A-AA51-ABE302EA4CF8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98948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726DC-CE10-F03F-2142-18D5DEE97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CBD27571-4120-1AD9-24AF-1F6C37D039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C020C72C-20DC-053F-06DA-226D6D644D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5F1735C-DD43-29D0-C068-51A4DFD826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7347D7-6652-406A-AA51-ABE302EA4CF8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59531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4C388F-DEE8-4999-80DA-4B08D9C6AE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Образец заголовка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26C57B-B7B9-44ED-8C6F-DD39ABA58A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Образец подзаголовка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FE8F56-F9DD-4EBB-8D7D-653AD4D57F8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0FFA9E1-D308-41E7-A8C4-3E7207C0A6E1}" type="datetimeFigureOut">
              <a:t>08.10.2026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C080A1-B1C3-40DF-A5E5-D24C706F667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1F9F49-A4A0-4CDA-B3A7-871709CE7D9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6ED8A53-8D2F-4011-BE06-EDB0774336BA}" type="slidenum"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D0A74-FEAB-4613-88EF-54A0A6D46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Образец заголовка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2C022A-C158-40E5-B7EE-7ECD7BFAC8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51D32F-F627-436D-8334-BEAC64706DC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0FFA9E1-D308-41E7-A8C4-3E7207C0A6E1}" type="datetimeFigureOut">
              <a:t>08.10.2026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6CE828-67B2-4444-929F-5321B45AA52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A9A65A-E6E0-4F5F-AFDD-97A08A57B0E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6ED8A53-8D2F-4011-BE06-EDB0774336BA}" type="slidenum"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B6B0C-7344-4431-97A8-11EDF4BA2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Образец заголовка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B8E9C-3084-4625-8E03-F9FED502F5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DAAF5B-621A-4438-B4C6-6F2CA534112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0FFA9E1-D308-41E7-A8C4-3E7207C0A6E1}" type="datetimeFigureOut">
              <a:t>08.10.2026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94CF84-34C8-420C-9C94-37AC72D88D9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38660F-AB7F-403A-AA16-3575B45A308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6ED8A53-8D2F-4011-BE06-EDB0774336BA}" type="slidenum"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1C073-DA93-462D-92EF-EAB28C3BF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Образец заголовка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4DF1C2-8D54-44FD-B541-0BF158C772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1CA6C0-736D-4A89-97F5-B0013D6D71A4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AE2AC1-B710-47D7-A39F-322CF1707C8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0FFA9E1-D308-41E7-A8C4-3E7207C0A6E1}" type="datetimeFigureOut">
              <a:t>08.10.2026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8DA8DB-42F1-4912-8081-4426A6F347C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B7B3AA-4994-402A-9168-DC2C25EF2EE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6ED8A53-8D2F-4011-BE06-EDB0774336BA}" type="slidenum"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C9060-334F-4364-A593-C6A5F1C90D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t>Образец заголовка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782AE4-D909-420E-A442-752611BD70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7E7F8D-A36A-4049-808E-063A552764E9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334DA7-E5A8-4668-BC62-EC8C60B4E2C1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68618A-04E8-4CCE-A9E4-4A649FDE1901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491C88F-9BDC-48E9-9C80-737529C09AD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0FFA9E1-D308-41E7-A8C4-3E7207C0A6E1}" type="datetimeFigureOut">
              <a:t>08.10.2026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C377B7-C9A0-47AD-8ED5-611704EEF9E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71D917-B3D4-44AE-B364-D7812D1A40F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6ED8A53-8D2F-4011-BE06-EDB0774336BA}" type="slidenum"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DD367-135D-4516-AC8A-A92E8201C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Образец заголовка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238541-2621-4C5F-AA05-B9D6C59A180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0FFA9E1-D308-41E7-A8C4-3E7207C0A6E1}" type="datetimeFigureOut">
              <a:t>08.10.2026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D53E81-B4C5-4C85-9FEC-B133C0F7240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103A86-A27B-4838-A9BE-FDFF85BBA18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6ED8A53-8D2F-4011-BE06-EDB0774336BA}" type="slidenum"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229F4D-0648-4B9E-8A6F-1B7EA1654CE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0FFA9E1-D308-41E7-A8C4-3E7207C0A6E1}" type="datetimeFigureOut">
              <a:t>08.10.2026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C727DE-4D07-4459-B460-69CA08CDA0B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97132C-A107-42A9-A593-E2F1BA9CB94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6ED8A53-8D2F-4011-BE06-EDB0774336BA}" type="slidenum"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C7406-F75E-40A2-9B5A-F27948D0E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Образец заголовка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967158-6170-4FC7-856A-8205BBAF3E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A558BE-EDBE-4F50-A862-6DBA416D173D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38FB7D-9228-41EB-BE6B-599554EA577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0FFA9E1-D308-41E7-A8C4-3E7207C0A6E1}" type="datetimeFigureOut">
              <a:t>08.10.2026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A4B719-B4B7-4F42-BD3F-01EC1441697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689AC8-8D43-44CB-AAB7-9AE138C6CE9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6ED8A53-8D2F-4011-BE06-EDB0774336BA}" type="slidenum"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19385-C566-4337-BE85-EE2C6C9D5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Образец заголовка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CB96CEB-8A1B-447C-A05B-53A238D04E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t>Вставка рисунка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873D77-200D-4493-A725-400D2744AA49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B3FF7D-FDA6-4E12-99E3-388C062D83A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0FFA9E1-D308-41E7-A8C4-3E7207C0A6E1}" type="datetimeFigureOut">
              <a:t>08.10.2026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6E235E-A01B-4009-A5F5-6642D81957E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373340-F8F1-40F0-9881-4514E0D96EB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6ED8A53-8D2F-4011-BE06-EDB0774336BA}" type="slidenum"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B8FD7-CE2D-40A2-AB93-AC97CB944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Образец заголовка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EDC243-3A9A-42D3-A38A-95EFB40219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BA6133-9BFC-47CE-BAF1-E9AA5220563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0FFA9E1-D308-41E7-A8C4-3E7207C0A6E1}" type="datetimeFigureOut">
              <a:t>08.10.2026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F88FD5-1CC6-45E6-A6B3-31A633082CD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3C1CFA-A7E3-4580-94FF-ED73E79675B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6ED8A53-8D2F-4011-BE06-EDB0774336BA}" type="slidenum"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95C103D-EC12-4503-8554-224CFE9719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t>Образец заголовка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EC51D8-B839-44CA-A112-44746FCE1A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3B89CB-3176-482E-ADAC-8096540C4D2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0FFA9E1-D308-41E7-A8C4-3E7207C0A6E1}" type="datetimeFigureOut">
              <a:t>08.10.2026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20CCB3-9BD0-4474-8AE4-C8F1EB2E33D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EB7441-6A01-45BB-BF93-75993D6571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6ED8A53-8D2F-4011-BE06-EDB0774336BA}" type="slidenum">
              <a:t>‹#›</a:t>
            </a:fld>
            <a:endParaRPr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24AF1C-5263-45DE-B0BF-4C7856D7D7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Образец заголовка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8C9B1E-1B94-4341-9B43-62399FE44A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347B43-022E-43C0-9C4C-EDA69A2326C1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FFA9E1-D308-41E7-A8C4-3E7207C0A6E1}" type="datetimeFigureOut">
              <a:t>08.10.2026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476C5F-40E1-410B-BAA7-B63D1B24D54E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E494A4-AEEB-44DD-AC94-FA16A78739FC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ED8A53-8D2F-4011-BE06-EDB0774336BA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C49197F-1F94-4487-96B4-5CC8E191D2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6126" y="1660941"/>
            <a:ext cx="7966787" cy="1467730"/>
          </a:xfrm>
        </p:spPr>
        <p:txBody>
          <a:bodyPr vert="horz" lIns="91440" tIns="45720" rIns="91440" bIns="45720" anchor="ctr">
            <a:noAutofit/>
          </a:bodyPr>
          <a:lstStyle>
            <a:defPPr algn="ctr">
              <a:defRPr sz="3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buNone/>
              <a:defRPr sz="3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6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Автоматическое</a:t>
            </a:r>
            <a:r>
              <a:rPr sz="36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</a:t>
            </a:r>
            <a:r>
              <a:rPr sz="36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выявление</a:t>
            </a:r>
            <a:endParaRPr sz="3600" b="1" dirty="0">
              <a:solidFill>
                <a:srgbClr val="00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</a:endParaRPr>
          </a:p>
          <a:p>
            <a:pPr algn="ctr">
              <a:buNone/>
              <a:defRPr sz="3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6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дефектов</a:t>
            </a:r>
            <a:r>
              <a:rPr sz="36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в </a:t>
            </a:r>
            <a:r>
              <a:rPr sz="36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процессе</a:t>
            </a:r>
            <a:r>
              <a:rPr sz="36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3D-печати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5F81F08-5D1E-4085-9EBA-0CC100597D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2393" y="4487371"/>
            <a:ext cx="7970520" cy="1749400"/>
          </a:xfrm>
        </p:spPr>
        <p:txBody>
          <a:bodyPr vert="horz" lIns="91440" tIns="45720" rIns="91440" bIns="45720" anchor="ctr">
            <a:noAutofit/>
          </a:bodyPr>
          <a:lstStyle>
            <a:def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just"/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Студент группы ИВТм-2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1:                                     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Ешенко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Даниил Ярославович</a:t>
            </a:r>
          </a:p>
          <a:p>
            <a:pPr algn="just"/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Руководитель практики:     к. ф.-м. н.,</a:t>
            </a:r>
            <a:r>
              <a:rPr lang="ru-RU" sz="18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доцент каф. ИСКM, Иванченко Г. С.</a:t>
            </a:r>
          </a:p>
          <a:p>
            <a:pPr algn="just"/>
            <a:r>
              <a:rPr lang="ru-RU" sz="18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Научный консультант:                          ст. преп. каф. ИСКМ, Астахов А.С.</a:t>
            </a:r>
            <a:endParaRPr lang="ru-RU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CF1438-5AC9-43E1-AF5B-1B0FBA2C3062}"/>
              </a:ext>
            </a:extLst>
          </p:cNvPr>
          <p:cNvSpPr>
            <a:spLocks noGrp="1"/>
          </p:cNvSpPr>
          <p:nvPr/>
        </p:nvSpPr>
        <p:spPr>
          <a:xfrm>
            <a:off x="714393" y="321974"/>
            <a:ext cx="7968520" cy="101566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buNone/>
            </a:pPr>
            <a:r>
              <a:rPr sz="2000" b="0" i="0" u="none" strike="noStrike" baseline="0" dirty="0" err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Волгоградский</a:t>
            </a:r>
            <a:r>
              <a:rPr sz="2000" b="0" i="0" u="none" strike="noStrike" baseline="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</a:t>
            </a:r>
            <a:r>
              <a:rPr sz="2000" b="0" i="0" u="none" strike="noStrike" baseline="0" dirty="0" err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государственный</a:t>
            </a:r>
            <a:r>
              <a:rPr sz="2000" b="0" i="0" u="none" strike="noStrike" baseline="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</a:t>
            </a:r>
            <a:r>
              <a:rPr sz="2000" b="0" i="0" u="none" strike="noStrike" baseline="0" dirty="0" err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университет</a:t>
            </a:r>
            <a:endParaRPr sz="2000" b="0" i="0" u="none" strike="noStrike" baseline="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</a:endParaRPr>
          </a:p>
          <a:p>
            <a:pPr algn="ctr">
              <a:buNone/>
            </a:pPr>
            <a:r>
              <a:rPr sz="2000" b="0" i="0" u="none" strike="noStrike" baseline="0" dirty="0" err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Институт</a:t>
            </a:r>
            <a:r>
              <a:rPr sz="2000" b="0" i="0" u="none" strike="noStrike" baseline="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</a:t>
            </a:r>
            <a:r>
              <a:rPr sz="2000" b="0" i="0" u="none" strike="noStrike" baseline="0" dirty="0" err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математики</a:t>
            </a:r>
            <a:r>
              <a:rPr sz="2000" b="0" i="0" u="none" strike="noStrike" baseline="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и </a:t>
            </a:r>
            <a:r>
              <a:rPr sz="2000" b="0" i="0" u="none" strike="noStrike" baseline="0" dirty="0" err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информационных</a:t>
            </a:r>
            <a:r>
              <a:rPr sz="2000" b="0" i="0" u="none" strike="noStrike" baseline="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</a:t>
            </a:r>
            <a:r>
              <a:rPr sz="2000" b="0" i="0" u="none" strike="noStrike" baseline="0" dirty="0" err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технологий</a:t>
            </a:r>
            <a:endParaRPr sz="2000" b="0" i="0" u="none" strike="noStrike" baseline="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</a:endParaRPr>
          </a:p>
          <a:p>
            <a:pPr algn="ctr">
              <a:buNone/>
            </a:pPr>
            <a:r>
              <a:rPr sz="2000" b="0" i="0" u="none" strike="noStrike" baseline="0" dirty="0" err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Кафедра</a:t>
            </a:r>
            <a:r>
              <a:rPr sz="2000" b="0" i="0" u="none" strike="noStrike" baseline="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</a:t>
            </a:r>
            <a:r>
              <a:rPr sz="2000" b="0" i="0" u="none" strike="noStrike" baseline="0" dirty="0" err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информационных</a:t>
            </a:r>
            <a:r>
              <a:rPr sz="2000" b="0" i="0" u="none" strike="noStrike" baseline="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</a:t>
            </a:r>
            <a:r>
              <a:rPr sz="2000" b="0" i="0" u="none" strike="noStrike" baseline="0" dirty="0" err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систем</a:t>
            </a:r>
            <a:r>
              <a:rPr sz="2000" b="0" i="0" u="none" strike="noStrike" baseline="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и </a:t>
            </a:r>
            <a:r>
              <a:rPr sz="2000" b="0" i="0" u="none" strike="noStrike" baseline="0" dirty="0" err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компьютерного</a:t>
            </a:r>
            <a:r>
              <a:rPr sz="2000" b="0" i="0" u="none" strike="noStrike" baseline="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</a:t>
            </a:r>
            <a:r>
              <a:rPr sz="2000" b="0" i="0" u="none" strike="noStrike" baseline="0" dirty="0" err="1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моделирования</a:t>
            </a:r>
            <a:endParaRPr sz="200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</a:endParaRP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EEB4BB57-FAB3-D4FF-BB40-FB880A2615B3}"/>
              </a:ext>
            </a:extLst>
          </p:cNvPr>
          <p:cNvSpPr>
            <a:spLocks noGrp="1"/>
          </p:cNvSpPr>
          <p:nvPr/>
        </p:nvSpPr>
        <p:spPr>
          <a:xfrm>
            <a:off x="711175" y="3377449"/>
            <a:ext cx="7971738" cy="1109922"/>
          </a:xfrm>
          <a:prstGeom prst="rect">
            <a:avLst/>
          </a:prstGeom>
        </p:spPr>
        <p:txBody>
          <a:bodyPr vert="horz" lIns="91440" tIns="45720" rIns="91440" bIns="45720" anchor="ctr">
            <a:noAutofit/>
          </a:bodyPr>
          <a:lstStyle>
            <a:defPPr algn="ctr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>
            <a:pPr algn="ctr">
              <a:lnSpc>
                <a:spcPct val="100000"/>
              </a:lnSpc>
              <a:buNone/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Научно-исследовательская работа по направлению</a:t>
            </a:r>
            <a:endParaRPr sz="2000">
              <a:latin typeface="Times New Roman" panose="02020603050405020304" pitchFamily="18" charset="0"/>
              <a:ea typeface="Calibri Light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buNone/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09.04.01 «Информатика и вычислительная техника»</a:t>
            </a:r>
            <a:endParaRPr sz="200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</a:endParaRPr>
          </a:p>
        </p:txBody>
      </p:sp>
      <p:sp>
        <p:nvSpPr>
          <p:cNvPr id="8" name="Подзаголовок 2">
            <a:extLst>
              <a:ext uri="{FF2B5EF4-FFF2-40B4-BE49-F238E27FC236}">
                <a16:creationId xmlns:a16="http://schemas.microsoft.com/office/drawing/2014/main" id="{EA943AF4-237A-8CA5-C20E-0B6C8CCD2DB0}"/>
              </a:ext>
            </a:extLst>
          </p:cNvPr>
          <p:cNvSpPr>
            <a:spLocks noGrp="1"/>
          </p:cNvSpPr>
          <p:nvPr/>
        </p:nvSpPr>
        <p:spPr>
          <a:xfrm>
            <a:off x="591820" y="6383842"/>
            <a:ext cx="7960360" cy="297180"/>
          </a:xfrm>
          <a:prstGeom prst="rect">
            <a:avLst/>
          </a:prstGeom>
        </p:spPr>
        <p:txBody>
          <a:bodyPr vert="horz" lIns="91440" tIns="45720" rIns="91440" bIns="45720" anchor="ctr">
            <a:noAutofit/>
          </a:bodyPr>
          <a:lstStyle>
            <a:defPPr algn="ctr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marL="0" indent="0" algn="ctr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Волгоград 2026</a:t>
            </a:r>
          </a:p>
        </p:txBody>
      </p:sp>
      <p:sp>
        <p:nvSpPr>
          <p:cNvPr id="10" name="Подзаголовок 2">
            <a:extLst>
              <a:ext uri="{FF2B5EF4-FFF2-40B4-BE49-F238E27FC236}">
                <a16:creationId xmlns:a16="http://schemas.microsoft.com/office/drawing/2014/main" id="{4D423A90-34D2-345E-BA07-2F7DEF1B1097}"/>
              </a:ext>
            </a:extLst>
          </p:cNvPr>
          <p:cNvSpPr txBox="1">
            <a:spLocks/>
          </p:cNvSpPr>
          <p:nvPr/>
        </p:nvSpPr>
        <p:spPr>
          <a:xfrm>
            <a:off x="722553" y="5168483"/>
            <a:ext cx="7960360" cy="109982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just"/>
            <a:endParaRPr lang="ru-RU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24434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3432" y="-5479"/>
            <a:ext cx="7877136" cy="758162"/>
          </a:xfrm>
        </p:spPr>
        <p:txBody>
          <a:bodyPr>
            <a:normAutofit/>
          </a:bodyPr>
          <a:lstStyle/>
          <a:p>
            <a:pPr algn="ctr"/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работы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5440" y="752683"/>
            <a:ext cx="7885128" cy="1170901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 algn="just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работы — разработка и тестирование версии 3D-принтера с системой обнаружения дефектов в процессе печати и механизмом своевременного реагирования.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4087" y="1960801"/>
            <a:ext cx="7878196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задачи работы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4994" y="2607132"/>
            <a:ext cx="8069450" cy="415498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14630" indent="-214630" algn="just"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Изучение дефектов FDM-печати и выбор целевого дефекта для автоматического обнаружения.</a:t>
            </a:r>
          </a:p>
          <a:p>
            <a:pPr marL="214630" indent="-214630" algn="just"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Проектирование, сборка и отладка аппаратно-программного комплекса экспериментального 3D-принтера.</a:t>
            </a:r>
          </a:p>
          <a:p>
            <a:pPr marL="214630" indent="-214630" algn="just"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Сбор и подготовка данных для обучения нейросети и обучение модели обнаружения целевого дефекта.</a:t>
            </a:r>
          </a:p>
          <a:p>
            <a:pPr marL="214630" indent="-214630" algn="just"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внешней системы контроля печати с автоматическим обнаружением дефектов.</a:t>
            </a:r>
          </a:p>
          <a:p>
            <a:pPr marL="214630" indent="-214630" algn="just"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Тестирование работы системы контроля и 3D-принтера в процессе печати.</a:t>
            </a:r>
          </a:p>
        </p:txBody>
      </p:sp>
      <p:sp>
        <p:nvSpPr>
          <p:cNvPr id="6" name="Замещающий номер слайда 4">
            <a:extLst>
              <a:ext uri="{FF2B5EF4-FFF2-40B4-BE49-F238E27FC236}">
                <a16:creationId xmlns:a16="http://schemas.microsoft.com/office/drawing/2014/main" id="{C78DB24C-FC20-2FE0-98E7-F598D1843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8886" y="6493511"/>
            <a:ext cx="2057400" cy="365125"/>
          </a:xfrm>
        </p:spPr>
        <p:txBody>
          <a:bodyPr/>
          <a:lstStyle/>
          <a:p>
            <a:fld id="{D6ED8A53-8D2F-4011-BE06-EDB0774336BA}" type="slidenum">
              <a:rPr lang="ru-RU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fld>
            <a:endParaRPr lang="ru-RU" sz="2000">
              <a:solidFill>
                <a:schemeClr val="tx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99FE507C-2C48-A423-9756-13891072B7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33" t="13068" r="8466" b="3458"/>
          <a:stretch/>
        </p:blipFill>
        <p:spPr>
          <a:xfrm>
            <a:off x="5021065" y="3247173"/>
            <a:ext cx="3921040" cy="2555874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CC29E7-47AE-4C1B-A66A-06BAB8AB4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-116476"/>
            <a:ext cx="7886700" cy="712868"/>
          </a:xfrm>
        </p:spPr>
        <p:txBody>
          <a:bodyPr wrap="square" lIns="91440" tIns="45720" rIns="91440" bIns="45720">
            <a:noAutofit/>
          </a:bodyPr>
          <a:lstStyle>
            <a:defPPr algn="ctr">
              <a:defRPr sz="44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buNone/>
              <a:defRPr sz="44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40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В </a:t>
            </a:r>
            <a:r>
              <a:rPr sz="4000" b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чем</a:t>
            </a:r>
            <a:r>
              <a:rPr sz="40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4000" b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заключается</a:t>
            </a:r>
            <a:r>
              <a:rPr sz="40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4000" b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проблема</a:t>
            </a:r>
            <a:r>
              <a:rPr sz="40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:</a:t>
            </a:r>
            <a:endParaRPr sz="4000" dirty="0"/>
          </a:p>
        </p:txBody>
      </p:sp>
      <p:sp>
        <p:nvSpPr>
          <p:cNvPr id="5" name="Замещающий номер слайда 4">
            <a:extLst>
              <a:ext uri="{FF2B5EF4-FFF2-40B4-BE49-F238E27FC236}">
                <a16:creationId xmlns:a16="http://schemas.microsoft.com/office/drawing/2014/main" id="{7A7AC3B3-0D3D-46AF-A9AF-3FA15E2C3D9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7088886" y="6493511"/>
            <a:ext cx="2057400" cy="365125"/>
          </a:xfrm>
        </p:spPr>
        <p:txBody>
          <a:bodyPr wrap="square" lIns="91440" tIns="45720" rIns="91440" bIns="45720">
            <a:noAutofit/>
          </a:bodyPr>
          <a:lstStyle>
            <a:defPPr algn="r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r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fld id="{D6ED8A53-8D2F-4011-BE06-EDB0774336BA}" type="slidenum"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</a:t>
            </a:fld>
            <a:endParaRPr sz="2000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A98C53-8330-9192-D210-4F5703BD6F05}"/>
              </a:ext>
            </a:extLst>
          </p:cNvPr>
          <p:cNvSpPr>
            <a:spLocks noGrp="1"/>
          </p:cNvSpPr>
          <p:nvPr/>
        </p:nvSpPr>
        <p:spPr>
          <a:xfrm>
            <a:off x="277897" y="597203"/>
            <a:ext cx="5948583" cy="2297417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="horz" wrap="square" lIns="91440" tIns="45720" rIns="91440" bIns="45720" anchor="ctr">
            <a:noAutofit/>
          </a:bodyPr>
          <a:lstStyle>
            <a:def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ru-RU" sz="18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На фермах 3D-принтеров в процессе печати могут возникать сбои, вызванные различными факторами. Такие дефекты, как отлипание, расслоение или смещение слоёв, в конечном итоге могут привести к </a:t>
            </a:r>
            <a:r>
              <a:rPr lang="ru-RU" sz="18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критическому дефекту «спагетти»</a:t>
            </a:r>
            <a:r>
              <a:rPr lang="ru-RU" sz="18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, при котором пластик начинает хаотично укладываться в воздухе. Такой дефект приводит к перерасходу материала, а в отдельных случаях может стать </a:t>
            </a:r>
            <a:r>
              <a:rPr lang="ru-RU" sz="18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причиной повреждения </a:t>
            </a:r>
            <a:r>
              <a:rPr lang="ru-RU" sz="18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самого 3D-принтера.</a:t>
            </a:r>
            <a:endParaRPr lang="ru-RU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3027D3F-6BC8-2110-F2D0-39287E8FAFD7}"/>
              </a:ext>
            </a:extLst>
          </p:cNvPr>
          <p:cNvSpPr>
            <a:spLocks noGrp="1"/>
          </p:cNvSpPr>
          <p:nvPr/>
        </p:nvSpPr>
        <p:spPr>
          <a:xfrm>
            <a:off x="6440105" y="2547592"/>
            <a:ext cx="2182057" cy="5791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Рис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 1 – </a:t>
            </a:r>
            <a:r>
              <a:rPr sz="1600" b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Дефект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600" b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типа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«</a:t>
            </a:r>
            <a:r>
              <a:rPr sz="1600" b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спагетти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»</a:t>
            </a:r>
          </a:p>
        </p:txBody>
      </p:sp>
      <p:pic>
        <p:nvPicPr>
          <p:cNvPr id="4" name="Рисунок 3" descr="Изображение выглядит как искусство, дизайн, соединитель, свет&#10;&#10;Содержимое, созданное ИИ, может быть неверным.">
            <a:extLst>
              <a:ext uri="{FF2B5EF4-FFF2-40B4-BE49-F238E27FC236}">
                <a16:creationId xmlns:a16="http://schemas.microsoft.com/office/drawing/2014/main" id="{AE67ED3C-CB37-618A-EEBF-9C9FF1AB5D4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291" t="18812" r="21153" b="24354"/>
          <a:stretch/>
        </p:blipFill>
        <p:spPr>
          <a:xfrm>
            <a:off x="6333293" y="704535"/>
            <a:ext cx="2288869" cy="1792981"/>
          </a:xfrm>
          <a:prstGeom prst="rect">
            <a:avLst/>
          </a:prstGeom>
          <a:ln w="28575">
            <a:noFill/>
          </a:ln>
        </p:spPr>
      </p:pic>
      <p:sp>
        <p:nvSpPr>
          <p:cNvPr id="6" name="TextBox 2">
            <a:extLst>
              <a:ext uri="{FF2B5EF4-FFF2-40B4-BE49-F238E27FC236}">
                <a16:creationId xmlns:a16="http://schemas.microsoft.com/office/drawing/2014/main" id="{452C65C1-2992-0840-D7B0-DF2AD9057D63}"/>
              </a:ext>
            </a:extLst>
          </p:cNvPr>
          <p:cNvSpPr>
            <a:spLocks noGrp="1"/>
          </p:cNvSpPr>
          <p:nvPr/>
        </p:nvSpPr>
        <p:spPr>
          <a:xfrm>
            <a:off x="277897" y="3017804"/>
            <a:ext cx="4637770" cy="2791593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="horz" wrap="square" lIns="91440" tIns="45720" rIns="91440" bIns="45720" anchor="ctr">
            <a:noAutofit/>
          </a:bodyPr>
          <a:lstStyle>
            <a:def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ru-RU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Проблему удалось подтвердить на ферме Волгоградской компании «</a:t>
            </a:r>
            <a:r>
              <a:rPr lang="ru-RU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Stereotech</a:t>
            </a:r>
            <a:r>
              <a:rPr lang="ru-RU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». По накопленной статистике принтеров с фермы, 26,7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% заданий были отменены оператором вручную из-за подобных сбоев. Статистика имеет погрешность, так как часть успешных заданий — это печати, когда оператор не мог отменить задачу, хотя сбой был, а часть отмен не связаны со сбоем.</a:t>
            </a:r>
            <a:endParaRPr lang="ru-RU" dirty="0"/>
          </a:p>
        </p:txBody>
      </p:sp>
      <p:sp>
        <p:nvSpPr>
          <p:cNvPr id="12" name="TextBox 26">
            <a:extLst>
              <a:ext uri="{FF2B5EF4-FFF2-40B4-BE49-F238E27FC236}">
                <a16:creationId xmlns:a16="http://schemas.microsoft.com/office/drawing/2014/main" id="{DC9D2F2B-4F62-AFAE-5BC3-F6D246AAE8E4}"/>
              </a:ext>
            </a:extLst>
          </p:cNvPr>
          <p:cNvSpPr>
            <a:spLocks noGrp="1"/>
          </p:cNvSpPr>
          <p:nvPr/>
        </p:nvSpPr>
        <p:spPr>
          <a:xfrm>
            <a:off x="4868975" y="6014767"/>
            <a:ext cx="4073130" cy="5791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anchor="ctr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Рис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 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 – 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Диаграмма статистики печатей на ферме компании «</a:t>
            </a:r>
            <a:r>
              <a:rPr lang="en-US" sz="1600" b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Stereotech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»</a:t>
            </a:r>
            <a:endParaRPr sz="1600" b="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1" name="TextBox 2">
            <a:extLst>
              <a:ext uri="{FF2B5EF4-FFF2-40B4-BE49-F238E27FC236}">
                <a16:creationId xmlns:a16="http://schemas.microsoft.com/office/drawing/2014/main" id="{776FE2EE-EE34-7E14-84FE-9C2304D04340}"/>
              </a:ext>
            </a:extLst>
          </p:cNvPr>
          <p:cNvSpPr>
            <a:spLocks noGrp="1"/>
          </p:cNvSpPr>
          <p:nvPr/>
        </p:nvSpPr>
        <p:spPr>
          <a:xfrm>
            <a:off x="277897" y="5932581"/>
            <a:ext cx="4637770" cy="743492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="horz" wrap="square" lIns="91440" tIns="45720" rIns="91440" bIns="45720" anchor="ctr">
            <a:noAutofit/>
          </a:bodyPr>
          <a:lstStyle>
            <a:def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def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ru-RU" b="1" dirty="0">
                <a:solidFill>
                  <a:srgbClr val="000000"/>
                </a:solidFill>
                <a:latin typeface="Times New Roman"/>
                <a:cs typeface="Times New Roman"/>
              </a:rPr>
              <a:t>Предлагаемое</a:t>
            </a:r>
            <a:r>
              <a:rPr lang="ru-RU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ru-RU" b="1" dirty="0">
                <a:solidFill>
                  <a:srgbClr val="000000"/>
                </a:solidFill>
                <a:latin typeface="Times New Roman"/>
                <a:cs typeface="Times New Roman"/>
              </a:rPr>
              <a:t>решение</a:t>
            </a:r>
            <a:r>
              <a:rPr lang="ru-RU" dirty="0">
                <a:solidFill>
                  <a:srgbClr val="000000"/>
                </a:solidFill>
                <a:latin typeface="Times New Roman"/>
                <a:cs typeface="Times New Roman"/>
              </a:rPr>
              <a:t>: мониторинг печати с помощью методов машинного зрения.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110505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6A209A-B3B7-9043-FC7E-DD693EE6A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8A91D6-F58A-86A8-231A-A5AC58545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48" y="0"/>
            <a:ext cx="7886700" cy="712868"/>
          </a:xfrm>
        </p:spPr>
        <p:txBody>
          <a:bodyPr>
            <a:normAutofit/>
          </a:bodyPr>
          <a:lstStyle/>
          <a:p>
            <a:pPr algn="ctr"/>
            <a:r>
              <a:rPr lang="ru-RU" sz="40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Подготовка к обучению нейросети</a:t>
            </a:r>
          </a:p>
        </p:txBody>
      </p:sp>
      <p:sp>
        <p:nvSpPr>
          <p:cNvPr id="5" name="Замещающий номер слайда 4">
            <a:extLst>
              <a:ext uri="{FF2B5EF4-FFF2-40B4-BE49-F238E27FC236}">
                <a16:creationId xmlns:a16="http://schemas.microsoft.com/office/drawing/2014/main" id="{425BE312-5EC5-E722-FD8E-916DFE636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8886" y="6493511"/>
            <a:ext cx="2057400" cy="365125"/>
          </a:xfrm>
        </p:spPr>
        <p:txBody>
          <a:bodyPr/>
          <a:lstStyle/>
          <a:p>
            <a:fld id="{D6ED8A53-8D2F-4011-BE06-EDB0774336BA}" type="slidenum">
              <a:rPr lang="ru-RU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fld>
            <a:endParaRPr lang="ru-RU" sz="2000">
              <a:solidFill>
                <a:schemeClr val="tx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33275A9-2422-EE65-68B7-2EFC7CB717FE}"/>
              </a:ext>
            </a:extLst>
          </p:cNvPr>
          <p:cNvSpPr txBox="1"/>
          <p:nvPr/>
        </p:nvSpPr>
        <p:spPr>
          <a:xfrm>
            <a:off x="444579" y="731952"/>
            <a:ext cx="3869672" cy="2585323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обнаружения «спагетти» выбрана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ResNet18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Она решает задачу как бинарную классификацию полного кадра: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есть дефект или нет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Локализация дефектов рамкой в прошлых работах показала низкую точность. Детекция объектов сохранена только для поиска детали на столе.</a:t>
            </a:r>
            <a:endParaRPr lang="ru-RU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ED866B5-82E1-33E1-5DF7-1DCBBD9DCDF8}"/>
              </a:ext>
            </a:extLst>
          </p:cNvPr>
          <p:cNvSpPr txBox="1"/>
          <p:nvPr/>
        </p:nvSpPr>
        <p:spPr>
          <a:xfrm>
            <a:off x="4571998" y="709017"/>
            <a:ext cx="4197892" cy="2585323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Датасет содержит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16 126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исходных кадров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без аугментаций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Обучающая выборка включает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9 768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кадров,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валидационная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3 021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кадр, тестовая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3 337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кадров. Их доли составляют 60,6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%, 18,7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% и 20,7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% соответственно. В обучающей выборке представлены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2 751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кадр со «спагетти» и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7 017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кадров без видимых признаков этого дефекта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8B6B692-286B-EE82-F648-38C45239ECF9}"/>
              </a:ext>
            </a:extLst>
          </p:cNvPr>
          <p:cNvSpPr txBox="1"/>
          <p:nvPr/>
        </p:nvSpPr>
        <p:spPr>
          <a:xfrm>
            <a:off x="480428" y="3410116"/>
            <a:ext cx="3869672" cy="3139321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каждой эпохе обучения сохранялся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баланс классов 50/50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модель получала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5 502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показа изображений, по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2 751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каждый класс. После аугментации обучающая выборка содержит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29 304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изображения: к каждому исходному кадру добавлены два варианта.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Валидационная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тестовая выборки содержат только исходные изображения и не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аугментируются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3" name="TextBox 26">
            <a:extLst>
              <a:ext uri="{FF2B5EF4-FFF2-40B4-BE49-F238E27FC236}">
                <a16:creationId xmlns:a16="http://schemas.microsoft.com/office/drawing/2014/main" id="{DAC2E642-4E22-B5B0-DB31-19292E122F11}"/>
              </a:ext>
            </a:extLst>
          </p:cNvPr>
          <p:cNvSpPr>
            <a:spLocks noGrp="1"/>
          </p:cNvSpPr>
          <p:nvPr/>
        </p:nvSpPr>
        <p:spPr>
          <a:xfrm>
            <a:off x="4634025" y="5970317"/>
            <a:ext cx="4073130" cy="5791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anchor="ctr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Рис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 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 – 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Диаграмма распределения исходных кадров по выборкам</a:t>
            </a:r>
            <a:endParaRPr sz="1600" b="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2B5EBF5-FBE6-336C-42E4-49A8C5D8A0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2102" y="3317275"/>
            <a:ext cx="3976794" cy="2630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79647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6A209A-B3B7-9043-FC7E-DD693EE6A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8A91D6-F58A-86A8-231A-A5AC58545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48" y="0"/>
            <a:ext cx="7886700" cy="712868"/>
          </a:xfrm>
        </p:spPr>
        <p:txBody>
          <a:bodyPr>
            <a:normAutofit/>
          </a:bodyPr>
          <a:lstStyle/>
          <a:p>
            <a:pPr algn="ctr"/>
            <a:r>
              <a:rPr lang="ru-RU" sz="40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Результат обучения нейросети</a:t>
            </a:r>
          </a:p>
        </p:txBody>
      </p:sp>
      <p:sp>
        <p:nvSpPr>
          <p:cNvPr id="5" name="Замещающий номер слайда 4">
            <a:extLst>
              <a:ext uri="{FF2B5EF4-FFF2-40B4-BE49-F238E27FC236}">
                <a16:creationId xmlns:a16="http://schemas.microsoft.com/office/drawing/2014/main" id="{425BE312-5EC5-E722-FD8E-916DFE636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8886" y="6493511"/>
            <a:ext cx="2057400" cy="365125"/>
          </a:xfrm>
        </p:spPr>
        <p:txBody>
          <a:bodyPr/>
          <a:lstStyle/>
          <a:p>
            <a:fld id="{D6ED8A53-8D2F-4011-BE06-EDB0774336BA}" type="slidenum">
              <a:rPr lang="ru-RU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fld>
            <a:endParaRPr lang="ru-RU" sz="2000">
              <a:solidFill>
                <a:schemeClr val="tx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33275A9-2422-EE65-68B7-2EFC7CB717FE}"/>
              </a:ext>
            </a:extLst>
          </p:cNvPr>
          <p:cNvSpPr txBox="1"/>
          <p:nvPr/>
        </p:nvSpPr>
        <p:spPr>
          <a:xfrm>
            <a:off x="444579" y="731952"/>
            <a:ext cx="3869672" cy="2585323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обнаружения «спагетти» выбрана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ResNet18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Она решает задачу как бинарную классификацию полного кадра: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есть дефект или нет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Локализация дефектов рамкой в прошлых работах показала низкую точность. Детекция объектов сохранена только для поиска детали на столе.</a:t>
            </a:r>
            <a:endParaRPr lang="ru-RU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ED866B5-82E1-33E1-5DF7-1DCBBD9DCDF8}"/>
              </a:ext>
            </a:extLst>
          </p:cNvPr>
          <p:cNvSpPr txBox="1"/>
          <p:nvPr/>
        </p:nvSpPr>
        <p:spPr>
          <a:xfrm>
            <a:off x="4771553" y="724829"/>
            <a:ext cx="4197892" cy="1477328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Датасет содержит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16 014 кадров без аугментаций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4 574 кадра со «спагетти» и 11 440 кадров без видимых признаков этого дефекта. Выборки делились по соотношению 60/20/20.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8B6B692-286B-EE82-F648-38C45239ECF9}"/>
              </a:ext>
            </a:extLst>
          </p:cNvPr>
          <p:cNvSpPr txBox="1"/>
          <p:nvPr/>
        </p:nvSpPr>
        <p:spPr>
          <a:xfrm>
            <a:off x="487537" y="3466535"/>
            <a:ext cx="3869672" cy="2862322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каждой эпохи обучения сохранялся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баланс классов 50/50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использовались все 2 746 кадров со «спагетти» и столько же случайно выбранных кадров без дефекта. Всего модель получала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5 492 изображения за эпоху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Валидационная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тестовая выборки содержат только исходные изображения без аугментаций.</a:t>
            </a:r>
          </a:p>
        </p:txBody>
      </p:sp>
      <p:sp>
        <p:nvSpPr>
          <p:cNvPr id="3" name="TextBox 26">
            <a:extLst>
              <a:ext uri="{FF2B5EF4-FFF2-40B4-BE49-F238E27FC236}">
                <a16:creationId xmlns:a16="http://schemas.microsoft.com/office/drawing/2014/main" id="{155F7BCE-57B1-4886-841D-DAD17BC5CA7C}"/>
              </a:ext>
            </a:extLst>
          </p:cNvPr>
          <p:cNvSpPr>
            <a:spLocks noGrp="1"/>
          </p:cNvSpPr>
          <p:nvPr/>
        </p:nvSpPr>
        <p:spPr>
          <a:xfrm>
            <a:off x="4703875" y="5554051"/>
            <a:ext cx="4073130" cy="5791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anchor="ctr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Рис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 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4,5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 – 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Диаграмма статистики печатей на ферме компании «</a:t>
            </a:r>
            <a:r>
              <a:rPr lang="en-US" sz="1600" b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Stereotech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»</a:t>
            </a:r>
            <a:endParaRPr sz="1600" b="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254475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9A4193-2A96-4292-27DF-7C8F10ED5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1B51DD-8424-3898-F322-045B44C92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9098"/>
            <a:ext cx="7886700" cy="712868"/>
          </a:xfrm>
        </p:spPr>
        <p:txBody>
          <a:bodyPr>
            <a:normAutofit/>
          </a:bodyPr>
          <a:lstStyle/>
          <a:p>
            <a:pPr algn="ctr"/>
            <a:r>
              <a:rPr lang="ru-RU" sz="4000" dirty="0">
                <a:latin typeface="Times New Roman"/>
                <a:ea typeface="Calibri"/>
                <a:cs typeface="Times New Roman"/>
              </a:rPr>
              <a:t>Обработка на сервере</a:t>
            </a:r>
          </a:p>
        </p:txBody>
      </p:sp>
      <p:sp>
        <p:nvSpPr>
          <p:cNvPr id="4" name="Текстовое поле 3">
            <a:extLst>
              <a:ext uri="{FF2B5EF4-FFF2-40B4-BE49-F238E27FC236}">
                <a16:creationId xmlns:a16="http://schemas.microsoft.com/office/drawing/2014/main" id="{5E8559DA-50BE-07AC-B0EB-3414FBFB6481}"/>
              </a:ext>
            </a:extLst>
          </p:cNvPr>
          <p:cNvSpPr txBox="1"/>
          <p:nvPr/>
        </p:nvSpPr>
        <p:spPr>
          <a:xfrm>
            <a:off x="3775710" y="5640705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altLang="en-US"/>
          </a:p>
        </p:txBody>
      </p:sp>
      <p:sp>
        <p:nvSpPr>
          <p:cNvPr id="5" name="Замещающий номер слайда 4">
            <a:extLst>
              <a:ext uri="{FF2B5EF4-FFF2-40B4-BE49-F238E27FC236}">
                <a16:creationId xmlns:a16="http://schemas.microsoft.com/office/drawing/2014/main" id="{28EFF76E-32CA-AB56-A1FE-FC86064D6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8886" y="6493511"/>
            <a:ext cx="2057400" cy="365125"/>
          </a:xfrm>
        </p:spPr>
        <p:txBody>
          <a:bodyPr/>
          <a:lstStyle/>
          <a:p>
            <a:fld id="{D6ED8A53-8D2F-4011-BE06-EDB0774336BA}" type="slidenum">
              <a:rPr lang="ru-RU" sz="2000" dirty="0" smtClean="0">
                <a:solidFill>
                  <a:schemeClr val="tx1"/>
                </a:solidFill>
                <a:latin typeface="Times New Roman"/>
                <a:cs typeface="Times New Roman"/>
              </a:rPr>
              <a:t>6</a:t>
            </a:fld>
            <a:endParaRPr lang="ru-RU" sz="2000">
              <a:solidFill>
                <a:schemeClr val="tx1"/>
              </a:solidFill>
              <a:latin typeface="Times New Roman"/>
              <a:ea typeface="Calibri"/>
              <a:cs typeface="Times New Roman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FDAB50E-3BD8-57A2-B047-497A3FD50648}"/>
              </a:ext>
            </a:extLst>
          </p:cNvPr>
          <p:cNvSpPr txBox="1"/>
          <p:nvPr/>
        </p:nvSpPr>
        <p:spPr>
          <a:xfrm>
            <a:off x="186213" y="875407"/>
            <a:ext cx="2920514" cy="1477328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dirty="0">
                <a:latin typeface="Times New Roman"/>
                <a:ea typeface="+mn-lt"/>
                <a:cs typeface="+mn-lt"/>
              </a:rPr>
              <a:t>Роль сервера:</a:t>
            </a:r>
            <a:endParaRPr lang="ru-RU" dirty="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ru-RU" b="1" dirty="0">
                <a:latin typeface="Times New Roman"/>
                <a:ea typeface="+mn-lt"/>
                <a:cs typeface="+mn-lt"/>
              </a:rPr>
              <a:t>Централизованная </a:t>
            </a:r>
            <a:r>
              <a:rPr lang="ru-RU" dirty="0">
                <a:latin typeface="Times New Roman"/>
                <a:ea typeface="+mn-lt"/>
                <a:cs typeface="+mn-lt"/>
              </a:rPr>
              <a:t>обработка запросов.</a:t>
            </a:r>
            <a:endParaRPr lang="ru-RU" dirty="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ru-RU" dirty="0">
                <a:latin typeface="Times New Roman"/>
                <a:ea typeface="+mn-lt"/>
                <a:cs typeface="+mn-lt"/>
              </a:rPr>
              <a:t>Выполнение </a:t>
            </a:r>
            <a:r>
              <a:rPr lang="ru-RU" b="1" dirty="0">
                <a:latin typeface="Times New Roman"/>
                <a:ea typeface="+mn-lt"/>
                <a:cs typeface="+mn-lt"/>
              </a:rPr>
              <a:t>ресурсоёмких </a:t>
            </a:r>
            <a:r>
              <a:rPr lang="ru-RU" dirty="0">
                <a:latin typeface="Times New Roman"/>
                <a:ea typeface="+mn-lt"/>
                <a:cs typeface="+mn-lt"/>
              </a:rPr>
              <a:t>задач.</a:t>
            </a:r>
            <a:endParaRPr lang="ru-RU" dirty="0">
              <a:latin typeface="Times New Roman"/>
              <a:cs typeface="Times New Roman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A035444-9EBE-0F23-C21B-B713FDEC75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02968" y="875407"/>
            <a:ext cx="5639137" cy="509357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77D804C-EAD2-5379-2030-7517770A46AB}"/>
              </a:ext>
            </a:extLst>
          </p:cNvPr>
          <p:cNvSpPr txBox="1"/>
          <p:nvPr/>
        </p:nvSpPr>
        <p:spPr>
          <a:xfrm>
            <a:off x="186213" y="2593566"/>
            <a:ext cx="2920514" cy="3416320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Сервер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получает кадр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 камеры и идентификаторы сессии. После кадр анализируется нейросетью, которая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определяет наличие «спагетти»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Сервер возвращает признак дефекта и числовую оценку модели вместе с исходными идентификаторами, связывающими результат с конкретным кадром</a:t>
            </a:r>
          </a:p>
        </p:txBody>
      </p:sp>
      <p:sp>
        <p:nvSpPr>
          <p:cNvPr id="3" name="TextBox 26">
            <a:extLst>
              <a:ext uri="{FF2B5EF4-FFF2-40B4-BE49-F238E27FC236}">
                <a16:creationId xmlns:a16="http://schemas.microsoft.com/office/drawing/2014/main" id="{B2494F24-8111-2CAC-A358-3AE7239D4D1C}"/>
              </a:ext>
            </a:extLst>
          </p:cNvPr>
          <p:cNvSpPr>
            <a:spLocks noGrp="1"/>
          </p:cNvSpPr>
          <p:nvPr/>
        </p:nvSpPr>
        <p:spPr>
          <a:xfrm>
            <a:off x="4085971" y="6009005"/>
            <a:ext cx="4073130" cy="5791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anchor="ctr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Рис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 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6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 –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Блок-схема серверной обработки кадров и определения дефектов FDM-печати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657255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9A4193-2A96-4292-27DF-7C8F10ED5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1B51DD-8424-3898-F322-045B44C92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9098"/>
            <a:ext cx="7886700" cy="712868"/>
          </a:xfrm>
        </p:spPr>
        <p:txBody>
          <a:bodyPr>
            <a:normAutofit/>
          </a:bodyPr>
          <a:lstStyle/>
          <a:p>
            <a:pPr algn="ctr"/>
            <a:r>
              <a:rPr lang="ru-RU" sz="4000" dirty="0">
                <a:latin typeface="Times New Roman"/>
                <a:ea typeface="Calibri"/>
                <a:cs typeface="Times New Roman"/>
              </a:rPr>
              <a:t>Обработка на принтере</a:t>
            </a:r>
          </a:p>
        </p:txBody>
      </p:sp>
      <p:sp>
        <p:nvSpPr>
          <p:cNvPr id="4" name="Текстовое поле 3">
            <a:extLst>
              <a:ext uri="{FF2B5EF4-FFF2-40B4-BE49-F238E27FC236}">
                <a16:creationId xmlns:a16="http://schemas.microsoft.com/office/drawing/2014/main" id="{5E8559DA-50BE-07AC-B0EB-3414FBFB6481}"/>
              </a:ext>
            </a:extLst>
          </p:cNvPr>
          <p:cNvSpPr txBox="1"/>
          <p:nvPr/>
        </p:nvSpPr>
        <p:spPr>
          <a:xfrm>
            <a:off x="3775710" y="5640705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altLang="en-US"/>
          </a:p>
        </p:txBody>
      </p:sp>
      <p:sp>
        <p:nvSpPr>
          <p:cNvPr id="5" name="Замещающий номер слайда 4">
            <a:extLst>
              <a:ext uri="{FF2B5EF4-FFF2-40B4-BE49-F238E27FC236}">
                <a16:creationId xmlns:a16="http://schemas.microsoft.com/office/drawing/2014/main" id="{28EFF76E-32CA-AB56-A1FE-FC86064D6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8886" y="6493511"/>
            <a:ext cx="2057400" cy="365125"/>
          </a:xfrm>
        </p:spPr>
        <p:txBody>
          <a:bodyPr/>
          <a:lstStyle/>
          <a:p>
            <a:fld id="{D6ED8A53-8D2F-4011-BE06-EDB0774336BA}" type="slidenum">
              <a:rPr lang="ru-RU" sz="2000" dirty="0" smtClean="0">
                <a:solidFill>
                  <a:schemeClr val="tx1"/>
                </a:solidFill>
                <a:latin typeface="Times New Roman"/>
                <a:cs typeface="Times New Roman"/>
              </a:rPr>
              <a:t>7</a:t>
            </a:fld>
            <a:endParaRPr lang="ru-RU" sz="2000">
              <a:solidFill>
                <a:schemeClr val="tx1"/>
              </a:solidFill>
              <a:latin typeface="Times New Roman"/>
              <a:ea typeface="Calibri"/>
              <a:cs typeface="Times New Roman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A035444-9EBE-0F23-C21B-B713FDEC75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06727" y="875407"/>
            <a:ext cx="5905217" cy="529535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77D804C-EAD2-5379-2030-7517770A46AB}"/>
              </a:ext>
            </a:extLst>
          </p:cNvPr>
          <p:cNvSpPr txBox="1"/>
          <p:nvPr/>
        </p:nvSpPr>
        <p:spPr>
          <a:xfrm>
            <a:off x="132056" y="875407"/>
            <a:ext cx="2917990" cy="5355312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Единичное обнаружение дефекта не приводит к отмене задания. Локальный модуль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проверяет принадлежность результата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текущей печатной сессии и учитывает последовательные срабатывания. Отрицательный или неопределённый результат сбрасывает счётчик.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После трёх последовательных обнаружений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«спагетти» повторно проверяется активность сессии и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формируется команда отмены печати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3" name="TextBox 26">
            <a:extLst>
              <a:ext uri="{FF2B5EF4-FFF2-40B4-BE49-F238E27FC236}">
                <a16:creationId xmlns:a16="http://schemas.microsoft.com/office/drawing/2014/main" id="{E5B04886-22A1-2CCD-9C65-F1ADEC0EB19F}"/>
              </a:ext>
            </a:extLst>
          </p:cNvPr>
          <p:cNvSpPr>
            <a:spLocks noGrp="1"/>
          </p:cNvSpPr>
          <p:nvPr/>
        </p:nvSpPr>
        <p:spPr>
          <a:xfrm>
            <a:off x="3723995" y="6170765"/>
            <a:ext cx="4670679" cy="5791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anchor="ctr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Рис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 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7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 – 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Блок-схема проверки результатов обнаружения дефекта и отмены FDM-печати</a:t>
            </a:r>
            <a:endParaRPr sz="1600" b="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6" name="TextBox 26">
            <a:extLst>
              <a:ext uri="{FF2B5EF4-FFF2-40B4-BE49-F238E27FC236}">
                <a16:creationId xmlns:a16="http://schemas.microsoft.com/office/drawing/2014/main" id="{8AF7D2B0-5020-6F43-9662-A5B7C34B40EB}"/>
              </a:ext>
            </a:extLst>
          </p:cNvPr>
          <p:cNvSpPr>
            <a:spLocks noGrp="1"/>
          </p:cNvSpPr>
          <p:nvPr/>
        </p:nvSpPr>
        <p:spPr>
          <a:xfrm>
            <a:off x="339471" y="5651599"/>
            <a:ext cx="4073130" cy="5791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anchor="ctr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Рис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 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7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 – </a:t>
            </a:r>
          </a:p>
        </p:txBody>
      </p:sp>
    </p:spTree>
    <p:extLst>
      <p:ext uri="{BB962C8B-B14F-4D97-AF65-F5344CB8AC3E}">
        <p14:creationId xmlns:p14="http://schemas.microsoft.com/office/powerpoint/2010/main" val="13663945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9A4193-2A96-4292-27DF-7C8F10ED5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1B51DD-8424-3898-F322-045B44C92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-64546"/>
            <a:ext cx="7886700" cy="712868"/>
          </a:xfrm>
        </p:spPr>
        <p:txBody>
          <a:bodyPr>
            <a:normAutofit/>
          </a:bodyPr>
          <a:lstStyle/>
          <a:p>
            <a:pPr algn="ctr"/>
            <a:r>
              <a:rPr lang="ru-RU" sz="4000" dirty="0">
                <a:latin typeface="Times New Roman"/>
                <a:ea typeface="Calibri"/>
                <a:cs typeface="Times New Roman"/>
              </a:rPr>
              <a:t>Электросхема 3</a:t>
            </a:r>
            <a:r>
              <a:rPr lang="en-US" sz="4000" dirty="0">
                <a:latin typeface="Times New Roman"/>
                <a:ea typeface="Calibri"/>
                <a:cs typeface="Times New Roman"/>
              </a:rPr>
              <a:t>D-</a:t>
            </a:r>
            <a:r>
              <a:rPr lang="ru-RU" sz="4000" dirty="0">
                <a:latin typeface="Times New Roman"/>
                <a:ea typeface="Calibri"/>
                <a:cs typeface="Times New Roman"/>
              </a:rPr>
              <a:t>принтера</a:t>
            </a:r>
          </a:p>
        </p:txBody>
      </p:sp>
      <p:sp>
        <p:nvSpPr>
          <p:cNvPr id="4" name="Текстовое поле 3">
            <a:extLst>
              <a:ext uri="{FF2B5EF4-FFF2-40B4-BE49-F238E27FC236}">
                <a16:creationId xmlns:a16="http://schemas.microsoft.com/office/drawing/2014/main" id="{5E8559DA-50BE-07AC-B0EB-3414FBFB6481}"/>
              </a:ext>
            </a:extLst>
          </p:cNvPr>
          <p:cNvSpPr txBox="1"/>
          <p:nvPr/>
        </p:nvSpPr>
        <p:spPr>
          <a:xfrm>
            <a:off x="3775710" y="5640705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altLang="en-US"/>
          </a:p>
        </p:txBody>
      </p:sp>
      <p:sp>
        <p:nvSpPr>
          <p:cNvPr id="5" name="Замещающий номер слайда 4">
            <a:extLst>
              <a:ext uri="{FF2B5EF4-FFF2-40B4-BE49-F238E27FC236}">
                <a16:creationId xmlns:a16="http://schemas.microsoft.com/office/drawing/2014/main" id="{28EFF76E-32CA-AB56-A1FE-FC86064D6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8886" y="6493511"/>
            <a:ext cx="2057400" cy="365125"/>
          </a:xfrm>
        </p:spPr>
        <p:txBody>
          <a:bodyPr/>
          <a:lstStyle/>
          <a:p>
            <a:fld id="{D6ED8A53-8D2F-4011-BE06-EDB0774336BA}" type="slidenum">
              <a:rPr lang="ru-RU" sz="2000" dirty="0" smtClean="0">
                <a:solidFill>
                  <a:schemeClr val="tx1"/>
                </a:solidFill>
                <a:latin typeface="Times New Roman"/>
                <a:cs typeface="Times New Roman"/>
              </a:rPr>
              <a:t>8</a:t>
            </a:fld>
            <a:endParaRPr lang="ru-RU" sz="2000">
              <a:solidFill>
                <a:schemeClr val="tx1"/>
              </a:solidFill>
              <a:latin typeface="Times New Roman"/>
              <a:ea typeface="Calibri"/>
              <a:cs typeface="Times New Roman"/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4E875F94-D2E7-0E2D-5267-8B670B1C8A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1681" y="603944"/>
            <a:ext cx="8440637" cy="370864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71BDEBA-A42A-8680-F3A2-087C760E6CFE}"/>
              </a:ext>
            </a:extLst>
          </p:cNvPr>
          <p:cNvSpPr txBox="1"/>
          <p:nvPr/>
        </p:nvSpPr>
        <p:spPr>
          <a:xfrm>
            <a:off x="254001" y="4734036"/>
            <a:ext cx="8487517" cy="2031325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электрической части разрабатываемого 3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D-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принтера выбрана плата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MKS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Robin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Nano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V1.2 (7)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драйвера TMC2209. Плата управляет двигателями (5), нагревателями (1, 2) и вентиляторами, а также получает сигналы с датчиков (6).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Raspberry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3B (10)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обеспечивает подключение камеры (9), сенсорного экрана (8) и обменивается данными с управляющей платой по UART. Блок питания (3) обеспечивает силовые узлы напряжением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 В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а DC-DC-преобразователь (4) понижает его до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 В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для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Raspberry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подключённой периферии.</a:t>
            </a:r>
          </a:p>
        </p:txBody>
      </p:sp>
      <p:sp>
        <p:nvSpPr>
          <p:cNvPr id="16" name="TextBox 26">
            <a:extLst>
              <a:ext uri="{FF2B5EF4-FFF2-40B4-BE49-F238E27FC236}">
                <a16:creationId xmlns:a16="http://schemas.microsoft.com/office/drawing/2014/main" id="{6C4BDD25-6E44-8F04-93A8-3BDF96080B11}"/>
              </a:ext>
            </a:extLst>
          </p:cNvPr>
          <p:cNvSpPr>
            <a:spLocks noGrp="1"/>
          </p:cNvSpPr>
          <p:nvPr/>
        </p:nvSpPr>
        <p:spPr>
          <a:xfrm>
            <a:off x="1313146" y="4181848"/>
            <a:ext cx="6517706" cy="5791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anchor="ctr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Рис. </a:t>
            </a:r>
            <a:r>
              <a:rPr lang="ru-RU" sz="1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8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 – Схема электрической коммутации компонентов 3D-принтера </a:t>
            </a:r>
          </a:p>
        </p:txBody>
      </p:sp>
    </p:spTree>
    <p:extLst>
      <p:ext uri="{BB962C8B-B14F-4D97-AF65-F5344CB8AC3E}">
        <p14:creationId xmlns:p14="http://schemas.microsoft.com/office/powerpoint/2010/main" val="1283765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9A4193-2A96-4292-27DF-7C8F10ED5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1B51DD-8424-3898-F322-045B44C92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-64546"/>
            <a:ext cx="7886700" cy="712868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>
                <a:latin typeface="Times New Roman"/>
                <a:ea typeface="Calibri"/>
                <a:cs typeface="Times New Roman"/>
              </a:rPr>
              <a:t>Тестирование на реальной печати</a:t>
            </a:r>
          </a:p>
        </p:txBody>
      </p:sp>
      <p:sp>
        <p:nvSpPr>
          <p:cNvPr id="4" name="Текстовое поле 3">
            <a:extLst>
              <a:ext uri="{FF2B5EF4-FFF2-40B4-BE49-F238E27FC236}">
                <a16:creationId xmlns:a16="http://schemas.microsoft.com/office/drawing/2014/main" id="{5E8559DA-50BE-07AC-B0EB-3414FBFB6481}"/>
              </a:ext>
            </a:extLst>
          </p:cNvPr>
          <p:cNvSpPr txBox="1"/>
          <p:nvPr/>
        </p:nvSpPr>
        <p:spPr>
          <a:xfrm>
            <a:off x="3775710" y="5640705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altLang="en-US"/>
          </a:p>
        </p:txBody>
      </p:sp>
      <p:sp>
        <p:nvSpPr>
          <p:cNvPr id="5" name="Замещающий номер слайда 4">
            <a:extLst>
              <a:ext uri="{FF2B5EF4-FFF2-40B4-BE49-F238E27FC236}">
                <a16:creationId xmlns:a16="http://schemas.microsoft.com/office/drawing/2014/main" id="{28EFF76E-32CA-AB56-A1FE-FC86064D6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8886" y="6493511"/>
            <a:ext cx="2057400" cy="365125"/>
          </a:xfrm>
        </p:spPr>
        <p:txBody>
          <a:bodyPr/>
          <a:lstStyle/>
          <a:p>
            <a:fld id="{D6ED8A53-8D2F-4011-BE06-EDB0774336BA}" type="slidenum">
              <a:rPr lang="ru-RU" sz="2000" dirty="0" smtClean="0">
                <a:solidFill>
                  <a:schemeClr val="tx1"/>
                </a:solidFill>
                <a:latin typeface="Times New Roman"/>
                <a:cs typeface="Times New Roman"/>
              </a:rPr>
              <a:t>9</a:t>
            </a:fld>
            <a:endParaRPr lang="ru-RU" sz="2000">
              <a:solidFill>
                <a:schemeClr val="tx1"/>
              </a:solidFill>
              <a:latin typeface="Times New Roman"/>
              <a:ea typeface="Calibri"/>
              <a:cs typeface="Times New Roman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71BDEBA-A42A-8680-F3A2-087C760E6CFE}"/>
              </a:ext>
            </a:extLst>
          </p:cNvPr>
          <p:cNvSpPr txBox="1"/>
          <p:nvPr/>
        </p:nvSpPr>
        <p:spPr>
          <a:xfrm>
            <a:off x="203200" y="4078032"/>
            <a:ext cx="3882390" cy="2585323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процессе печати после запуска контролируемого сбоя, модель постепенно увеличивала оценку обнаружения «спагетти». Через </a:t>
            </a:r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Через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 мин 21 с,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система контроля получила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уверенных последовательных обнаружения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принтер отменил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задание с выводом соответствующей ошибки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265B33C-B5D3-98C3-9211-F88247D6644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750" t="10273" r="32713" b="28766"/>
          <a:stretch/>
        </p:blipFill>
        <p:spPr>
          <a:xfrm>
            <a:off x="4572000" y="678623"/>
            <a:ext cx="4073130" cy="2608849"/>
          </a:xfrm>
          <a:prstGeom prst="rect">
            <a:avLst/>
          </a:prstGeom>
        </p:spPr>
      </p:pic>
      <p:sp>
        <p:nvSpPr>
          <p:cNvPr id="10" name="TextBox 26">
            <a:extLst>
              <a:ext uri="{FF2B5EF4-FFF2-40B4-BE49-F238E27FC236}">
                <a16:creationId xmlns:a16="http://schemas.microsoft.com/office/drawing/2014/main" id="{B3EABF96-386D-700B-07FB-75E0CD46DA63}"/>
              </a:ext>
            </a:extLst>
          </p:cNvPr>
          <p:cNvSpPr>
            <a:spLocks noGrp="1"/>
          </p:cNvSpPr>
          <p:nvPr/>
        </p:nvSpPr>
        <p:spPr>
          <a:xfrm>
            <a:off x="4572000" y="3280969"/>
            <a:ext cx="4073130" cy="5791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anchor="ctr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Рис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 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9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 –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Кадр с камеры </a:t>
            </a:r>
            <a:r>
              <a:rPr lang="en-US" sz="1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3D-</a:t>
            </a:r>
            <a:r>
              <a:rPr lang="ru-RU" sz="1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принтера с дефектом типа  «спагетти»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</a:p>
        </p:txBody>
      </p:sp>
      <p:graphicFrame>
        <p:nvGraphicFramePr>
          <p:cNvPr id="11" name="Таблица 10">
            <a:extLst>
              <a:ext uri="{FF2B5EF4-FFF2-40B4-BE49-F238E27FC236}">
                <a16:creationId xmlns:a16="http://schemas.microsoft.com/office/drawing/2014/main" id="{BDAA191B-FE24-F716-CFE2-146C9DF24C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5620183"/>
              </p:ext>
            </p:extLst>
          </p:nvPr>
        </p:nvGraphicFramePr>
        <p:xfrm>
          <a:off x="203200" y="678623"/>
          <a:ext cx="3882390" cy="3194144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2159000">
                  <a:extLst>
                    <a:ext uri="{9D8B030D-6E8A-4147-A177-3AD203B41FA5}">
                      <a16:colId xmlns:a16="http://schemas.microsoft.com/office/drawing/2014/main" val="665109338"/>
                    </a:ext>
                  </a:extLst>
                </a:gridCol>
                <a:gridCol w="1723390">
                  <a:extLst>
                    <a:ext uri="{9D8B030D-6E8A-4147-A177-3AD203B41FA5}">
                      <a16:colId xmlns:a16="http://schemas.microsoft.com/office/drawing/2014/main" val="3225751743"/>
                    </a:ext>
                  </a:extLst>
                </a:gridCol>
              </a:tblGrid>
              <a:tr h="412304"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Показатель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Результат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6950191"/>
                  </a:ext>
                </a:extLst>
              </a:tr>
              <a:tr h="914976">
                <a:tc>
                  <a:txBody>
                    <a:bodyPr/>
                    <a:lstStyle/>
                    <a:p>
                      <a:pPr algn="l"/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Время от появления дефекта до срабатывания отмены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 минуты, 21 секунда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6288437"/>
                  </a:ext>
                </a:extLst>
              </a:tr>
              <a:tr h="412304">
                <a:tc>
                  <a:txBody>
                    <a:bodyPr/>
                    <a:lstStyle/>
                    <a:p>
                      <a:pPr algn="l"/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Порог автоматической отмены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043534"/>
                  </a:ext>
                </a:extLst>
              </a:tr>
              <a:tr h="643872">
                <a:tc>
                  <a:txBody>
                    <a:bodyPr/>
                    <a:lstStyle/>
                    <a:p>
                      <a:pPr algn="l"/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Минимальная отображённая оценка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0,3655, в начале записи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4774038"/>
                  </a:ext>
                </a:extLst>
              </a:tr>
              <a:tr h="643872">
                <a:tc>
                  <a:txBody>
                    <a:bodyPr/>
                    <a:lstStyle/>
                    <a:p>
                      <a:pPr algn="l"/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Максимальная отображённая оценка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0,9918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2670564"/>
                  </a:ext>
                </a:extLst>
              </a:tr>
            </a:tbl>
          </a:graphicData>
        </a:graphic>
      </p:graphicFrame>
      <p:sp>
        <p:nvSpPr>
          <p:cNvPr id="12" name="TextBox 26">
            <a:extLst>
              <a:ext uri="{FF2B5EF4-FFF2-40B4-BE49-F238E27FC236}">
                <a16:creationId xmlns:a16="http://schemas.microsoft.com/office/drawing/2014/main" id="{0F1BE2F2-80C9-8159-C3BF-933349087573}"/>
              </a:ext>
            </a:extLst>
          </p:cNvPr>
          <p:cNvSpPr>
            <a:spLocks noGrp="1"/>
          </p:cNvSpPr>
          <p:nvPr/>
        </p:nvSpPr>
        <p:spPr>
          <a:xfrm>
            <a:off x="4815206" y="6150348"/>
            <a:ext cx="3586718" cy="5791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anchor="ctr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def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Рис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. </a:t>
            </a:r>
            <a:r>
              <a:rPr lang="ru-RU" sz="1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10</a:t>
            </a:r>
            <a:r>
              <a:rPr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 –</a:t>
            </a:r>
            <a:r>
              <a:rPr lang="ru-RU" sz="160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Кадр с камеры </a:t>
            </a:r>
            <a:r>
              <a:rPr lang="en-US" sz="1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3D-</a:t>
            </a:r>
            <a:r>
              <a:rPr lang="ru-RU" sz="1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принтера с примером обнаружения детали</a:t>
            </a:r>
            <a:endParaRPr sz="1600" b="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ED4B603F-73F4-5404-D6AD-383F980E872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68" t="12057" r="32186" b="15292"/>
          <a:stretch/>
        </p:blipFill>
        <p:spPr>
          <a:xfrm>
            <a:off x="5078978" y="4078032"/>
            <a:ext cx="3059174" cy="2095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79853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00634" y="1034005"/>
            <a:ext cx="8736990" cy="5827551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Цель и задачи моей научно-исследовательской работы выполнены:</a:t>
            </a:r>
            <a:endParaRPr lang="ru-RU" sz="20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Изучены дефекты FDM-печати и выбран целевого дефекта для автоматического обнаружения.</a:t>
            </a:r>
          </a:p>
          <a:p>
            <a:pPr>
              <a:lnSpc>
                <a:spcPct val="100000"/>
              </a:lnSpc>
            </a:pP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Сформирован датасет: произведен поиск данных, балансировка классов, </a:t>
            </a:r>
            <a:r>
              <a:rPr lang="ru-RU" sz="20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аугментирование</a:t>
            </a: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разделение на обучающую и тестовую выборки; </a:t>
            </a:r>
          </a:p>
          <a:p>
            <a:pPr marL="214630" indent="-214630">
              <a:lnSpc>
                <a:spcPct val="100000"/>
              </a:lnSpc>
              <a:spcBef>
                <a:spcPts val="0"/>
              </a:spcBef>
              <a:buFont typeface="Arial,Sans-Serif" panose="020B0604020202020204" pitchFamily="34" charset="0"/>
            </a:pPr>
            <a:r>
              <a:rPr lang="ru-RU" sz="20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Обучена нейронная сеть для распознавания дефекта «Спагетти» на основе изображений печатей; </a:t>
            </a:r>
            <a:endParaRPr lang="en-US" sz="20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ru-RU" sz="20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Разработан, собран и отлажен аппаратно-программный комплекса экспериментального 3D-принтера.</a:t>
            </a:r>
            <a:endParaRPr lang="ru-RU" sz="2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Проведен тестовый запуск работы системы контроля и 3D-принтера в процессе печати.</a:t>
            </a:r>
          </a:p>
          <a:p>
            <a:pPr>
              <a:lnSpc>
                <a:spcPct val="100000"/>
              </a:lnSpc>
            </a:pP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Цель и задачи моей научно-исследовательской работы выполнены:</a:t>
            </a:r>
            <a:endParaRPr lang="ru-RU" sz="20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lang="ru-RU" sz="20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sp>
        <p:nvSpPr>
          <p:cNvPr id="4" name="Замещающий 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7088886" y="6493511"/>
            <a:ext cx="2057400" cy="365125"/>
          </a:xfrm>
        </p:spPr>
        <p:txBody>
          <a:bodyPr/>
          <a:lstStyle/>
          <a:p>
            <a:fld id="{D6ED8A53-8D2F-4011-BE06-EDB0774336BA}" type="slidenum">
              <a:rPr lang="ru-RU" sz="2000" dirty="0" smtClean="0">
                <a:solidFill>
                  <a:schemeClr val="tx1"/>
                </a:solidFill>
                <a:latin typeface="Times New Roman"/>
                <a:cs typeface="Times New Roman"/>
              </a:rPr>
              <a:t>10</a:t>
            </a:fld>
            <a:endParaRPr lang="ru-RU" sz="200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A5D6DF51-0B62-79A6-6D5B-9EBEFC4103B7}"/>
              </a:ext>
            </a:extLst>
          </p:cNvPr>
          <p:cNvSpPr txBox="1">
            <a:spLocks/>
          </p:cNvSpPr>
          <p:nvPr/>
        </p:nvSpPr>
        <p:spPr>
          <a:xfrm>
            <a:off x="701718" y="3637"/>
            <a:ext cx="7886700" cy="7128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>
                <a:latin typeface="Times New Roman"/>
                <a:ea typeface="Calibri"/>
                <a:cs typeface="Times New Roman"/>
              </a:rPr>
              <a:t>Заключение</a:t>
            </a:r>
            <a:endParaRPr lang="ru-RU">
              <a:ea typeface="Calibri Light"/>
              <a:cs typeface="Calibri Ligh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614</TotalTime>
  <Words>1114</Words>
  <Application>Microsoft Office PowerPoint</Application>
  <DocSecurity>0</DocSecurity>
  <PresentationFormat>Экран (4:3)</PresentationFormat>
  <Paragraphs>88</Paragraphs>
  <Slides>10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6" baseType="lpstr">
      <vt:lpstr>Arial</vt:lpstr>
      <vt:lpstr>Arial,Sans-Serif</vt:lpstr>
      <vt:lpstr>Calibri</vt:lpstr>
      <vt:lpstr>Calibri Light</vt:lpstr>
      <vt:lpstr>Times New Roman</vt:lpstr>
      <vt:lpstr>Тема Office</vt:lpstr>
      <vt:lpstr>Автоматическое выявление дефектов в процессе 3D-печати</vt:lpstr>
      <vt:lpstr>Цель работы</vt:lpstr>
      <vt:lpstr>В чем заключается проблема:</vt:lpstr>
      <vt:lpstr>Подготовка к обучению нейросети</vt:lpstr>
      <vt:lpstr>Результат обучения нейросети</vt:lpstr>
      <vt:lpstr>Обработка на сервере</vt:lpstr>
      <vt:lpstr>Обработка на принтере</vt:lpstr>
      <vt:lpstr>Электросхема 3D-принтера</vt:lpstr>
      <vt:lpstr>Тестирование на реальной печати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Yawllen</cp:lastModifiedBy>
  <cp:revision>26</cp:revision>
  <dcterms:created xsi:type="dcterms:W3CDTF">2026-10-07T12:47:26Z</dcterms:created>
  <dcterms:modified xsi:type="dcterms:W3CDTF">2026-10-08T13:30:32Z</dcterms:modified>
</cp:coreProperties>
</file>