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3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6a378e33ff4524" /><Relationship Type="http://schemas.openxmlformats.org/officeDocument/2006/relationships/extended-properties" Target="/docProps/app.xml" Id="R021cc2319c8d475d" /><Relationship Type="http://schemas.openxmlformats.org/officeDocument/2006/relationships/officeDocument" Target="/ppt/presentation.xml" Id="R86c02aad6f204c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152c321294426b"/>
  </p:sldMasterIdLst>
  <p:notesMasterIdLst>
    <p:notesMasterId xmlns:r="http://schemas.openxmlformats.org/officeDocument/2006/relationships" r:id="Ra80650f269024b79"/>
  </p:notesMasterIdLst>
  <p:sldIdLst>
    <p:sldId xmlns:r="http://schemas.openxmlformats.org/officeDocument/2006/relationships" id="256" r:id="R5c93e8f604a94af0"/>
    <p:sldId xmlns:r="http://schemas.openxmlformats.org/officeDocument/2006/relationships" id="257" r:id="Ra2178e6b288c498a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f688057b604474" /><Relationship Type="http://schemas.openxmlformats.org/officeDocument/2006/relationships/slideMaster" Target="/ppt/slideMasters/slideMaster1.xml" Id="R22152c321294426b" /><Relationship Type="http://schemas.openxmlformats.org/officeDocument/2006/relationships/notesMaster" Target="/ppt/notesMasters/notesMaster1.xml" Id="Ra80650f269024b79" /><Relationship Type="http://schemas.openxmlformats.org/officeDocument/2006/relationships/presProps" Target="/ppt/presProps.xml" Id="R7820546ba12d426e" /><Relationship Type="http://schemas.openxmlformats.org/officeDocument/2006/relationships/tableStyles" Target="/ppt/tableStyles.xml" Id="R3181943b70d84aa0" /><Relationship Type="http://schemas.openxmlformats.org/officeDocument/2006/relationships/slide" Target="/ppt/slides/slide1.xml" Id="R5c93e8f604a94af0" /><Relationship Type="http://schemas.openxmlformats.org/officeDocument/2006/relationships/slide" Target="/ppt/slides/slide2.xml" Id="Ra2178e6b288c49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5172973d8948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36e633bb0c4f7f" /><Relationship Type="http://schemas.openxmlformats.org/officeDocument/2006/relationships/notesMaster" Target="/ppt/notesMasters/notesMaster1.xml" Id="R975ad80c518a42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8f3600be0141f4" /><Relationship Type="http://schemas.openxmlformats.org/officeDocument/2006/relationships/notesMaster" Target="/ppt/notesMasters/notesMaster1.xml" Id="R8edf40ce689043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7e5813a735456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e0b97b4f68498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c83000dbe849c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93621c79fd4b4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4f0247e9894d3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4d5333b52e4f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28BACCE-6FC4-44AF-8D56-6465A44BC1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590800"/>
            <a:ext cx="7315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862E389-7D65-4FD7-90AF-4CDF92DDDC6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771900"/>
            <a:ext cx="640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257ABEF-3A9B-41F1-A97A-BC6D657025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857500"/>
            <a:ext cx="7315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1865FCD-F9AB-46B1-BA92-2CF3B90D82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BC7E80A-D87F-426F-9742-248A6F6760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81153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EB3429C-58CF-4F00-9981-9D46C56005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67053FE-EAA3-4250-9A9B-FA76F10B14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C2AC050-A9E0-4150-955E-26874501BA2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577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B18C03E-71C3-4A32-84C0-BE5A754C4A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571AB5B-EE35-4CBB-8A5A-7D379DC756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2cd3b89c8a47f5" /><Relationship Type="http://schemas.openxmlformats.org/officeDocument/2006/relationships/slideLayout" Target="/ppt/slideLayouts/slideLayout1.xml" Id="Re24bcc15527547d8" /><Relationship Type="http://schemas.openxmlformats.org/officeDocument/2006/relationships/slideLayout" Target="/ppt/slideLayouts/slideLayout2.xml" Id="Rc3a4a291a6fb4a3c" /><Relationship Type="http://schemas.openxmlformats.org/officeDocument/2006/relationships/slideLayout" Target="/ppt/slideLayouts/slideLayout3.xml" Id="R84bfebc7cfb24103" /><Relationship Type="http://schemas.openxmlformats.org/officeDocument/2006/relationships/slideLayout" Target="/ppt/slideLayouts/slideLayout4.xml" Id="Radfb7176bbc648a4" /><Relationship Type="http://schemas.openxmlformats.org/officeDocument/2006/relationships/slideLayout" Target="/ppt/slideLayouts/slideLayout5.xml" Id="R3058566a1b374519" /><Relationship Type="http://schemas.openxmlformats.org/officeDocument/2006/relationships/slideLayout" Target="/ppt/slideLayouts/slideLayout6.xml" Id="R75af1396be5345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4bcc15527547d8"/>
    <p:sldLayoutId xmlns:r="http://schemas.openxmlformats.org/officeDocument/2006/relationships" id="2147483650" r:id="Rc3a4a291a6fb4a3c"/>
    <p:sldLayoutId xmlns:r="http://schemas.openxmlformats.org/officeDocument/2006/relationships" id="2147483651" r:id="R84bfebc7cfb24103"/>
    <p:sldLayoutId xmlns:r="http://schemas.openxmlformats.org/officeDocument/2006/relationships" id="2147483652" r:id="Radfb7176bbc648a4"/>
    <p:sldLayoutId xmlns:r="http://schemas.openxmlformats.org/officeDocument/2006/relationships" id="2147483653" r:id="R3058566a1b374519"/>
    <p:sldLayoutId xmlns:r="http://schemas.openxmlformats.org/officeDocument/2006/relationships" id="2147483654" r:id="R75af1396be5345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79584917154861" /><Relationship Type="http://schemas.openxmlformats.org/officeDocument/2006/relationships/chart" Target="/ppt/slides/charts/chart1.xml" Id="R0329fea187e144c1" /><Relationship Type="http://schemas.openxmlformats.org/officeDocument/2006/relationships/chart" Target="/ppt/slides/charts/chart2.xml" Id="R640173151870422b" /><Relationship Type="http://schemas.openxmlformats.org/officeDocument/2006/relationships/notesSlide" Target="/ppt/notesSlides/notesSlide1.xml" Id="R2b3e1c3dd8b348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458998e02f456d" /><Relationship Type="http://schemas.openxmlformats.org/officeDocument/2006/relationships/chart" Target="/ppt/slides/charts/chart3.xml" Id="Raa1df8564cda4f30" /><Relationship Type="http://schemas.openxmlformats.org/officeDocument/2006/relationships/notesSlide" Target="/ppt/notesSlides/notesSlide2.xml" Id="R9ca206489524479b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rPr>
              <a:t>Функция потерь при обучении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222C38"/>
              </a:solidFill>
              <a:latin typeface="Times New Roman"/>
              <a:ea typeface="Times New Roman"/>
              <a:cs typeface="Times New Roman"/>
            </a:defRPr>
          </a:pPr>
        </a:p>
      </c:txPr>
    </c:title>
    <c:plotArea>
      <c:scatterChart>
        <c:scatterStyle val="lineMarker"/>
        <c:varyColors val="0"/>
        <c:ser>
          <c:idx val="0"/>
          <c:order val="0"/>
          <c:tx>
            <c:v>Метрика по эпохам</c:v>
          </c:tx>
          <c:spPr>
            <a:ln xmlns:a="http://schemas.openxmlformats.org/drawingml/2006/main" w="23813">
              <a:solidFill>
                <a:srgbClr val="2467A6"/>
              </a:solidFill>
              <a:prstDash val="solid"/>
            </a:ln>
          </c:spPr>
          <c:marker>
            <c:symbol val="circle"/>
            <c:size val="3"/>
            <c:spPr>
              <a:solidFill xmlns:a="http://schemas.openxmlformats.org/drawingml/2006/main">
                <a:srgbClr val="2467A6"/>
              </a:solidFill>
            </c:spPr>
          </c:marker>
          <c:xVal>
            <c:numLit>
              <c:formatCode>General</c:formatCode>
              <c:ptCount val="2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</c:numLit>
          </c:xVal>
          <c:yVal>
            <c:numLit>
              <c:formatCode>0.000</c:formatCode>
              <c:ptCount val="20"/>
              <c:pt idx="0">
                <c:v>0.005552</c:v>
              </c:pt>
              <c:pt idx="1">
                <c:v>0.00241</c:v>
              </c:pt>
              <c:pt idx="2">
                <c:v>0.009237</c:v>
              </c:pt>
              <c:pt idx="3">
                <c:v>0.00326</c:v>
              </c:pt>
              <c:pt idx="4">
                <c:v>0.002323</c:v>
              </c:pt>
              <c:pt idx="5">
                <c:v>0.001774</c:v>
              </c:pt>
              <c:pt idx="6">
                <c:v>0.001328</c:v>
              </c:pt>
              <c:pt idx="7">
                <c:v>0.000871</c:v>
              </c:pt>
              <c:pt idx="8">
                <c:v>0.001206</c:v>
              </c:pt>
              <c:pt idx="9">
                <c:v>0.004558</c:v>
              </c:pt>
              <c:pt idx="10">
                <c:v>0.001092</c:v>
              </c:pt>
              <c:pt idx="11">
                <c:v>0.003142</c:v>
              </c:pt>
              <c:pt idx="12">
                <c:v>0.001619</c:v>
              </c:pt>
              <c:pt idx="13">
                <c:v>0.001099</c:v>
              </c:pt>
              <c:pt idx="14">
                <c:v>0.000973</c:v>
              </c:pt>
              <c:pt idx="15">
                <c:v>0.000976</c:v>
              </c:pt>
              <c:pt idx="16">
                <c:v>0.001178</c:v>
              </c:pt>
              <c:pt idx="17">
                <c:v>0.001012</c:v>
              </c:pt>
              <c:pt idx="18">
                <c:v>0.002217</c:v>
              </c:pt>
              <c:pt idx="19">
                <c:v>0.002233</c:v>
              </c:pt>
            </c:numLit>
          </c:yVal>
        </c:ser>
        <c:ser>
          <c:idx val="1"/>
          <c:order val="1"/>
          <c:tx>
            <c:v>Проекция на ось эпох</c:v>
          </c:tx>
          <c:spPr>
            <a:ln xmlns:a="http://schemas.openxmlformats.org/drawingml/2006/main" w="14288">
              <a:solidFill>
                <a:srgbClr val="D97720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19</c:v>
              </c:pt>
              <c:pt idx="1">
                <c:v>19</c:v>
              </c:pt>
            </c:numLit>
          </c:xVal>
          <c:yVal>
            <c:numLit>
              <c:formatCode>0.000</c:formatCode>
              <c:ptCount val="2"/>
              <c:pt idx="0">
                <c:v>0</c:v>
              </c:pt>
              <c:pt idx="1">
                <c:v>0.002217</c:v>
              </c:pt>
            </c:numLit>
          </c:yVal>
        </c:ser>
        <c:ser>
          <c:idx val="2"/>
          <c:order val="2"/>
          <c:tx>
            <c:v>Проекция на ось метрики</c:v>
          </c:tx>
          <c:spPr>
            <a:ln xmlns:a="http://schemas.openxmlformats.org/drawingml/2006/main" w="14288">
              <a:solidFill>
                <a:srgbClr val="D97720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</c:v>
              </c:pt>
              <c:pt idx="1">
                <c:v>19</c:v>
              </c:pt>
            </c:numLit>
          </c:xVal>
          <c:yVal>
            <c:numLit>
              <c:formatCode>0.000</c:formatCode>
              <c:ptCount val="2"/>
              <c:pt idx="0">
                <c:v>0.002217</c:v>
              </c:pt>
              <c:pt idx="1">
                <c:v>0.002217</c:v>
              </c:pt>
            </c:numLit>
          </c:yVal>
        </c:ser>
        <c:ser>
          <c:idx val="3"/>
          <c:order val="3"/>
          <c:tx>
            <c:v>19-я эпоха</c:v>
          </c:tx>
          <c:spPr>
            <a:ln xmlns:a="http://schemas.openxmlformats.org/drawingml/2006/main" w="0">
              <a:noFill/>
            </a:ln>
          </c:spPr>
          <c:marker>
            <c:symbol val="diamond"/>
            <c:size val="10"/>
            <c:spPr>
              <a:solidFill xmlns:a="http://schemas.openxmlformats.org/drawingml/2006/main">
                <a:srgbClr val="D97720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 b="1">
                        <a:solidFill>
                          <a:srgbClr val="D97720"/>
                        </a:solidFill>
                      </a:rPr>
                      <a:t>0,0022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1">
                      <a:solidFill>
                        <a:srgbClr val="D97720"/>
                      </a:solidFill>
                    </a:defRPr>
                  </a:pPr>
                </a:p>
              </c:txPr>
              <c:dLblPos val="t"/>
              <c:showVal val="1"/>
            </c:dLbl>
            <c:numFmt formatCode="0.00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350" b="1">
                    <a:solidFill>
                      <a:srgbClr val="D97720"/>
                    </a:solidFill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xVal>
            <c:numLit>
              <c:formatCode>General</c:formatCode>
              <c:ptCount val="1"/>
              <c:pt idx="0">
                <c:v>19</c:v>
              </c:pt>
            </c:numLit>
          </c:xVal>
          <c:yVal>
            <c:numLit>
              <c:formatCode>0.000</c:formatCode>
              <c:ptCount val="1"/>
              <c:pt idx="0">
                <c:v>0.002217</c:v>
              </c:pt>
            </c:numLit>
          </c:yVal>
        </c:ser>
        <c:ser>
          <c:idx val="4"/>
          <c:order val="4"/>
          <c:tx>
            <c:v>Метка эпохи на оси</c:v>
          </c:tx>
          <c:spPr>
            <a:ln xmlns:a="http://schemas.openxmlformats.org/drawingml/2006/main" w="0">
              <a:noFill/>
            </a:ln>
          </c:spPr>
          <c:marker>
            <c:symbol val="triangle"/>
            <c:size val="5"/>
            <c:spPr>
              <a:solidFill xmlns:a="http://schemas.openxmlformats.org/drawingml/2006/main">
                <a:srgbClr val="D97720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00" b="1">
                        <a:solidFill>
                          <a:srgbClr val="D97720"/>
                        </a:solidFill>
                      </a:rPr>
                      <a:t>19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D97720"/>
                      </a:solidFill>
                    </a:defRPr>
                  </a:pPr>
                </a:p>
              </c:txPr>
              <c:dLblPos val="t"/>
              <c:showVal val="1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D97720"/>
                    </a:solidFill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xVal>
            <c:numLit>
              <c:formatCode>General</c:formatCode>
              <c:ptCount val="1"/>
              <c:pt idx="0">
                <c:v>19</c:v>
              </c:pt>
            </c:numLit>
          </c:xVal>
          <c:yVal>
            <c:numLit>
              <c:formatCode>0.000</c:formatCode>
              <c:ptCount val="1"/>
              <c:pt idx="0">
                <c:v>0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01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7EB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222C38"/>
                    </a:solidFill>
                    <a:latin typeface="Times New Roman"/>
                    <a:ea typeface="Times New Roman"/>
                    <a:cs typeface="Times New Roman"/>
                  </a:rPr>
                  <a:t>Функция потерь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222C38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A4ABB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majorUnit val="0.002"/>
      </c:valAx>
      <c:valAx>
        <c:axId val="48650112"/>
        <c:scaling>
          <c:orientation val="minMax"/>
          <c:max val="2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222C38"/>
                    </a:solidFill>
                    <a:latin typeface="Times New Roman"/>
                    <a:ea typeface="Times New Roman"/>
                    <a:cs typeface="Times New Roman"/>
                  </a:rPr>
                  <a:t>Эпоха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222C38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4ABB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rPr>
              <a:t>Средняя точность на валидации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222C38"/>
              </a:solidFill>
              <a:latin typeface="Times New Roman"/>
              <a:ea typeface="Times New Roman"/>
              <a:cs typeface="Times New Roman"/>
            </a:defRPr>
          </a:pPr>
        </a:p>
      </c:txPr>
    </c:title>
    <c:plotArea>
      <c:scatterChart>
        <c:scatterStyle val="lineMarker"/>
        <c:varyColors val="0"/>
        <c:ser>
          <c:idx val="0"/>
          <c:order val="0"/>
          <c:tx>
            <c:v>Метрика по эпохам</c:v>
          </c:tx>
          <c:spPr>
            <a:ln xmlns:a="http://schemas.openxmlformats.org/drawingml/2006/main" w="23813">
              <a:solidFill>
                <a:srgbClr val="2467A6"/>
              </a:solidFill>
              <a:prstDash val="solid"/>
            </a:ln>
          </c:spPr>
          <c:marker>
            <c:symbol val="circle"/>
            <c:size val="3"/>
            <c:spPr>
              <a:solidFill xmlns:a="http://schemas.openxmlformats.org/drawingml/2006/main">
                <a:srgbClr val="2467A6"/>
              </a:solidFill>
            </c:spPr>
          </c:marker>
          <c:xVal>
            <c:numLit>
              <c:formatCode>General</c:formatCode>
              <c:ptCount val="2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</c:numLit>
          </c:xVal>
          <c:yVal>
            <c:numLit>
              <c:formatCode>0.0</c:formatCode>
              <c:ptCount val="20"/>
              <c:pt idx="0">
                <c:v>98.972764</c:v>
              </c:pt>
              <c:pt idx="1">
                <c:v>98.861859</c:v>
              </c:pt>
              <c:pt idx="2">
                <c:v>99.57373</c:v>
              </c:pt>
              <c:pt idx="3">
                <c:v>99.689363</c:v>
              </c:pt>
              <c:pt idx="4">
                <c:v>99.276485</c:v>
              </c:pt>
              <c:pt idx="5">
                <c:v>99.174207</c:v>
              </c:pt>
              <c:pt idx="6">
                <c:v>99.55193</c:v>
              </c:pt>
              <c:pt idx="7">
                <c:v>99.323224</c:v>
              </c:pt>
              <c:pt idx="8">
                <c:v>99.462997</c:v>
              </c:pt>
              <c:pt idx="9">
                <c:v>99.10293</c:v>
              </c:pt>
              <c:pt idx="10">
                <c:v>99.325666</c:v>
              </c:pt>
              <c:pt idx="11">
                <c:v>99.34298</c:v>
              </c:pt>
              <c:pt idx="12">
                <c:v>99.213706</c:v>
              </c:pt>
              <c:pt idx="13">
                <c:v>99.211031</c:v>
              </c:pt>
              <c:pt idx="14">
                <c:v>99.315382</c:v>
              </c:pt>
              <c:pt idx="15">
                <c:v>99.234098</c:v>
              </c:pt>
              <c:pt idx="16">
                <c:v>99.280321</c:v>
              </c:pt>
              <c:pt idx="17">
                <c:v>99.311447</c:v>
              </c:pt>
              <c:pt idx="18">
                <c:v>99.245392</c:v>
              </c:pt>
              <c:pt idx="19">
                <c:v>99.336899</c:v>
              </c:pt>
            </c:numLit>
          </c:yVal>
        </c:ser>
        <c:ser>
          <c:idx val="1"/>
          <c:order val="1"/>
          <c:tx>
            <c:v>Проекция на ось эпох</c:v>
          </c:tx>
          <c:spPr>
            <a:ln xmlns:a="http://schemas.openxmlformats.org/drawingml/2006/main" w="14288">
              <a:solidFill>
                <a:srgbClr val="D97720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19</c:v>
              </c:pt>
              <c:pt idx="1">
                <c:v>19</c:v>
              </c:pt>
            </c:numLit>
          </c:xVal>
          <c:yVal>
            <c:numLit>
              <c:formatCode>0.0</c:formatCode>
              <c:ptCount val="2"/>
              <c:pt idx="0">
                <c:v>98.5</c:v>
              </c:pt>
              <c:pt idx="1">
                <c:v>99.245392</c:v>
              </c:pt>
            </c:numLit>
          </c:yVal>
        </c:ser>
        <c:ser>
          <c:idx val="2"/>
          <c:order val="2"/>
          <c:tx>
            <c:v>Проекция на ось метрики</c:v>
          </c:tx>
          <c:spPr>
            <a:ln xmlns:a="http://schemas.openxmlformats.org/drawingml/2006/main" w="14288">
              <a:solidFill>
                <a:srgbClr val="D97720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</c:v>
              </c:pt>
              <c:pt idx="1">
                <c:v>19</c:v>
              </c:pt>
            </c:numLit>
          </c:xVal>
          <c:yVal>
            <c:numLit>
              <c:formatCode>0.0</c:formatCode>
              <c:ptCount val="2"/>
              <c:pt idx="0">
                <c:v>99.245392</c:v>
              </c:pt>
              <c:pt idx="1">
                <c:v>99.245392</c:v>
              </c:pt>
            </c:numLit>
          </c:yVal>
        </c:ser>
        <c:ser>
          <c:idx val="3"/>
          <c:order val="3"/>
          <c:tx>
            <c:v>19-я эпоха</c:v>
          </c:tx>
          <c:spPr>
            <a:ln xmlns:a="http://schemas.openxmlformats.org/drawingml/2006/main" w="0">
              <a:noFill/>
            </a:ln>
          </c:spPr>
          <c:marker>
            <c:symbol val="diamond"/>
            <c:size val="10"/>
            <c:spPr>
              <a:solidFill xmlns:a="http://schemas.openxmlformats.org/drawingml/2006/main">
                <a:srgbClr val="D97720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 b="1">
                        <a:solidFill>
                          <a:srgbClr val="D97720"/>
                        </a:solidFill>
                      </a:rPr>
                      <a:t>99,25 %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1">
                      <a:solidFill>
                        <a:srgbClr val="D97720"/>
                      </a:solidFill>
                    </a:defRPr>
                  </a:pPr>
                </a:p>
              </c:txPr>
              <c:dLblPos val="t"/>
              <c:showVal val="1"/>
            </c:dLbl>
            <c:numFmt formatCode="0.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350" b="1">
                    <a:solidFill>
                      <a:srgbClr val="D97720"/>
                    </a:solidFill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xVal>
            <c:numLit>
              <c:formatCode>General</c:formatCode>
              <c:ptCount val="1"/>
              <c:pt idx="0">
                <c:v>19</c:v>
              </c:pt>
            </c:numLit>
          </c:xVal>
          <c:yVal>
            <c:numLit>
              <c:formatCode>0.0</c:formatCode>
              <c:ptCount val="1"/>
              <c:pt idx="0">
                <c:v>99.245392</c:v>
              </c:pt>
            </c:numLit>
          </c:yVal>
        </c:ser>
        <c:ser>
          <c:idx val="4"/>
          <c:order val="4"/>
          <c:tx>
            <c:v>Метка эпохи на оси</c:v>
          </c:tx>
          <c:spPr>
            <a:ln xmlns:a="http://schemas.openxmlformats.org/drawingml/2006/main" w="0">
              <a:noFill/>
            </a:ln>
          </c:spPr>
          <c:marker>
            <c:symbol val="triangle"/>
            <c:size val="5"/>
            <c:spPr>
              <a:solidFill xmlns:a="http://schemas.openxmlformats.org/drawingml/2006/main">
                <a:srgbClr val="D97720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00" b="1">
                        <a:solidFill>
                          <a:srgbClr val="D97720"/>
                        </a:solidFill>
                      </a:rPr>
                      <a:t>19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D97720"/>
                      </a:solidFill>
                    </a:defRPr>
                  </a:pPr>
                </a:p>
              </c:txPr>
              <c:dLblPos val="t"/>
              <c:showVal val="1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D97720"/>
                    </a:solidFill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xVal>
            <c:numLit>
              <c:formatCode>General</c:formatCode>
              <c:ptCount val="1"/>
              <c:pt idx="0">
                <c:v>19</c:v>
              </c:pt>
            </c:numLit>
          </c:xVal>
          <c:yVal>
            <c:numLit>
              <c:formatCode>0.0</c:formatCode>
              <c:ptCount val="1"/>
              <c:pt idx="0">
                <c:v>98.5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98.5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7EB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222C38"/>
                    </a:solidFill>
                    <a:latin typeface="Times New Roman"/>
                    <a:ea typeface="Times New Roman"/>
                    <a:cs typeface="Times New Roman"/>
                  </a:rPr>
                  <a:t>AP, %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222C38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A4ABB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majorUnit val="0.5"/>
      </c:valAx>
      <c:valAx>
        <c:axId val="48650112"/>
        <c:scaling>
          <c:orientation val="minMax"/>
          <c:max val="2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222C38"/>
                    </a:solidFill>
                    <a:latin typeface="Times New Roman"/>
                    <a:ea typeface="Times New Roman"/>
                    <a:cs typeface="Times New Roman"/>
                  </a:rPr>
                  <a:t>Эпоха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222C38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4ABB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rPr>
              <a:t>Полнота обнаружения по эпохам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222C38"/>
              </a:solidFill>
              <a:latin typeface="Times New Roman"/>
              <a:ea typeface="Times New Roman"/>
              <a:cs typeface="Times New Roman"/>
            </a:defRPr>
          </a:pPr>
        </a:p>
      </c:txPr>
    </c:title>
    <c:plotArea>
      <c:scatterChart>
        <c:scatterStyle val="lineMarker"/>
        <c:varyColors val="0"/>
        <c:ser>
          <c:idx val="0"/>
          <c:order val="0"/>
          <c:tx>
            <c:v>Метрика по эпохам</c:v>
          </c:tx>
          <c:spPr>
            <a:ln xmlns:a="http://schemas.openxmlformats.org/drawingml/2006/main" w="23813">
              <a:solidFill>
                <a:srgbClr val="2467A6"/>
              </a:solidFill>
              <a:prstDash val="solid"/>
            </a:ln>
          </c:spPr>
          <c:marker>
            <c:symbol val="circle"/>
            <c:size val="3"/>
            <c:spPr>
              <a:solidFill xmlns:a="http://schemas.openxmlformats.org/drawingml/2006/main">
                <a:srgbClr val="2467A6"/>
              </a:solidFill>
            </c:spPr>
          </c:marker>
          <c:xVal>
            <c:numLit>
              <c:formatCode>General</c:formatCode>
              <c:ptCount val="2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</c:numLit>
          </c:xVal>
          <c:yVal>
            <c:numLit>
              <c:formatCode>0</c:formatCode>
              <c:ptCount val="20"/>
              <c:pt idx="0">
                <c:v>0</c:v>
              </c:pt>
              <c:pt idx="1">
                <c:v>27.272727</c:v>
              </c:pt>
              <c:pt idx="2">
                <c:v>45.454545</c:v>
              </c:pt>
              <c:pt idx="3">
                <c:v>36.363636</c:v>
              </c:pt>
              <c:pt idx="4">
                <c:v>27.272727</c:v>
              </c:pt>
              <c:pt idx="5">
                <c:v>27.272727</c:v>
              </c:pt>
              <c:pt idx="6">
                <c:v>45.454545</c:v>
              </c:pt>
              <c:pt idx="7">
                <c:v>45.454545</c:v>
              </c:pt>
              <c:pt idx="8">
                <c:v>72.727273</c:v>
              </c:pt>
              <c:pt idx="9">
                <c:v>45.454545</c:v>
              </c:pt>
              <c:pt idx="10">
                <c:v>54.545455</c:v>
              </c:pt>
              <c:pt idx="11">
                <c:v>45.454545</c:v>
              </c:pt>
              <c:pt idx="12">
                <c:v>27.272727</c:v>
              </c:pt>
              <c:pt idx="13">
                <c:v>36.363636</c:v>
              </c:pt>
              <c:pt idx="14">
                <c:v>45.454545</c:v>
              </c:pt>
              <c:pt idx="15">
                <c:v>45.454545</c:v>
              </c:pt>
              <c:pt idx="16">
                <c:v>54.545455</c:v>
              </c:pt>
              <c:pt idx="17">
                <c:v>54.545455</c:v>
              </c:pt>
              <c:pt idx="18">
                <c:v>54.545455</c:v>
              </c:pt>
              <c:pt idx="19">
                <c:v>54.545455</c:v>
              </c:pt>
            </c:numLit>
          </c:yVal>
        </c:ser>
        <c:ser>
          <c:idx val="1"/>
          <c:order val="1"/>
          <c:tx>
            <c:v>Проекция на ось эпох</c:v>
          </c:tx>
          <c:spPr>
            <a:ln xmlns:a="http://schemas.openxmlformats.org/drawingml/2006/main" w="14288">
              <a:solidFill>
                <a:srgbClr val="D97720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19</c:v>
              </c:pt>
              <c:pt idx="1">
                <c:v>19</c:v>
              </c:pt>
            </c:numLit>
          </c:xVal>
          <c:yVal>
            <c:numLit>
              <c:formatCode>0</c:formatCode>
              <c:ptCount val="2"/>
              <c:pt idx="0">
                <c:v>0</c:v>
              </c:pt>
              <c:pt idx="1">
                <c:v>54.545455</c:v>
              </c:pt>
            </c:numLit>
          </c:yVal>
        </c:ser>
        <c:ser>
          <c:idx val="2"/>
          <c:order val="2"/>
          <c:tx>
            <c:v>Проекция на ось метрики</c:v>
          </c:tx>
          <c:spPr>
            <a:ln xmlns:a="http://schemas.openxmlformats.org/drawingml/2006/main" w="14288">
              <a:solidFill>
                <a:srgbClr val="D97720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</c:v>
              </c:pt>
              <c:pt idx="1">
                <c:v>19</c:v>
              </c:pt>
            </c:numLit>
          </c:xVal>
          <c:yVal>
            <c:numLit>
              <c:formatCode>0</c:formatCode>
              <c:ptCount val="2"/>
              <c:pt idx="0">
                <c:v>54.545455</c:v>
              </c:pt>
              <c:pt idx="1">
                <c:v>54.545455</c:v>
              </c:pt>
            </c:numLit>
          </c:yVal>
        </c:ser>
        <c:ser>
          <c:idx val="3"/>
          <c:order val="3"/>
          <c:tx>
            <c:v>19-я эпоха</c:v>
          </c:tx>
          <c:spPr>
            <a:ln xmlns:a="http://schemas.openxmlformats.org/drawingml/2006/main" w="0">
              <a:noFill/>
            </a:ln>
          </c:spPr>
          <c:marker>
            <c:symbol val="diamond"/>
            <c:size val="10"/>
            <c:spPr>
              <a:solidFill xmlns:a="http://schemas.openxmlformats.org/drawingml/2006/main">
                <a:srgbClr val="D97720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 b="1">
                        <a:solidFill>
                          <a:srgbClr val="D97720"/>
                        </a:solidFill>
                      </a:rPr>
                      <a:t>54,55 %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1">
                      <a:solidFill>
                        <a:srgbClr val="D97720"/>
                      </a:solidFill>
                    </a:defRPr>
                  </a:pPr>
                </a:p>
              </c:txPr>
              <c:dLblPos val="t"/>
              <c:showVal val="1"/>
            </c:dLbl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350" b="1">
                    <a:solidFill>
                      <a:srgbClr val="D97720"/>
                    </a:solidFill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xVal>
            <c:numLit>
              <c:formatCode>General</c:formatCode>
              <c:ptCount val="1"/>
              <c:pt idx="0">
                <c:v>19</c:v>
              </c:pt>
            </c:numLit>
          </c:xVal>
          <c:yVal>
            <c:numLit>
              <c:formatCode>0</c:formatCode>
              <c:ptCount val="1"/>
              <c:pt idx="0">
                <c:v>54.545455</c:v>
              </c:pt>
            </c:numLit>
          </c:yVal>
        </c:ser>
        <c:ser>
          <c:idx val="4"/>
          <c:order val="4"/>
          <c:tx>
            <c:v>Метка эпохи на оси</c:v>
          </c:tx>
          <c:spPr>
            <a:ln xmlns:a="http://schemas.openxmlformats.org/drawingml/2006/main" w="0">
              <a:noFill/>
            </a:ln>
          </c:spPr>
          <c:marker>
            <c:symbol val="triangle"/>
            <c:size val="5"/>
            <c:spPr>
              <a:solidFill xmlns:a="http://schemas.openxmlformats.org/drawingml/2006/main">
                <a:srgbClr val="D97720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00" b="1">
                        <a:solidFill>
                          <a:srgbClr val="D97720"/>
                        </a:solidFill>
                      </a:rPr>
                      <a:t>19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>
                      <a:solidFill>
                        <a:srgbClr val="D97720"/>
                      </a:solidFill>
                    </a:defRPr>
                  </a:pPr>
                </a:p>
              </c:txPr>
              <c:dLblPos val="t"/>
              <c:showVal val="1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D97720"/>
                    </a:solidFill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xVal>
            <c:numLit>
              <c:formatCode>General</c:formatCode>
              <c:ptCount val="1"/>
              <c:pt idx="0">
                <c:v>19</c:v>
              </c:pt>
            </c:numLit>
          </c:xVal>
          <c:yVal>
            <c:numLit>
              <c:formatCode>0</c:formatCode>
              <c:ptCount val="1"/>
              <c:pt idx="0">
                <c:v>0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7EB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222C38"/>
                    </a:solidFill>
                    <a:latin typeface="Times New Roman"/>
                    <a:ea typeface="Times New Roman"/>
                    <a:cs typeface="Times New Roman"/>
                  </a:rPr>
                  <a:t>Полнота, %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222C38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4ABB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2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222C38"/>
                    </a:solidFill>
                    <a:latin typeface="Times New Roman"/>
                    <a:ea typeface="Times New Roman"/>
                    <a:cs typeface="Times New Roman"/>
                  </a:rPr>
                  <a:t>Эпоха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222C38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4ABB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CDB898-E9E7-45F0-A346-D276BEB2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00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00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rPr>
              <a:t>Результаты обучения и тестирования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496716-41B6-46CF-B128-3ED07108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9625"/>
            <a:ext cx="628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0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rPr>
              <a:t>Дообучение ResNet18 на общей выборке, 20 эпох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DE77ED-80E2-46D0-8426-84FE91BD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876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2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A260B2-1163-4A0E-9482-6DDCF5F6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809625"/>
            <a:ext cx="1295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>
                <a:solidFill>
                  <a:srgbClr val="D977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25">
                <a:solidFill>
                  <a:srgbClr val="D977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D97720"/>
                </a:solidFill>
                <a:latin typeface="Times New Roman"/>
                <a:ea typeface="Times New Roman"/>
                <a:cs typeface="Times New Roman"/>
              </a:rPr>
              <a:t>19-я эпоха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0EBB1F-C543-4EEA-A956-21E51D67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61D14F-AF70-4405-B960-22FEE1F2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674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650">
                <a:solidFill>
                  <a:srgbClr val="8B929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1650">
                <a:solidFill>
                  <a:srgbClr val="8B929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8B9299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69E13EDF-5090-497C-BEF3-65907A5764D0}"/>
              </a:ext>
            </a:extLst>
          </p:cNvPr>
          <p:cNvGraphicFramePr/>
          <p:nvPr/>
        </p:nvGraphicFramePr>
        <p:xfrm>
          <a:off xmlns:a="http://schemas.openxmlformats.org/drawingml/2006/main" x="381000" y="1304925"/>
          <a:ext xmlns:a="http://schemas.openxmlformats.org/drawingml/2006/main" cx="4048125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329fea187e144c1"/>
          </a:graphicData>
        </a:graphic>
      </p:graphicFrame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D159A92F-A1BE-4302-AC01-8D0F1C1D5D00}"/>
              </a:ext>
            </a:extLst>
          </p:cNvPr>
          <p:cNvGraphicFramePr/>
          <p:nvPr/>
        </p:nvGraphicFramePr>
        <p:xfrm>
          <a:off xmlns:a="http://schemas.openxmlformats.org/drawingml/2006/main" x="4714875" y="1304925"/>
          <a:ext xmlns:a="http://schemas.openxmlformats.org/drawingml/2006/main" cx="4048125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40173151870422b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7B65B4-0FF0-4D00-82E6-A1B2F30A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771900"/>
            <a:ext cx="404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rPr>
              <a:t>Рис. 4 – Функция потерь по эпохам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28700C-4AAC-4A2E-8E26-B776660B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771900"/>
            <a:ext cx="404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rPr>
              <a:t>Рис. 5 – Средняя точность AP на валидации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C8D0EC-874C-46B2-8CCD-B32A6019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24325"/>
            <a:ext cx="834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rPr>
              <a:t>Таблица 1 – Результаты на тестовой выборке</a:t>
            </a:r>
          </a:p>
        </p:txBody>
      </p:sp>
      <p:graphicFrame>
        <p:nvGraphicFrame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4C07D9-CC4B-4A3C-9941-B1756828C0EA}"/>
              </a:ext>
            </a:extLst>
          </p:cNvPr>
          <p:cNvGraphicFramePr/>
          <p:nvPr/>
        </p:nvGraphicFramePr>
        <p:xfrm>
          <a:off xmlns:a="http://schemas.openxmlformats.org/drawingml/2006/main" x="381000" y="4562475"/>
          <a:ext xmlns:a="http://schemas.openxmlformats.org/drawingml/2006/main" cx="8382000" cy="876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76400"/>
                <a:gridCol w="1676400"/>
                <a:gridCol w="1676400"/>
                <a:gridCol w="1676400"/>
                <a:gridCol w="1676400"/>
              </a:tblGrid>
              <a:tr h="438150"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Точность</a:t>
                      </a:r>
                    </a:p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(precision)</a:t>
                      </a:r>
                    </a:p>
                  </a:txBody>
                  <a:tcPr marL="66675" marR="66675" marT="57150" marB="57150" anchor="ctr">
                    <a:solidFill>
                      <a:srgbClr val="EEF3F8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Полнота</a:t>
                      </a:r>
                    </a:p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(recall)</a:t>
                      </a:r>
                    </a:p>
                  </a:txBody>
                  <a:tcPr marL="66675" marR="66675" marT="57150" marB="57150" anchor="ctr">
                    <a:solidFill>
                      <a:srgbClr val="EEF3F8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Мера F1</a:t>
                      </a:r>
                    </a:p>
                  </a:txBody>
                  <a:tcPr marL="66675" marR="66675" marT="57150" marB="57150" anchor="ctr">
                    <a:solidFill>
                      <a:srgbClr val="EEF3F8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Доля верных</a:t>
                      </a:r>
                    </a:p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ответов</a:t>
                      </a:r>
                    </a:p>
                  </a:txBody>
                  <a:tcPr marL="66675" marR="66675" marT="57150" marB="57150" anchor="ctr">
                    <a:solidFill>
                      <a:srgbClr val="EEF3F8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Средняя</a:t>
                      </a:r>
                    </a:p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точность AP</a:t>
                      </a:r>
                    </a:p>
                  </a:txBody>
                  <a:tcPr marL="66675" marR="66675" marT="57150" marB="57150" anchor="ctr">
                    <a:solidFill>
                      <a:srgbClr val="EEF3F8"/>
                    </a:solidFill>
                  </a:tcPr>
                </a:tc>
              </a:tr>
              <a:tr h="438150"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98,71 %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99,89 %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99,30 %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99,61 %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99,72 %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7182A4-A79B-4520-8149-E49773C2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834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00" b="1">
                <a:solidFill>
                  <a:srgbClr val="2467A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467A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2467A6"/>
                </a:solidFill>
                <a:latin typeface="Times New Roman"/>
                <a:ea typeface="Times New Roman"/>
                <a:cs typeface="Times New Roman"/>
              </a:rPr>
              <a:t>13 ошибок на 3 337 тестовых кадрах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771D64-1ED8-448A-9688-6A2DA479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86475"/>
            <a:ext cx="8229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0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rPr>
              <a:t>Похожие кадры и использование теста при разработке могут завышать оценку.</a:t>
            </a:r>
          </a:p>
        </p:txBody>
      </p:sp>
    </p:spTree>
    <p:extLst>
      <p:ext uri="{BB962C8B-B14F-4D97-AF65-F5344CB8AC3E}">
        <p14:creationId xmlns:p14="http://schemas.microsoft.com/office/powerpoint/2010/main" val="5704309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12E67C-9068-4CE1-85B4-7644BA5E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00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00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rPr>
              <a:t>Проверка на экспериментальном принтере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81470F-4EA8-4264-8872-7A517457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9625"/>
            <a:ext cx="628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0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rPr>
              <a:t>Порог классификации 0,3. Выбор весов модели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38695B-AA51-4638-8C9B-C21DF6BC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876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2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172FF8-C0D8-4977-A0C1-DA8BEE15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809625"/>
            <a:ext cx="1295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>
                <a:solidFill>
                  <a:srgbClr val="D9772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25">
                <a:solidFill>
                  <a:srgbClr val="D977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D97720"/>
                </a:solidFill>
                <a:latin typeface="Times New Roman"/>
                <a:ea typeface="Times New Roman"/>
                <a:cs typeface="Times New Roman"/>
              </a:rPr>
              <a:t>19-я эпоха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49C7F0-AF54-4F20-91B6-870354DA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5768D7-F3A0-41A1-81A9-2DDB79DA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4674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650">
                <a:solidFill>
                  <a:srgbClr val="8B929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1650">
                <a:solidFill>
                  <a:srgbClr val="8B929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8B9299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8695DA74-C241-4DE9-A483-861BA8C7DD1F}"/>
              </a:ext>
            </a:extLst>
          </p:cNvPr>
          <p:cNvGraphicFramePr/>
          <p:nvPr/>
        </p:nvGraphicFramePr>
        <p:xfrm>
          <a:off xmlns:a="http://schemas.openxmlformats.org/drawingml/2006/main" x="381000" y="1333500"/>
          <a:ext xmlns:a="http://schemas.openxmlformats.org/drawingml/2006/main" cx="4143375" cy="2619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a1df8564cda4f30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6630F8-BD19-429C-B899-4D64E128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67175"/>
            <a:ext cx="414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rPr>
              <a:t>Рис. 6 – Полнота обнаружения на кадрах принтера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F34CB3-29E8-47AA-80E0-0AE08D2F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428750"/>
            <a:ext cx="3990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rPr>
              <a:t>Таблица 2 – Сравнение эпох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F885F8-E026-42AC-BB75-B95F91F93ADD}"/>
              </a:ext>
            </a:extLst>
          </p:cNvPr>
          <p:cNvGraphicFramePr/>
          <p:nvPr/>
        </p:nvGraphicFramePr>
        <p:xfrm>
          <a:off xmlns:a="http://schemas.openxmlformats.org/drawingml/2006/main" x="4762500" y="1838325"/>
          <a:ext xmlns:a="http://schemas.openxmlformats.org/drawingml/2006/main" cx="4000500" cy="2200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38175"/>
                <a:gridCol w="1057275"/>
                <a:gridCol w="1257300"/>
                <a:gridCol w="1047750"/>
              </a:tblGrid>
              <a:tr h="440055"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Эпоха</a:t>
                      </a:r>
                    </a:p>
                  </a:txBody>
                  <a:tcPr marL="66675" marR="66675" marT="57150" marB="57150" anchor="ctr">
                    <a:solidFill>
                      <a:srgbClr val="EEF3F8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Полнота,</a:t>
                      </a:r>
                    </a:p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%</a:t>
                      </a:r>
                    </a:p>
                  </a:txBody>
                  <a:tcPr marL="66675" marR="66675" marT="57150" marB="57150" anchor="ctr">
                    <a:solidFill>
                      <a:srgbClr val="EEF3F8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Ложные</a:t>
                      </a:r>
                    </a:p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тревоги, %</a:t>
                      </a:r>
                    </a:p>
                  </a:txBody>
                  <a:tcPr marL="66675" marR="66675" marT="57150" marB="57150" anchor="ctr">
                    <a:solidFill>
                      <a:srgbClr val="EEF3F8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425" b="1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AP, %</a:t>
                      </a:r>
                    </a:p>
                  </a:txBody>
                  <a:tcPr marL="66675" marR="66675" marT="57150" marB="57150" anchor="ctr">
                    <a:solidFill>
                      <a:srgbClr val="EEF3F8"/>
                    </a:solidFill>
                  </a:tcPr>
                </a:tc>
              </a:tr>
              <a:tr h="440055"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72,73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7,03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75,12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54,55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0,00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92,31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1">
                          <a:solidFill>
                            <a:srgbClr val="9A4D1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</a:t>
                      </a:r>
                    </a:p>
                  </a:txBody>
                  <a:tcPr marL="66675" marR="66675" marT="57150" marB="57150" anchor="ctr">
                    <a:solidFill>
                      <a:srgbClr val="FFF0DE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1">
                          <a:solidFill>
                            <a:srgbClr val="9A4D1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54,55</a:t>
                      </a:r>
                    </a:p>
                  </a:txBody>
                  <a:tcPr marL="66675" marR="66675" marT="57150" marB="57150" anchor="ctr">
                    <a:solidFill>
                      <a:srgbClr val="FFF0DE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1">
                          <a:solidFill>
                            <a:srgbClr val="9A4D1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0,00</a:t>
                      </a:r>
                    </a:p>
                  </a:txBody>
                  <a:tcPr marL="66675" marR="66675" marT="57150" marB="57150" anchor="ctr">
                    <a:solidFill>
                      <a:srgbClr val="FFF0DE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1">
                          <a:solidFill>
                            <a:srgbClr val="9A4D1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94,63</a:t>
                      </a:r>
                    </a:p>
                  </a:txBody>
                  <a:tcPr marL="66675" marR="66675" marT="57150" marB="57150" anchor="ctr">
                    <a:solidFill>
                      <a:srgbClr val="FFF0DE"/>
                    </a:solidFill>
                  </a:tcPr>
                </a:tc>
              </a:tr>
              <a:tr h="440055"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54,55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0,00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/>
                    <a:lstStyle/>
                    <a:p>
                      <a:pPr algn="ctr"/>
                      <a:r>
                        <a:rPr sz="1650" b="0">
                          <a:solidFill>
                            <a:srgbClr val="222C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92,45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26302B-B42B-45EA-B66C-EEE6C79E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391025"/>
            <a:ext cx="838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09E130-25EC-4B14-ADA5-4B934303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81525"/>
            <a:ext cx="1952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600" b="1">
                <a:solidFill>
                  <a:srgbClr val="2467A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467A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>
                <a:solidFill>
                  <a:srgbClr val="2467A6"/>
                </a:solidFill>
                <a:latin typeface="Times New Roman"/>
                <a:ea typeface="Times New Roman"/>
                <a:cs typeface="Times New Roman"/>
              </a:rPr>
              <a:t>6 из 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F28AE6-18A9-434B-AA2C-C0FA4172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572000"/>
            <a:ext cx="62579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rPr>
              <a:t>дефектных кадров обнаружены</a:t>
            </a:r>
          </a:p>
          <a:p xmlns:a="http://schemas.openxmlformats.org/drawingml/2006/main">
            <a:pPr algn="l">
              <a:defRPr sz="180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rPr>
              <a:t>5 кадров пропущены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4281F1-60FD-4C59-A5AE-B7AA3480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00675"/>
            <a:ext cx="8362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rPr>
              <a:t>Выбрана 19-я эпоха: среди эпох 18–20 при одинаковой полноте</a:t>
            </a:r>
          </a:p>
          <a:p xmlns:a="http://schemas.openxmlformats.org/drawingml/2006/main">
            <a:pPr algn="l">
              <a:defRPr sz="1725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22C38"/>
                </a:solidFill>
                <a:latin typeface="Times New Roman"/>
                <a:ea typeface="Times New Roman"/>
                <a:cs typeface="Times New Roman"/>
              </a:rPr>
              <a:t>и отсутствии ложных тревог получено наибольшее значение AP.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E14D59-3535-48EB-90E5-267B91CA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76950"/>
            <a:ext cx="8267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rPr>
              <a:t>Ложные тревоги допустимы в пределах 1 %. Проверка на 11 дефектных кадрах</a:t>
            </a:r>
          </a:p>
          <a:p xmlns:a="http://schemas.openxmlformats.org/drawingml/2006/main">
            <a:pPr algn="l">
              <a:defRPr sz="135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5B6570"/>
                </a:solidFill>
                <a:latin typeface="Times New Roman"/>
                <a:ea typeface="Times New Roman"/>
                <a:cs typeface="Times New Roman"/>
              </a:rPr>
              <a:t>предварительная. Требуется расширение независимой выборки.</a:t>
            </a:r>
          </a:p>
        </p:txBody>
      </p:sp>
    </p:spTree>
    <p:extLst>
      <p:ext uri="{BB962C8B-B14F-4D97-AF65-F5344CB8AC3E}">
        <p14:creationId xmlns:p14="http://schemas.microsoft.com/office/powerpoint/2010/main" val="14214272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2026-10-09T08:09:28.5400000Z</dcterms:created>
  <dcterms:modified xsi:type="dcterms:W3CDTF">2026-10-09T08:09:28.5400000Z</dcterms:modified>
</coreProperties>
</file>