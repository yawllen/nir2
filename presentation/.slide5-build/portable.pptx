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5_result/ppt/slides/charts/chart1.xml" ContentType="application/vnd.openxmlformats-officedocument.drawingml.chart+xml"/>
  <Override PartName="/ppt/slide5_result/ppt/slides/charts/chart2.xml" ContentType="application/vnd.openxmlformats-officedocument.drawingml.chart+xml"/>
  <Override PartName="/ppt/slide5_result/ppt/notesMasters/theme/theme3.xml" ContentType="application/vnd.openxmlformats-officedocument.theme+xml"/>
  <Override PartName="/ppt/slide5_result/ppt/notesMasters/notesMaster1.xml" ContentType="application/vnd.openxmlformats-officedocument.presentationml.notesMaster+xml"/>
  <Override PartName="/ppt/slide5_result/ppt/notesSlides/notesSlide1.xml" ContentType="application/vnd.openxmlformats-officedocument.presentationml.notesSlide+xml"/>
  <Default Extension="xlsx" ContentType="application/vnd.openxmlformats-officedocument.spreadsheetml.sheet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6" r:id="rId4"/>
    <p:sldId id="275" r:id="rId5"/>
    <p:sldId id="273" r:id="rId6"/>
    <p:sldId id="270" r:id="rId7"/>
    <p:sldId id="271" r:id="rId8"/>
    <p:sldId id="272" r:id="rId9"/>
    <p:sldId id="274" r:id="rId10"/>
    <p:sldId id="266" r:id="rId11"/>
  </p:sldIdLst>
  <p:sldSz cx="9144000" cy="6858000" type="screen4x3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28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Титульные сведения: C:/Users/Yawllen/Documents/GitHub/Nir2/Title.tex. Группа ИВТм-251 и научный руководитель А. С. Астахов уточнены пользователем. Визуальный шаблон: первый слайд C:/Users/Yawllen/Downloads/Eshenko_VKR.pptx.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448156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28071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BACC8-2C4D-334B-9042-96E69D47F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2BE1D05-A3F2-9A1C-96D7-51E72924A0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1E14AF7-2AA3-67C6-62C2-2ADB9EC80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D686308-0247-4379-103C-289F8CA0A1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44389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BACC8-2C4D-334B-9042-96E69D47F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2BE1D05-A3F2-9A1C-96D7-51E72924A0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1E14AF7-2AA3-67C6-62C2-2ADB9EC80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D686308-0247-4379-103C-289F8CA0A1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39818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726DC-CE10-F03F-2142-18D5DEE9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BD27571-4120-1AD9-24AF-1F6C37D03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020C72C-20DC-053F-06DA-226D6D644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F1735C-DD43-29D0-C068-51A4DFD82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798463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726DC-CE10-F03F-2142-18D5DEE9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BD27571-4120-1AD9-24AF-1F6C37D03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020C72C-20DC-053F-06DA-226D6D644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F1735C-DD43-29D0-C068-51A4DFD82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02733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726DC-CE10-F03F-2142-18D5DEE9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BD27571-4120-1AD9-24AF-1F6C37D03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020C72C-20DC-053F-06DA-226D6D644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F1735C-DD43-29D0-C068-51A4DFD82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98948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726DC-CE10-F03F-2142-18D5DEE9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BD27571-4120-1AD9-24AF-1F6C37D03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020C72C-20DC-053F-06DA-226D6D644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F1735C-DD43-29D0-C068-51A4DFD82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5953112"/>
      </p:ext>
    </p:extLst>
  </p:cSld>
  <p:clrMapOvr>
    <a:masterClrMapping/>
  </p:clrMapOvr>
</p:notes>
</file>

<file path=ppt/slide5_result/ppt/notesMasters/_rels/notesMaster1.xml.rels><?xml version='1.0' encoding='utf-8'?>
<ns0:Relationships xmlns:ns0="http://schemas.openxmlformats.org/package/2006/relationships"><ns0:Relationship Type="http://schemas.openxmlformats.org/officeDocument/2006/relationships/theme" Target="theme/theme3.xml" Id="R80166811e1d94c97" /></ns0:Relationships>
</file>

<file path=ppt/slide5_result/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slide5_result/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5_result/ppt/notesSlides/_rels/notesSlide1.xml.rels><?xml version='1.0' encoding='utf-8'?>
<ns0:Relationships xmlns:ns0="http://schemas.openxmlformats.org/package/2006/relationships"><ns0:Relationship Type="http://schemas.openxmlformats.org/officeDocument/2006/relationships/slide" Target="../../../slides/slide5.xml" Id="R68775b14c8f94363" /><ns0:Relationship Type="http://schemas.openxmlformats.org/officeDocument/2006/relationships/notesMaster" Target="../notesMasters/notesMaster1.xml" Id="Rb592c74420064ecb" /></ns0:Relationships>
</file>

<file path=ppt/slide5_result/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C:/Users/Yawllen/Documents/GitHub/Nir2/outputs/model_v12_report/metrics_v12.json; C:/Users/Yawllen/Documents/GitHub/printer-defect-server/models/spaghetti_presence_v12/history.json; C:/Users/Yawllen/Documents/GitHub/printer-defect-server/models/spaghetti_presence_v12/dataset_manifest.csv; C:/Users/Yawllen/Documents/GitHub/printer-defect-server/models/spaghetti_presence_v12/training_config.json. Показатели относятся к классификации полного кадра, порог 0,3. В отчёте исправлена метка одного тестового кадра. Полнота валидации собственного принтера: 6/11=54,55 %. Лучшие веса выбраны по валидации, не по тесту.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5_result/ppt/slides/charts/_rels/chart1.xml.rels><Relationships xmlns="http://schemas.openxmlformats.org/package/2006/relationships"><Relationship Id="rIdChartSnapshot1" Type="http://schemas.openxmlformats.org/officeDocument/2006/relationships/package" Target="../../../../embeddings/chart-data-snapshot-001.xlsx"/></Relationships>
</file>

<file path=ppt/slide5_result/ppt/slides/charts/_rels/chart2.xml.rels><Relationships xmlns="http://schemas.openxmlformats.org/package/2006/relationships"><Relationship Id="rIdChartSnapshot1" Type="http://schemas.openxmlformats.org/officeDocument/2006/relationships/package" Target="../../../../embeddings/chart-data-snapshot-002.xlsx"/></Relationships>
</file>

<file path=ppt/slide5_result/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Ошибка обучения</c:v>
          </c:tx>
          <c:spPr>
            <a:ln xmlns:a="http://schemas.openxmlformats.org/drawingml/2006/main" w="16193">
              <a:solidFill>
                <a:srgbClr val="333333"/>
              </a:solidFill>
            </a:ln>
          </c:spPr>
          <c:marker>
            <c:symbol val="none"/>
          </c:marker>
          <c:dLbls>
            <c:dLbl>
              <c:idx val="18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350">
                        <a:solidFill>
                          <a:srgbClr val="000000"/>
                        </a:solidFill>
                      </a:rPr>
                      <a:t>●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>
                      <a:solidFill>
                        <a:srgbClr val="000000"/>
                      </a:solidFill>
                    </a:defRPr>
                  </a:pPr>
                </a:p>
              </c:txPr>
              <c:dLblPos val="ctr"/>
              <c:showVal val="1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Ref>
              <c:f>'Chart Data'!$A$2:$A$21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cat>
          <c:val>
            <c:numRef>
              <c:f>'Chart Data'!$B$2:$B$21</c:f>
              <c:numCache>
                <c:formatCode>0.000</c:formatCode>
                <c:ptCount val="20"/>
                <c:pt idx="0">
                  <c:v>0.005552</c:v>
                </c:pt>
                <c:pt idx="1">
                  <c:v>0.00241</c:v>
                </c:pt>
                <c:pt idx="2">
                  <c:v>0.009237</c:v>
                </c:pt>
                <c:pt idx="3">
                  <c:v>0.00326</c:v>
                </c:pt>
                <c:pt idx="4">
                  <c:v>0.002323</c:v>
                </c:pt>
                <c:pt idx="5">
                  <c:v>0.001774</c:v>
                </c:pt>
                <c:pt idx="6">
                  <c:v>0.001328</c:v>
                </c:pt>
                <c:pt idx="7">
                  <c:v>0.000871</c:v>
                </c:pt>
                <c:pt idx="8">
                  <c:v>0.001206</c:v>
                </c:pt>
                <c:pt idx="9">
                  <c:v>0.004558</c:v>
                </c:pt>
                <c:pt idx="10">
                  <c:v>0.001092</c:v>
                </c:pt>
                <c:pt idx="11">
                  <c:v>0.003142</c:v>
                </c:pt>
                <c:pt idx="12">
                  <c:v>0.001619</c:v>
                </c:pt>
                <c:pt idx="13">
                  <c:v>0.001099</c:v>
                </c:pt>
                <c:pt idx="14">
                  <c:v>0.000973</c:v>
                </c:pt>
                <c:pt idx="15">
                  <c:v>0.000976</c:v>
                </c:pt>
                <c:pt idx="16">
                  <c:v>0.001178</c:v>
                </c:pt>
                <c:pt idx="17">
                  <c:v>0.001012</c:v>
                </c:pt>
                <c:pt idx="18">
                  <c:v>0.002217</c:v>
                </c:pt>
                <c:pt idx="19">
                  <c:v>0.002233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Times New Roman"/>
                    <a:ea typeface="Times New Roman"/>
                    <a:cs typeface="Times New Roman"/>
                  </a:rPr>
                  <a:t>Эпоха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7620">
            <a:solidFill>
              <a:srgbClr val="00000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0.01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0D0D0"/>
              </a:solidFill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0.00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5_result/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AP, %</c:v>
          </c:tx>
          <c:spPr>
            <a:ln xmlns:a="http://schemas.openxmlformats.org/drawingml/2006/main" w="16193">
              <a:solidFill>
                <a:srgbClr val="333333"/>
              </a:solidFill>
            </a:ln>
          </c:spPr>
          <c:marker>
            <c:symbol val="none"/>
          </c:marker>
          <c:dLbls>
            <c:dLbl>
              <c:idx val="18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350">
                        <a:solidFill>
                          <a:srgbClr val="000000"/>
                        </a:solidFill>
                      </a:rPr>
                      <a:t>●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>
                      <a:solidFill>
                        <a:srgbClr val="000000"/>
                      </a:solidFill>
                    </a:defRPr>
                  </a:pPr>
                </a:p>
              </c:txPr>
              <c:dLblPos val="ctr"/>
              <c:showVal val="1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Ref>
              <c:f>'Chart Data'!$A$2:$A$21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cat>
          <c:val>
            <c:numRef>
              <c:f>'Chart Data'!$B$2:$B$21</c:f>
              <c:numCache>
                <c:formatCode>0.0" %"</c:formatCode>
                <c:ptCount val="20"/>
                <c:pt idx="0">
                  <c:v>98.972764</c:v>
                </c:pt>
                <c:pt idx="1">
                  <c:v>98.861859</c:v>
                </c:pt>
                <c:pt idx="2">
                  <c:v>99.57373</c:v>
                </c:pt>
                <c:pt idx="3">
                  <c:v>99.689363</c:v>
                </c:pt>
                <c:pt idx="4">
                  <c:v>99.276485</c:v>
                </c:pt>
                <c:pt idx="5">
                  <c:v>99.174207</c:v>
                </c:pt>
                <c:pt idx="6">
                  <c:v>99.55193</c:v>
                </c:pt>
                <c:pt idx="7">
                  <c:v>99.323224</c:v>
                </c:pt>
                <c:pt idx="8">
                  <c:v>99.462997</c:v>
                </c:pt>
                <c:pt idx="9">
                  <c:v>99.10293</c:v>
                </c:pt>
                <c:pt idx="10">
                  <c:v>99.325666</c:v>
                </c:pt>
                <c:pt idx="11">
                  <c:v>99.34298</c:v>
                </c:pt>
                <c:pt idx="12">
                  <c:v>99.213706</c:v>
                </c:pt>
                <c:pt idx="13">
                  <c:v>99.211031</c:v>
                </c:pt>
                <c:pt idx="14">
                  <c:v>99.315382</c:v>
                </c:pt>
                <c:pt idx="15">
                  <c:v>99.234098</c:v>
                </c:pt>
                <c:pt idx="16">
                  <c:v>99.280321</c:v>
                </c:pt>
                <c:pt idx="17">
                  <c:v>99.311447</c:v>
                </c:pt>
                <c:pt idx="18">
                  <c:v>99.245392</c:v>
                </c:pt>
                <c:pt idx="19">
                  <c:v>99.336899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Times New Roman"/>
                    <a:ea typeface="Times New Roman"/>
                    <a:cs typeface="Times New Roman"/>
                  </a:rPr>
                  <a:t>Эпоха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7620">
            <a:solidFill>
              <a:srgbClr val="00000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98.5"/>
        </c:scaling>
        <c:delete val="0"/>
        <c:axPos val="l"/>
        <c:majorGridlines>
          <c:spPr>
            <a:ln xmlns:a="http://schemas.openxmlformats.org/drawingml/2006/main" w="5715">
              <a:solidFill>
                <a:srgbClr val="D0D0D0"/>
              </a:solidFill>
            </a:ln>
          </c:spPr>
        </c:majorGridlines>
        <c:numFmt formatCode="0.0&quot; 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C388F-DEE8-4999-80DA-4B08D9C6AE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26C57B-B7B9-44ED-8C6F-DD39ABA58A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Образец подзаголовка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E8F56-F9DD-4EBB-8D7D-653AD4D57F8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080A1-B1C3-40DF-A5E5-D24C706F667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F9F49-A4A0-4CDA-B3A7-871709CE7D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D0A74-FEAB-4613-88EF-54A0A6D46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C022A-C158-40E5-B7EE-7ECD7BFAC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51D32F-F627-436D-8334-BEAC64706DC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6CE828-67B2-4444-929F-5321B45AA52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9A65A-E6E0-4F5F-AFDD-97A08A57B0E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B6B0C-7344-4431-97A8-11EDF4BA2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B8E9C-3084-4625-8E03-F9FED502F5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AAF5B-621A-4438-B4C6-6F2CA534112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4CF84-34C8-420C-9C94-37AC72D88D9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8660F-AB7F-403A-AA16-3575B45A30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1C073-DA93-462D-92EF-EAB28C3BF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DF1C2-8D54-44FD-B541-0BF158C77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1CA6C0-736D-4A89-97F5-B0013D6D71A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E2AC1-B710-47D7-A39F-322CF1707C8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8DA8DB-42F1-4912-8081-4426A6F347C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B7B3AA-4994-402A-9168-DC2C25EF2E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C9060-334F-4364-A593-C6A5F1C90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782AE4-D909-420E-A442-752611BD7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7E7F8D-A36A-4049-808E-063A552764E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334DA7-E5A8-4668-BC62-EC8C60B4E2C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68618A-04E8-4CCE-A9E4-4A649FDE190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91C88F-9BDC-48E9-9C80-737529C09AD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C377B7-C9A0-47AD-8ED5-611704EEF9E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71D917-B3D4-44AE-B364-D7812D1A40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DD367-135D-4516-AC8A-A92E8201C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238541-2621-4C5F-AA05-B9D6C59A180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D53E81-B4C5-4C85-9FEC-B133C0F7240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103A86-A27B-4838-A9BE-FDFF85BBA1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229F4D-0648-4B9E-8A6F-1B7EA1654CE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C727DE-4D07-4459-B460-69CA08CDA0B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97132C-A107-42A9-A593-E2F1BA9CB9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C7406-F75E-40A2-9B5A-F27948D0E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67158-6170-4FC7-856A-8205BBAF3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A558BE-EDBE-4F50-A862-6DBA416D173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38FB7D-9228-41EB-BE6B-599554EA577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A4B719-B4B7-4F42-BD3F-01EC1441697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689AC8-8D43-44CB-AAB7-9AE138C6CE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19385-C566-4337-BE85-EE2C6C9D5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B96CEB-8A1B-447C-A05B-53A238D04E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t>Вставка рисунка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73D77-200D-4493-A725-400D2744AA4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B3FF7D-FDA6-4E12-99E3-388C062D83A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6E235E-A01B-4009-A5F5-6642D81957E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373340-F8F1-40F0-9881-4514E0D96E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B8FD7-CE2D-40A2-AB93-AC97CB944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EDC243-3A9A-42D3-A38A-95EFB40219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A6133-9BFC-47CE-BAF1-E9AA5220563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88FD5-1CC6-45E6-A6B3-31A633082CD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C1CFA-A7E3-4580-94FF-ED73E79675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5C103D-EC12-4503-8554-224CFE971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t>Образец заголовка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EC51D8-B839-44CA-A112-44746FCE1A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B89CB-3176-482E-ADAC-8096540C4D2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0CCB3-9BD0-4474-8AE4-C8F1EB2E33D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B7441-6A01-45BB-BF93-75993D6571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24AF1C-5263-45DE-B0BF-4C7856D7D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Образец заголовка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8C9B1E-1B94-4341-9B43-62399FE44A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347B43-022E-43C0-9C4C-EDA69A2326C1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476C5F-40E1-410B-BAA7-B63D1B24D54E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494A4-AEEB-44DD-AC94-FA16A78739FC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ED8A53-8D2F-4011-BE06-EDB0774336BA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'1.0' encoding='utf-8'?>
<ns0:Relationships xmlns:ns0="http://schemas.openxmlformats.org/package/2006/relationships"><ns0:Relationship Id="rIdOriginalLayout" Type="http://schemas.openxmlformats.org/officeDocument/2006/relationships/slideLayout" Target="../slideLayouts/slideLayout2.xml" /><ns0:Relationship Type="http://schemas.openxmlformats.org/officeDocument/2006/relationships/chart" Target="../slide5_result/ppt/slides/charts/chart1.xml" Id="rIdResult2" /><ns0:Relationship Type="http://schemas.openxmlformats.org/officeDocument/2006/relationships/chart" Target="../slide5_result/ppt/slides/charts/chart2.xml" Id="rIdResult3" /><ns0:Relationship Type="http://schemas.openxmlformats.org/officeDocument/2006/relationships/notesSlide" Target="../slide5_result/ppt/notesSlides/notesSlide1.xml" Id="rIdResult4" /></ns0: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49197F-1F94-4487-96B4-5CC8E191D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126" y="1660941"/>
            <a:ext cx="7966787" cy="1467730"/>
          </a:xfrm>
        </p:spPr>
        <p:txBody>
          <a:bodyPr vert="horz" lIns="91440" tIns="45720" rIns="91440" bIns="45720" anchor="ctr">
            <a:noAutofit/>
          </a:bodyPr>
          <a:lstStyle>
            <a:defPPr algn="ctr">
              <a:defRPr sz="3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3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Автоматическое</a:t>
            </a:r>
            <a:r>
              <a:rPr sz="3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выявление</a:t>
            </a:r>
            <a:endParaRPr sz="3600" b="1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algn="ctr">
              <a:buNone/>
              <a:defRPr sz="3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дефектов</a:t>
            </a:r>
            <a:r>
              <a:rPr sz="3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в </a:t>
            </a:r>
            <a:r>
              <a:rPr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процессе</a:t>
            </a:r>
            <a:r>
              <a:rPr sz="3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3D-печати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5F81F08-5D1E-4085-9EBA-0CC100597D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2393" y="4487371"/>
            <a:ext cx="7970520" cy="1749400"/>
          </a:xfrm>
        </p:spPr>
        <p:txBody>
          <a:bodyPr vert="horz" lIns="91440" tIns="45720" rIns="91440" bIns="45720" anchor="ctr">
            <a:noAutofit/>
          </a:bodyPr>
          <a:lstStyle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группы ИВТм-2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1:                                     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Ешенко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Даниил Ярославович</a:t>
            </a:r>
          </a:p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 практики:     к. ф.-м. н.,</a:t>
            </a:r>
            <a:r>
              <a:rPr lang="ru-RU" sz="1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доцент каф. ИСКM, Иванченко Г. С.</a:t>
            </a:r>
          </a:p>
          <a:p>
            <a:pPr algn="just"/>
            <a:r>
              <a:rPr lang="ru-RU" sz="1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Научный консультант:                          ст. преп. каф. ИСКМ, Астахов А.С.</a:t>
            </a:r>
            <a:endParaRPr lang="ru-RU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CF1438-5AC9-43E1-AF5B-1B0FBA2C3062}"/>
              </a:ext>
            </a:extLst>
          </p:cNvPr>
          <p:cNvSpPr>
            <a:spLocks noGrp="1"/>
          </p:cNvSpPr>
          <p:nvPr/>
        </p:nvSpPr>
        <p:spPr>
          <a:xfrm>
            <a:off x="714393" y="321974"/>
            <a:ext cx="7968520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buNone/>
            </a:pP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Волгоградский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государственный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университет</a:t>
            </a:r>
            <a:endParaRPr sz="2000" b="0" i="0" u="none" strike="noStrike" baseline="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Институт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математики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и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информационных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технологий</a:t>
            </a:r>
            <a:endParaRPr sz="2000" b="0" i="0" u="none" strike="noStrike" baseline="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Кафедра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информационных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систем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и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компьютерного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моделирования</a:t>
            </a:r>
            <a:endParaRPr sz="20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EEB4BB57-FAB3-D4FF-BB40-FB880A2615B3}"/>
              </a:ext>
            </a:extLst>
          </p:cNvPr>
          <p:cNvSpPr>
            <a:spLocks noGrp="1"/>
          </p:cNvSpPr>
          <p:nvPr/>
        </p:nvSpPr>
        <p:spPr>
          <a:xfrm>
            <a:off x="711175" y="3377449"/>
            <a:ext cx="7971738" cy="1109922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>
            <a:defPPr algn="ctr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ctr">
              <a:lnSpc>
                <a:spcPct val="100000"/>
              </a:lnSpc>
              <a:buNone/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Научно-исследовательская работа по направлению</a:t>
            </a:r>
            <a:endParaRPr sz="2000"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buNone/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09.04.01 «Информатика и вычислительная техника»</a:t>
            </a:r>
            <a:endParaRPr sz="200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EA943AF4-237A-8CA5-C20E-0B6C8CCD2DB0}"/>
              </a:ext>
            </a:extLst>
          </p:cNvPr>
          <p:cNvSpPr>
            <a:spLocks noGrp="1"/>
          </p:cNvSpPr>
          <p:nvPr/>
        </p:nvSpPr>
        <p:spPr>
          <a:xfrm>
            <a:off x="591820" y="6383842"/>
            <a:ext cx="7960360" cy="297180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>
            <a:defPPr algn="ctr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Волгоград 2026</a:t>
            </a:r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4D423A90-34D2-345E-BA07-2F7DEF1B1097}"/>
              </a:ext>
            </a:extLst>
          </p:cNvPr>
          <p:cNvSpPr txBox="1">
            <a:spLocks/>
          </p:cNvSpPr>
          <p:nvPr/>
        </p:nvSpPr>
        <p:spPr>
          <a:xfrm>
            <a:off x="722553" y="5168483"/>
            <a:ext cx="7960360" cy="10998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just"/>
            <a:endParaRPr lang="ru-RU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443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3432" y="-5479"/>
            <a:ext cx="7877136" cy="758162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5440" y="752683"/>
            <a:ext cx="7885128" cy="117090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 — разработка и тестирование версии 3D-принтера с системой обнаружения дефектов в процессе печати и механизмом своевременного реагирования.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4087" y="1960801"/>
            <a:ext cx="787819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задачи работы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4994" y="2607132"/>
            <a:ext cx="8069450" cy="41549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14630" indent="-21463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Изучение дефектов FDM-печати и выбор целевого дефекта для автоматического обнаружения.</a:t>
            </a:r>
          </a:p>
          <a:p>
            <a:pPr marL="214630" indent="-21463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Проектирование, сборка и отладка аппаратно-программного комплекса экспериментального 3D-принтера.</a:t>
            </a:r>
          </a:p>
          <a:p>
            <a:pPr marL="214630" indent="-21463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Сбор и подготовка данных для обучения нейросети и обучение модели обнаружения целевого дефекта.</a:t>
            </a:r>
          </a:p>
          <a:p>
            <a:pPr marL="214630" indent="-21463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внешней системы контроля печати с автоматическим обнаружением дефектов.</a:t>
            </a:r>
          </a:p>
          <a:p>
            <a:pPr marL="214630" indent="-21463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работы системы контроля и 3D-принтера в процессе печати.</a:t>
            </a:r>
          </a:p>
        </p:txBody>
      </p:sp>
      <p:sp>
        <p:nvSpPr>
          <p:cNvPr id="6" name="Замещающий номер слайда 4">
            <a:extLst>
              <a:ext uri="{FF2B5EF4-FFF2-40B4-BE49-F238E27FC236}">
                <a16:creationId xmlns:a16="http://schemas.microsoft.com/office/drawing/2014/main" id="{C78DB24C-FC20-2FE0-98E7-F598D1843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ru-RU" sz="200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99FE507C-2C48-A423-9756-13891072B7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33" t="13068" r="8466" b="3458"/>
          <a:stretch/>
        </p:blipFill>
        <p:spPr>
          <a:xfrm>
            <a:off x="5021065" y="3247173"/>
            <a:ext cx="3921040" cy="255587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CC29E7-47AE-4C1B-A66A-06BAB8AB4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116476"/>
            <a:ext cx="7886700" cy="712868"/>
          </a:xfrm>
        </p:spPr>
        <p:txBody>
          <a:bodyPr wrap="square" lIns="91440" tIns="45720" rIns="91440" bIns="45720">
            <a:noAutofit/>
          </a:bodyPr>
          <a:lstStyle>
            <a:defPPr algn="ctr">
              <a:defRPr sz="4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4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0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В </a:t>
            </a:r>
            <a:r>
              <a:rPr sz="40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чем</a:t>
            </a:r>
            <a:r>
              <a:rPr sz="40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40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заключается</a:t>
            </a:r>
            <a:r>
              <a:rPr sz="40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40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проблема</a:t>
            </a:r>
            <a:r>
              <a:rPr sz="40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</a:t>
            </a:r>
            <a:endParaRPr sz="4000" dirty="0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7A7AC3B3-0D3D-46AF-A9AF-3FA15E2C3D9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088886" y="6493511"/>
            <a:ext cx="2057400" cy="365125"/>
          </a:xfrm>
        </p:spPr>
        <p:txBody>
          <a:bodyPr wrap="square" lIns="91440" tIns="45720" rIns="91440" bIns="45720">
            <a:noAutofit/>
          </a:bodyPr>
          <a:lstStyle>
            <a:defPPr algn="r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r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fld id="{D6ED8A53-8D2F-4011-BE06-EDB0774336BA}" type="slidenum"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fld>
            <a:endParaRPr sz="200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A98C53-8330-9192-D210-4F5703BD6F05}"/>
              </a:ext>
            </a:extLst>
          </p:cNvPr>
          <p:cNvSpPr>
            <a:spLocks noGrp="1"/>
          </p:cNvSpPr>
          <p:nvPr/>
        </p:nvSpPr>
        <p:spPr>
          <a:xfrm>
            <a:off x="277897" y="597203"/>
            <a:ext cx="5948583" cy="229741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ru-RU" sz="18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На фермах 3D-принтеров в процессе печати могут возникать сбои, вызванные различными факторами. Такие дефекты, как отлипание, расслоение или смещение слоёв, в конечном итоге могут привести к </a:t>
            </a:r>
            <a:r>
              <a:rPr lang="ru-RU"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критическому дефекту «спагетти»</a:t>
            </a:r>
            <a:r>
              <a:rPr lang="ru-RU" sz="18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при котором пластик начинает хаотично укладываться в воздухе. Такой дефект приводит к перерасходу материала, а в отдельных случаях может стать </a:t>
            </a:r>
            <a:r>
              <a:rPr lang="ru-RU"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причиной повреждения </a:t>
            </a:r>
            <a:r>
              <a:rPr lang="ru-RU" sz="18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самого 3D-принтера.</a:t>
            </a:r>
            <a:endParaRPr lang="ru-RU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3027D3F-6BC8-2110-F2D0-39287E8FAFD7}"/>
              </a:ext>
            </a:extLst>
          </p:cNvPr>
          <p:cNvSpPr>
            <a:spLocks noGrp="1"/>
          </p:cNvSpPr>
          <p:nvPr/>
        </p:nvSpPr>
        <p:spPr>
          <a:xfrm>
            <a:off x="6440105" y="2547592"/>
            <a:ext cx="2182057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1 – </a:t>
            </a: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Дефект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типа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«</a:t>
            </a: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спагетти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»</a:t>
            </a:r>
          </a:p>
        </p:txBody>
      </p:sp>
      <p:pic>
        <p:nvPicPr>
          <p:cNvPr id="4" name="Рисунок 3" descr="Изображение выглядит как искусство, дизайн, соединитель, свет&#10;&#10;Содержимое, созданное ИИ, может быть неверным.">
            <a:extLst>
              <a:ext uri="{FF2B5EF4-FFF2-40B4-BE49-F238E27FC236}">
                <a16:creationId xmlns:a16="http://schemas.microsoft.com/office/drawing/2014/main" id="{AE67ED3C-CB37-618A-EEBF-9C9FF1AB5D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291" t="18812" r="21153" b="24354"/>
          <a:stretch/>
        </p:blipFill>
        <p:spPr>
          <a:xfrm>
            <a:off x="6333293" y="704535"/>
            <a:ext cx="2288869" cy="1792981"/>
          </a:xfrm>
          <a:prstGeom prst="rect">
            <a:avLst/>
          </a:prstGeom>
          <a:ln w="28575">
            <a:noFill/>
          </a:ln>
        </p:spPr>
      </p:pic>
      <p:sp>
        <p:nvSpPr>
          <p:cNvPr id="6" name="TextBox 2">
            <a:extLst>
              <a:ext uri="{FF2B5EF4-FFF2-40B4-BE49-F238E27FC236}">
                <a16:creationId xmlns:a16="http://schemas.microsoft.com/office/drawing/2014/main" id="{452C65C1-2992-0840-D7B0-DF2AD9057D63}"/>
              </a:ext>
            </a:extLst>
          </p:cNvPr>
          <p:cNvSpPr>
            <a:spLocks noGrp="1"/>
          </p:cNvSpPr>
          <p:nvPr/>
        </p:nvSpPr>
        <p:spPr>
          <a:xfrm>
            <a:off x="277897" y="3017804"/>
            <a:ext cx="4637770" cy="279159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Проблему удалось подтвердить на ферме Волгоградской компании «</a:t>
            </a:r>
            <a:r>
              <a:rPr lang="ru-RU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Stereotech</a:t>
            </a: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». По накопленной статистике принтеров с фермы, 26,7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% заданий были отменены оператором вручную из-за подобных сбоев. Статистика имеет погрешность, так как часть успешных заданий — это печати, когда оператор не мог отменить задачу, хотя сбой был, а часть отмен не связаны со сбоем.</a:t>
            </a:r>
            <a:endParaRPr lang="ru-RU" dirty="0"/>
          </a:p>
        </p:txBody>
      </p:sp>
      <p:sp>
        <p:nvSpPr>
          <p:cNvPr id="12" name="TextBox 26">
            <a:extLst>
              <a:ext uri="{FF2B5EF4-FFF2-40B4-BE49-F238E27FC236}">
                <a16:creationId xmlns:a16="http://schemas.microsoft.com/office/drawing/2014/main" id="{DC9D2F2B-4F62-AFAE-5BC3-F6D246AAE8E4}"/>
              </a:ext>
            </a:extLst>
          </p:cNvPr>
          <p:cNvSpPr>
            <a:spLocks noGrp="1"/>
          </p:cNvSpPr>
          <p:nvPr/>
        </p:nvSpPr>
        <p:spPr>
          <a:xfrm>
            <a:off x="4868975" y="6014767"/>
            <a:ext cx="4073130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Диаграмма статистики печатей на ферме компании «</a:t>
            </a:r>
            <a:r>
              <a:rPr lang="en-US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Stereotech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»</a:t>
            </a:r>
            <a:endParaRPr sz="1600" b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1" name="TextBox 2">
            <a:extLst>
              <a:ext uri="{FF2B5EF4-FFF2-40B4-BE49-F238E27FC236}">
                <a16:creationId xmlns:a16="http://schemas.microsoft.com/office/drawing/2014/main" id="{776FE2EE-EE34-7E14-84FE-9C2304D04340}"/>
              </a:ext>
            </a:extLst>
          </p:cNvPr>
          <p:cNvSpPr>
            <a:spLocks noGrp="1"/>
          </p:cNvSpPr>
          <p:nvPr/>
        </p:nvSpPr>
        <p:spPr>
          <a:xfrm>
            <a:off x="277897" y="5932581"/>
            <a:ext cx="4637770" cy="74349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ru-RU" b="1" dirty="0">
                <a:solidFill>
                  <a:srgbClr val="000000"/>
                </a:solidFill>
                <a:latin typeface="Times New Roman"/>
                <a:cs typeface="Times New Roman"/>
              </a:rPr>
              <a:t>Предлагаемое</a:t>
            </a:r>
            <a:r>
              <a:rPr lang="ru-RU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ru-RU" b="1" dirty="0">
                <a:solidFill>
                  <a:srgbClr val="000000"/>
                </a:solidFill>
                <a:latin typeface="Times New Roman"/>
                <a:cs typeface="Times New Roman"/>
              </a:rPr>
              <a:t>решение</a:t>
            </a:r>
            <a:r>
              <a:rPr lang="ru-RU" dirty="0">
                <a:solidFill>
                  <a:srgbClr val="000000"/>
                </a:solidFill>
                <a:latin typeface="Times New Roman"/>
                <a:cs typeface="Times New Roman"/>
              </a:rPr>
              <a:t>: мониторинг печати с помощью методов машинного зрения.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11050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A209A-B3B7-9043-FC7E-DD693EE6A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8A91D6-F58A-86A8-231A-A5AC5854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8" y="0"/>
            <a:ext cx="7886700" cy="712868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Подготовка к обучению нейросети</a:t>
            </a:r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425BE312-5EC5-E722-FD8E-916DFE636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ru-RU" sz="200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3275A9-2422-EE65-68B7-2EFC7CB717FE}"/>
              </a:ext>
            </a:extLst>
          </p:cNvPr>
          <p:cNvSpPr txBox="1"/>
          <p:nvPr/>
        </p:nvSpPr>
        <p:spPr>
          <a:xfrm>
            <a:off x="444579" y="731952"/>
            <a:ext cx="3869672" cy="25853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обнаружения «спагетти» выбрана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ResNet18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Она решает задачу как бинарную классификацию полного кадра: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есть дефект или нет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Локализация дефектов рамкой в прошлых работах показала низкую точность. Детекция объектов сохранена только для поиска детали на столе.</a:t>
            </a:r>
            <a:endParaRPr lang="ru-RU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D866B5-82E1-33E1-5DF7-1DCBBD9DCDF8}"/>
              </a:ext>
            </a:extLst>
          </p:cNvPr>
          <p:cNvSpPr txBox="1"/>
          <p:nvPr/>
        </p:nvSpPr>
        <p:spPr>
          <a:xfrm>
            <a:off x="4571998" y="709017"/>
            <a:ext cx="4197892" cy="25853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 содержит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16 129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исходных кадров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без аугментаций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Обучающая выборка включает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9 787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кадров,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валидационная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3 005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кадров, тестовая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3 337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кадров. Их доли составляют 60,6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%, 18,7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и 20,7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соответственно. В обучающей выборке представлены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2 761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кадр со «спагетти» и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7 026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кадров без видимых признаков этого дефекта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B6B692-286B-EE82-F648-38C45239ECF9}"/>
              </a:ext>
            </a:extLst>
          </p:cNvPr>
          <p:cNvSpPr txBox="1"/>
          <p:nvPr/>
        </p:nvSpPr>
        <p:spPr>
          <a:xfrm>
            <a:off x="480428" y="3410116"/>
            <a:ext cx="3869672" cy="313932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каждой эпохе обучения сохранялся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баланс классов 50/50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модель получала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5 522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показа изображений, по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2 761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каждый класс. После аугментации обучающая выборка содержит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29 361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изображение: к каждому исходному кадру добавлены два варианта. Валидационная и тестовая выборки содержат только исходные изображения и не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аугментируются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TextBox 26">
            <a:extLst>
              <a:ext uri="{FF2B5EF4-FFF2-40B4-BE49-F238E27FC236}">
                <a16:creationId xmlns:a16="http://schemas.microsoft.com/office/drawing/2014/main" id="{DAC2E642-4E22-B5B0-DB31-19292E122F11}"/>
              </a:ext>
            </a:extLst>
          </p:cNvPr>
          <p:cNvSpPr>
            <a:spLocks noGrp="1"/>
          </p:cNvSpPr>
          <p:nvPr/>
        </p:nvSpPr>
        <p:spPr>
          <a:xfrm>
            <a:off x="4634025" y="5970317"/>
            <a:ext cx="4073130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Диаграмма распределения исходных кадров по выборкам</a:t>
            </a:r>
            <a:endParaRPr sz="1600" b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2B5EBF5-FBE6-336C-42E4-49A8C5D8A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102" y="3317275"/>
            <a:ext cx="3976794" cy="2630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97957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3="http://schemas.openxmlformats.org/drawingml/2006/chart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32" name="Заголовок">
            <a:extLst>
              <a:ext uri="{FF2B5EF4-FFF2-40B4-BE49-F238E27FC236}">
                <ns2:creationId id="{DFD04B8F-3E52-4BEE-81ED-6C30CBE5AEF6}"/>
              </a:ext>
            </a:extLst>
          </p:cNvPr>
          <p:cNvSpPr>
            <a:spLocks noGrp="1"/>
          </p:cNvSpPr>
          <p:nvPr/>
        </p:nvSpPr>
        <p:spPr>
          <a:xfrm>
            <a:off x="571500" y="47625"/>
            <a:ext cx="8001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4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4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Результат обучения нейросети</a:t>
            </a:r>
          </a:p>
        </p:txBody>
      </p:sp>
      <p:sp>
        <p:nvSpPr>
          <p:cNvPr id="2" name="Ошибка обучения">
            <a:extLst>
              <a:ext uri="{FF2B5EF4-FFF2-40B4-BE49-F238E27FC236}">
                <ns2:creationId id="{24CA1197-9F85-4058-B559-3AC2E0D6D5E0}"/>
              </a:ext>
            </a:extLst>
          </p:cNvPr>
          <p:cNvSpPr>
            <a:spLocks noGrp="1"/>
          </p:cNvSpPr>
          <p:nvPr/>
        </p:nvSpPr>
        <p:spPr>
          <a:xfrm>
            <a:off x="361950" y="838200"/>
            <a:ext cx="3981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9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Ошибка обучения (BCE)</a:t>
            </a:r>
          </a:p>
        </p:txBody>
      </p:sp>
      <p:sp>
        <p:nvSpPr>
          <p:cNvPr id="3" name="Валидация">
            <a:extLst>
              <a:ext uri="{FF2B5EF4-FFF2-40B4-BE49-F238E27FC236}">
                <ns2:creationId id="{832059A3-5A6E-48AD-9414-C55A7AA8273F}"/>
              </a:ext>
            </a:extLst>
          </p:cNvPr>
          <p:cNvSpPr>
            <a:spLocks noGrp="1"/>
          </p:cNvSpPr>
          <p:nvPr/>
        </p:nvSpPr>
        <p:spPr>
          <a:xfrm>
            <a:off x="4781550" y="838200"/>
            <a:ext cx="3981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9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Средняя точность на валидации</a:t>
            </a:r>
          </a:p>
        </p:txBody>
      </p:sp>
      <p:graphicFrame>
        <p:nvGraphicFramePr>
          <p:cNvPr id="4" name="Chart">
            <a:extLst>
              <a:ext uri="{FF2B5EF4-FFF2-40B4-BE49-F238E27FC236}">
                <ns2:creationId id="{A747B1E0-37F0-467C-BD46-49D7A70A5A1E}"/>
              </a:ext>
            </a:extLst>
          </p:cNvPr>
          <p:cNvGraphicFramePr/>
          <p:nvPr/>
        </p:nvGraphicFramePr>
        <p:xfrm>
          <a:off x="295275" y="1247775"/>
          <a:ext cx="4124325" cy="1952625"/>
        </p:xfrm>
        <a:graphic>
          <a:graphicData uri="http://schemas.openxmlformats.org/drawingml/2006/chart">
            <ns3:chart r:id="rIdResult2"/>
          </a:graphicData>
        </a:graphic>
      </p:graphicFrame>
      <p:graphicFrame>
        <p:nvGraphicFramePr>
          <p:cNvPr id="5" name="Chart">
            <a:extLst>
              <a:ext uri="{FF2B5EF4-FFF2-40B4-BE49-F238E27FC236}">
                <ns2:creationId id="{09377C92-73BB-41E8-AB53-3051DDA0275D}"/>
              </a:ext>
            </a:extLst>
          </p:cNvPr>
          <p:cNvGraphicFramePr/>
          <p:nvPr/>
        </p:nvGraphicFramePr>
        <p:xfrm>
          <a:off x="4705350" y="1247775"/>
          <a:ext cx="4124325" cy="1952625"/>
        </p:xfrm>
        <a:graphic>
          <a:graphicData uri="http://schemas.openxmlformats.org/drawingml/2006/chart">
            <ns3:chart r:id="rIdResult3"/>
          </a:graphicData>
        </a:graphic>
      </p:graphicFrame>
      <p:sp>
        <p:nvSpPr>
          <p:cNvPr id="6" name="Выбор эпохи">
            <a:extLst>
              <a:ext uri="{FF2B5EF4-FFF2-40B4-BE49-F238E27FC236}">
                <ns2:creationId id="{264F469A-B9EA-42BE-9335-663D7FE78CDD}"/>
              </a:ext>
            </a:extLst>
          </p:cNvPr>
          <p:cNvSpPr>
            <a:spLocks noGrp="1"/>
          </p:cNvSpPr>
          <p:nvPr/>
        </p:nvSpPr>
        <p:spPr>
          <a:xfrm>
            <a:off x="419100" y="3219450"/>
            <a:ext cx="8286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4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4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Чёрные точки — выбранные веса 19-й эпохи. BCE: меньше — лучше; AP: больше — лучше.</a:t>
            </a:r>
          </a:p>
        </p:txBody>
      </p:sp>
      <p:sp>
        <p:nvSpPr>
          <p:cNvPr id="7" name="Матрица ошибок">
            <a:extLst>
              <a:ext uri="{FF2B5EF4-FFF2-40B4-BE49-F238E27FC236}">
                <ns2:creationId id="{8BCD95E4-19E7-4B00-B02F-F355D92F2AE5}"/>
              </a:ext>
            </a:extLst>
          </p:cNvPr>
          <p:cNvSpPr>
            <a:spLocks noGrp="1"/>
          </p:cNvSpPr>
          <p:nvPr/>
        </p:nvSpPr>
        <p:spPr>
          <a:xfrm>
            <a:off x="361950" y="3629025"/>
            <a:ext cx="3924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9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Матрица ошибок на тесте</a:t>
            </a:r>
          </a:p>
        </p:txBody>
      </p:sp>
      <p:sp>
        <p:nvSpPr>
          <p:cNvPr id="8" name="Порог">
            <a:extLst>
              <a:ext uri="{FF2B5EF4-FFF2-40B4-BE49-F238E27FC236}">
                <ns2:creationId id="{8F011D63-99F8-494F-ABFF-A8A20A21A131}"/>
              </a:ext>
            </a:extLst>
          </p:cNvPr>
          <p:cNvSpPr>
            <a:spLocks noGrp="1"/>
          </p:cNvSpPr>
          <p:nvPr/>
        </p:nvSpPr>
        <p:spPr>
          <a:xfrm>
            <a:off x="390525" y="3971925"/>
            <a:ext cx="3857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3 337 кадров; порог срабатывания 0,3</a:t>
            </a:r>
          </a:p>
        </p:txBody>
      </p:sp>
      <p:sp>
        <p:nvSpPr>
          <p:cNvPr id="9" name="Предсказание">
            <a:extLst>
              <a:ext uri="{FF2B5EF4-FFF2-40B4-BE49-F238E27FC236}">
                <ns2:creationId id="{478624CA-AA6A-4CC4-8903-0D1198942305}"/>
              </a:ext>
            </a:extLst>
          </p:cNvPr>
          <p:cNvSpPr>
            <a:spLocks noGrp="1"/>
          </p:cNvSpPr>
          <p:nvPr/>
        </p:nvSpPr>
        <p:spPr>
          <a:xfrm>
            <a:off x="1666875" y="4295775"/>
            <a:ext cx="25241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Ответ модели</a:t>
            </a:r>
          </a:p>
        </p:txBody>
      </p:sp>
      <p:sp>
        <p:nvSpPr>
          <p:cNvPr id="10" name="Нет дефекта">
            <a:extLst>
              <a:ext uri="{FF2B5EF4-FFF2-40B4-BE49-F238E27FC236}">
                <ns2:creationId id="{8FE6AF9E-1873-4CE7-B939-EBFE96E485A2}"/>
              </a:ext>
            </a:extLst>
          </p:cNvPr>
          <p:cNvSpPr>
            <a:spLocks noGrp="1"/>
          </p:cNvSpPr>
          <p:nvPr/>
        </p:nvSpPr>
        <p:spPr>
          <a:xfrm>
            <a:off x="1619250" y="4572000"/>
            <a:ext cx="12477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Нет дефекта</a:t>
            </a:r>
          </a:p>
        </p:txBody>
      </p:sp>
      <p:sp>
        <p:nvSpPr>
          <p:cNvPr id="11" name="Спагетти">
            <a:extLst>
              <a:ext uri="{FF2B5EF4-FFF2-40B4-BE49-F238E27FC236}">
                <ns2:creationId id="{A6A14A5D-56C0-4F90-BFF7-B117C7B46513}"/>
              </a:ext>
            </a:extLst>
          </p:cNvPr>
          <p:cNvSpPr>
            <a:spLocks noGrp="1"/>
          </p:cNvSpPr>
          <p:nvPr/>
        </p:nvSpPr>
        <p:spPr>
          <a:xfrm>
            <a:off x="2952750" y="4572000"/>
            <a:ext cx="12477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«Спагетти»</a:t>
            </a:r>
          </a:p>
        </p:txBody>
      </p:sp>
      <p:sp>
        <p:nvSpPr>
          <p:cNvPr id="12" name="Истинный нет">
            <a:extLst>
              <a:ext uri="{FF2B5EF4-FFF2-40B4-BE49-F238E27FC236}">
                <ns2:creationId id="{3209CA94-E972-4224-B6BB-F4A4066D3172}"/>
              </a:ext>
            </a:extLst>
          </p:cNvPr>
          <p:cNvSpPr>
            <a:spLocks noGrp="1"/>
          </p:cNvSpPr>
          <p:nvPr/>
        </p:nvSpPr>
        <p:spPr>
          <a:xfrm>
            <a:off x="428625" y="4972050"/>
            <a:ext cx="10572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r">
              <a:def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Нет</a:t>
            </a:r>
          </a:p>
          <a:p>
            <a:pPr algn="r">
              <a:def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дефекта</a:t>
            </a:r>
          </a:p>
        </p:txBody>
      </p:sp>
      <p:sp>
        <p:nvSpPr>
          <p:cNvPr id="13" name="Истинный да">
            <a:extLst>
              <a:ext uri="{FF2B5EF4-FFF2-40B4-BE49-F238E27FC236}">
                <ns2:creationId id="{C70ADF03-D4D7-45B5-B1C1-33366DBAA34E}"/>
              </a:ext>
            </a:extLst>
          </p:cNvPr>
          <p:cNvSpPr>
            <a:spLocks noGrp="1"/>
          </p:cNvSpPr>
          <p:nvPr/>
        </p:nvSpPr>
        <p:spPr>
          <a:xfrm>
            <a:off x="381000" y="5629275"/>
            <a:ext cx="11049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r">
              <a:def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«Спагетти»</a:t>
            </a:r>
          </a:p>
        </p:txBody>
      </p:sp>
      <p:sp>
        <p:nvSpPr>
          <p:cNvPr id="14" name="TN">
            <a:extLst>
              <a:ext uri="{FF2B5EF4-FFF2-40B4-BE49-F238E27FC236}">
                <ns2:creationId id="{C4DC531E-9C72-49A8-B1F1-DDC1AB169417}"/>
              </a:ext>
            </a:extLst>
          </p:cNvPr>
          <p:cNvSpPr>
            <a:spLocks noGrp="1"/>
          </p:cNvSpPr>
          <p:nvPr/>
        </p:nvSpPr>
        <p:spPr>
          <a:xfrm>
            <a:off x="1619250" y="4857750"/>
            <a:ext cx="1314450" cy="638175"/>
          </a:xfrm>
          <a:prstGeom prst="rect">
            <a:avLst/>
          </a:prstGeom>
          <a:solidFill>
            <a:srgbClr val="EEEEEE"/>
          </a:solidFill>
          <a:ln w="9525">
            <a:solidFill>
              <a:srgbClr val="000000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22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2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2408</a:t>
            </a:r>
          </a:p>
        </p:txBody>
      </p:sp>
      <p:sp>
        <p:nvSpPr>
          <p:cNvPr id="15" name="FP">
            <a:extLst>
              <a:ext uri="{FF2B5EF4-FFF2-40B4-BE49-F238E27FC236}">
                <ns2:creationId id="{234E4010-565B-4E4D-BB0C-4D1CE363D84B}"/>
              </a:ext>
            </a:extLst>
          </p:cNvPr>
          <p:cNvSpPr>
            <a:spLocks noGrp="1"/>
          </p:cNvSpPr>
          <p:nvPr/>
        </p:nvSpPr>
        <p:spPr>
          <a:xfrm>
            <a:off x="2933700" y="4857750"/>
            <a:ext cx="1314450" cy="6381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22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2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12</a:t>
            </a:r>
          </a:p>
        </p:txBody>
      </p:sp>
      <p:sp>
        <p:nvSpPr>
          <p:cNvPr id="16" name="FN">
            <a:extLst>
              <a:ext uri="{FF2B5EF4-FFF2-40B4-BE49-F238E27FC236}">
                <ns2:creationId id="{3D9A1D65-A961-411F-A81C-5D71B3B5A8CF}"/>
              </a:ext>
            </a:extLst>
          </p:cNvPr>
          <p:cNvSpPr>
            <a:spLocks noGrp="1"/>
          </p:cNvSpPr>
          <p:nvPr/>
        </p:nvSpPr>
        <p:spPr>
          <a:xfrm>
            <a:off x="1619250" y="5495925"/>
            <a:ext cx="1314450" cy="6381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22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2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1</a:t>
            </a:r>
          </a:p>
        </p:txBody>
      </p:sp>
      <p:sp>
        <p:nvSpPr>
          <p:cNvPr id="17" name="TP">
            <a:extLst>
              <a:ext uri="{FF2B5EF4-FFF2-40B4-BE49-F238E27FC236}">
                <ns2:creationId id="{B9A6217D-6ACB-4240-B632-317FEFBEFDFB}"/>
              </a:ext>
            </a:extLst>
          </p:cNvPr>
          <p:cNvSpPr>
            <a:spLocks noGrp="1"/>
          </p:cNvSpPr>
          <p:nvPr/>
        </p:nvSpPr>
        <p:spPr>
          <a:xfrm>
            <a:off x="2933700" y="5495925"/>
            <a:ext cx="1314450" cy="638175"/>
          </a:xfrm>
          <a:prstGeom prst="rect">
            <a:avLst/>
          </a:prstGeom>
          <a:solidFill>
            <a:srgbClr val="EEEEEE"/>
          </a:solidFill>
          <a:ln w="9525">
            <a:solidFill>
              <a:srgbClr val="000000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22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2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916</a:t>
            </a:r>
          </a:p>
        </p:txBody>
      </p:sp>
      <p:sp>
        <p:nvSpPr>
          <p:cNvPr id="18" name="Метрики заголовок">
            <a:extLst>
              <a:ext uri="{FF2B5EF4-FFF2-40B4-BE49-F238E27FC236}">
                <ns2:creationId id="{66FE41F9-D29B-4556-A704-E8B038517C34}"/>
              </a:ext>
            </a:extLst>
          </p:cNvPr>
          <p:cNvSpPr>
            <a:spLocks noGrp="1"/>
          </p:cNvSpPr>
          <p:nvPr/>
        </p:nvSpPr>
        <p:spPr>
          <a:xfrm>
            <a:off x="4762500" y="3629025"/>
            <a:ext cx="401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9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Итоговые показатели на тесте</a:t>
            </a:r>
          </a:p>
        </p:txBody>
      </p:sp>
      <p:sp>
        <p:nvSpPr>
          <p:cNvPr id="19" name="Рамка метрик">
            <a:extLst>
              <a:ext uri="{FF2B5EF4-FFF2-40B4-BE49-F238E27FC236}">
                <ns2:creationId id="{93B42252-6B91-4399-AF9F-2E4ED076E51E}"/>
              </a:ext>
            </a:extLst>
          </p:cNvPr>
          <p:cNvSpPr>
            <a:spLocks noGrp="1"/>
          </p:cNvSpPr>
          <p:nvPr/>
        </p:nvSpPr>
        <p:spPr>
          <a:xfrm>
            <a:off x="4743450" y="3971925"/>
            <a:ext cx="4038600" cy="2162175"/>
          </a:xfrm>
          <a:prstGeom prst="rect">
            <a:avLst/>
          </a:prstGeom>
          <a:noFill/>
          <a:ln w="9525">
            <a:solidFill>
              <a:srgbClr val="000000"/>
            </a:solidFill>
            <a:prstDash val="dash"/>
          </a:ln>
        </p:spPr>
      </p:sp>
      <p:sp>
        <p:nvSpPr>
          <p:cNvPr id="20" name="Значение Precision">
            <a:extLst>
              <a:ext uri="{FF2B5EF4-FFF2-40B4-BE49-F238E27FC236}">
                <ns2:creationId id="{77CFF768-3C33-426E-9F7C-F194C4ED8641}"/>
              </a:ext>
            </a:extLst>
          </p:cNvPr>
          <p:cNvSpPr>
            <a:spLocks noGrp="1"/>
          </p:cNvSpPr>
          <p:nvPr/>
        </p:nvSpPr>
        <p:spPr>
          <a:xfrm>
            <a:off x="4857750" y="405765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6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6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Precision = 98,71 %</a:t>
            </a:r>
          </a:p>
        </p:txBody>
      </p:sp>
      <p:sp>
        <p:nvSpPr>
          <p:cNvPr id="21" name="Пояснение Precision">
            <a:extLst>
              <a:ext uri="{FF2B5EF4-FFF2-40B4-BE49-F238E27FC236}">
                <ns2:creationId id="{4BA031B6-3CD8-45E9-89C3-A32C63A3CBB4}"/>
              </a:ext>
            </a:extLst>
          </p:cNvPr>
          <p:cNvSpPr>
            <a:spLocks noGrp="1"/>
          </p:cNvSpPr>
          <p:nvPr/>
        </p:nvSpPr>
        <p:spPr>
          <a:xfrm>
            <a:off x="4857750" y="4295775"/>
            <a:ext cx="38100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Доля верных обнаружений среди срабатываний.</a:t>
            </a:r>
          </a:p>
        </p:txBody>
      </p:sp>
      <p:sp>
        <p:nvSpPr>
          <p:cNvPr id="22" name="Значение Recall">
            <a:extLst>
              <a:ext uri="{FF2B5EF4-FFF2-40B4-BE49-F238E27FC236}">
                <ns2:creationId id="{089C1A3A-F7A7-4F16-A1BA-FC1FDEE880C3}"/>
              </a:ext>
            </a:extLst>
          </p:cNvPr>
          <p:cNvSpPr>
            <a:spLocks noGrp="1"/>
          </p:cNvSpPr>
          <p:nvPr/>
        </p:nvSpPr>
        <p:spPr>
          <a:xfrm>
            <a:off x="4857750" y="44577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6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6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Recall = 99,89 %</a:t>
            </a:r>
          </a:p>
        </p:txBody>
      </p:sp>
      <p:sp>
        <p:nvSpPr>
          <p:cNvPr id="23" name="Пояснение Recall">
            <a:extLst>
              <a:ext uri="{FF2B5EF4-FFF2-40B4-BE49-F238E27FC236}">
                <ns2:creationId id="{D10E1B81-969D-469D-9643-F1E72E31DD48}"/>
              </a:ext>
            </a:extLst>
          </p:cNvPr>
          <p:cNvSpPr>
            <a:spLocks noGrp="1"/>
          </p:cNvSpPr>
          <p:nvPr/>
        </p:nvSpPr>
        <p:spPr>
          <a:xfrm>
            <a:off x="4857750" y="4695825"/>
            <a:ext cx="38100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Доля найденных кадров с дефектом.</a:t>
            </a:r>
          </a:p>
        </p:txBody>
      </p:sp>
      <p:sp>
        <p:nvSpPr>
          <p:cNvPr id="24" name="Значение F1">
            <a:extLst>
              <a:ext uri="{FF2B5EF4-FFF2-40B4-BE49-F238E27FC236}">
                <ns2:creationId id="{E3C8C2D5-6679-4ED1-9464-743EBB82565A}"/>
              </a:ext>
            </a:extLst>
          </p:cNvPr>
          <p:cNvSpPr>
            <a:spLocks noGrp="1"/>
          </p:cNvSpPr>
          <p:nvPr/>
        </p:nvSpPr>
        <p:spPr>
          <a:xfrm>
            <a:off x="4857750" y="485775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6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6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F1 = 99,30 %</a:t>
            </a:r>
          </a:p>
        </p:txBody>
      </p:sp>
      <p:sp>
        <p:nvSpPr>
          <p:cNvPr id="25" name="Пояснение F1">
            <a:extLst>
              <a:ext uri="{FF2B5EF4-FFF2-40B4-BE49-F238E27FC236}">
                <ns2:creationId id="{D0B631A1-8577-4DE9-ACE2-10F96BF2C3DC}"/>
              </a:ext>
            </a:extLst>
          </p:cNvPr>
          <p:cNvSpPr>
            <a:spLocks noGrp="1"/>
          </p:cNvSpPr>
          <p:nvPr/>
        </p:nvSpPr>
        <p:spPr>
          <a:xfrm>
            <a:off x="4857750" y="5095875"/>
            <a:ext cx="38100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Общая оценка точности и полноты.</a:t>
            </a:r>
          </a:p>
        </p:txBody>
      </p:sp>
      <p:sp>
        <p:nvSpPr>
          <p:cNvPr id="26" name="Значение Accuracy">
            <a:extLst>
              <a:ext uri="{FF2B5EF4-FFF2-40B4-BE49-F238E27FC236}">
                <ns2:creationId id="{A071A0C2-5A57-4F21-BE3F-E27A77366791}"/>
              </a:ext>
            </a:extLst>
          </p:cNvPr>
          <p:cNvSpPr>
            <a:spLocks noGrp="1"/>
          </p:cNvSpPr>
          <p:nvPr/>
        </p:nvSpPr>
        <p:spPr>
          <a:xfrm>
            <a:off x="4857750" y="52578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6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6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Accuracy = 99,61 %</a:t>
            </a:r>
          </a:p>
        </p:txBody>
      </p:sp>
      <p:sp>
        <p:nvSpPr>
          <p:cNvPr id="27" name="Пояснение Accuracy">
            <a:extLst>
              <a:ext uri="{FF2B5EF4-FFF2-40B4-BE49-F238E27FC236}">
                <ns2:creationId id="{6A0AFAD6-3C72-4DCC-ABC3-3489679FD51D}"/>
              </a:ext>
            </a:extLst>
          </p:cNvPr>
          <p:cNvSpPr>
            <a:spLocks noGrp="1"/>
          </p:cNvSpPr>
          <p:nvPr/>
        </p:nvSpPr>
        <p:spPr>
          <a:xfrm>
            <a:off x="4857750" y="5495925"/>
            <a:ext cx="38100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Доля верных ответов по обоим классам.</a:t>
            </a:r>
          </a:p>
        </p:txBody>
      </p:sp>
      <p:sp>
        <p:nvSpPr>
          <p:cNvPr id="28" name="Значение AP">
            <a:extLst>
              <a:ext uri="{FF2B5EF4-FFF2-40B4-BE49-F238E27FC236}">
                <ns2:creationId id="{07355E97-B02C-49EA-94FF-E59E2BBD3113}"/>
              </a:ext>
            </a:extLst>
          </p:cNvPr>
          <p:cNvSpPr>
            <a:spLocks noGrp="1"/>
          </p:cNvSpPr>
          <p:nvPr/>
        </p:nvSpPr>
        <p:spPr>
          <a:xfrm>
            <a:off x="4857750" y="565785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6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6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AP = 99,72 %</a:t>
            </a:r>
          </a:p>
        </p:txBody>
      </p:sp>
      <p:sp>
        <p:nvSpPr>
          <p:cNvPr id="29" name="Пояснение AP">
            <a:extLst>
              <a:ext uri="{FF2B5EF4-FFF2-40B4-BE49-F238E27FC236}">
                <ns2:creationId id="{310C58E8-A467-4F2A-AB0A-6D79866C1D57}"/>
              </a:ext>
            </a:extLst>
          </p:cNvPr>
          <p:cNvSpPr>
            <a:spLocks noGrp="1"/>
          </p:cNvSpPr>
          <p:nvPr/>
        </p:nvSpPr>
        <p:spPr>
          <a:xfrm>
            <a:off x="4857750" y="5895975"/>
            <a:ext cx="38100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Средняя точность при изменении порога.</a:t>
            </a:r>
          </a:p>
        </p:txBody>
      </p:sp>
      <p:sp>
        <p:nvSpPr>
          <p:cNvPr id="30" name="Ограничение">
            <a:extLst>
              <a:ext uri="{FF2B5EF4-FFF2-40B4-BE49-F238E27FC236}">
                <ns2:creationId id="{D3371ECA-4887-482A-8871-101726560D48}"/>
              </a:ext>
            </a:extLst>
          </p:cNvPr>
          <p:cNvSpPr>
            <a:spLocks noGrp="1"/>
          </p:cNvSpPr>
          <p:nvPr/>
        </p:nvSpPr>
        <p:spPr>
          <a:xfrm>
            <a:off x="419100" y="6286500"/>
            <a:ext cx="802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4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4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Полнота на валидационных кадрах своего принтера — 54,55 %. Нужны проверки на новых сессиях.</a:t>
            </a:r>
          </a:p>
        </p:txBody>
      </p:sp>
      <p:sp>
        <p:nvSpPr>
          <p:cNvPr id="31" name="Номер">
            <a:extLst>
              <a:ext uri="{FF2B5EF4-FFF2-40B4-BE49-F238E27FC236}">
                <ns2:creationId id="{25EF64D2-5F66-4DE8-B699-028AA9CBB130}"/>
              </a:ext>
            </a:extLst>
          </p:cNvPr>
          <p:cNvSpPr>
            <a:spLocks noGrp="1"/>
          </p:cNvSpPr>
          <p:nvPr/>
        </p:nvSpPr>
        <p:spPr>
          <a:xfrm>
            <a:off x="8553450" y="6572250"/>
            <a:ext cx="3238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r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5</a:t>
            </a:r>
          </a:p>
        </p:txBody>
      </p:sp>
    </p:spTree>
    <p:extLst>
      <p:ext uri="{BB962C8B-B14F-4D97-AF65-F5344CB8AC3E}">
        <ns5:creationId val="3025447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A4193-2A96-4292-27DF-7C8F10ED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B51DD-8424-3898-F322-045B44C9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098"/>
            <a:ext cx="7886700" cy="712868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/>
                <a:ea typeface="Calibri"/>
                <a:cs typeface="Times New Roman"/>
              </a:rPr>
              <a:t>Обработка на сервере</a:t>
            </a:r>
          </a:p>
        </p:txBody>
      </p:sp>
      <p:sp>
        <p:nvSpPr>
          <p:cNvPr id="4" name="Текстовое поле 3">
            <a:extLst>
              <a:ext uri="{FF2B5EF4-FFF2-40B4-BE49-F238E27FC236}">
                <a16:creationId xmlns:a16="http://schemas.microsoft.com/office/drawing/2014/main" id="{5E8559DA-50BE-07AC-B0EB-3414FBFB6481}"/>
              </a:ext>
            </a:extLst>
          </p:cNvPr>
          <p:cNvSpPr txBox="1"/>
          <p:nvPr/>
        </p:nvSpPr>
        <p:spPr>
          <a:xfrm>
            <a:off x="3775710" y="56407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altLang="en-US" dirty="0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28EFF76E-32CA-AB56-A1FE-FC86064D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6</a:t>
            </a:fld>
            <a:endParaRPr lang="ru-RU" sz="2000" dirty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DAB50E-3BD8-57A2-B047-497A3FD50648}"/>
              </a:ext>
            </a:extLst>
          </p:cNvPr>
          <p:cNvSpPr txBox="1"/>
          <p:nvPr/>
        </p:nvSpPr>
        <p:spPr>
          <a:xfrm>
            <a:off x="186213" y="875407"/>
            <a:ext cx="2920514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+mn-lt"/>
                <a:cs typeface="+mn-lt"/>
              </a:rPr>
              <a:t>Роль сервера:</a:t>
            </a:r>
            <a:endParaRPr lang="ru-RU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ru-RU" b="1" dirty="0">
                <a:latin typeface="Times New Roman"/>
                <a:ea typeface="+mn-lt"/>
                <a:cs typeface="+mn-lt"/>
              </a:rPr>
              <a:t>Централизованная </a:t>
            </a:r>
            <a:r>
              <a:rPr lang="ru-RU" dirty="0">
                <a:latin typeface="Times New Roman"/>
                <a:ea typeface="+mn-lt"/>
                <a:cs typeface="+mn-lt"/>
              </a:rPr>
              <a:t>обработка запросов.</a:t>
            </a:r>
            <a:endParaRPr lang="ru-RU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ru-RU" dirty="0">
                <a:latin typeface="Times New Roman"/>
                <a:ea typeface="+mn-lt"/>
                <a:cs typeface="+mn-lt"/>
              </a:rPr>
              <a:t>Выполнение </a:t>
            </a:r>
            <a:r>
              <a:rPr lang="ru-RU" b="1" dirty="0">
                <a:latin typeface="Times New Roman"/>
                <a:ea typeface="+mn-lt"/>
                <a:cs typeface="+mn-lt"/>
              </a:rPr>
              <a:t>ресурсоёмких </a:t>
            </a:r>
            <a:r>
              <a:rPr lang="ru-RU" dirty="0">
                <a:latin typeface="Times New Roman"/>
                <a:ea typeface="+mn-lt"/>
                <a:cs typeface="+mn-lt"/>
              </a:rPr>
              <a:t>задач.</a:t>
            </a:r>
            <a:endParaRPr lang="ru-RU" dirty="0">
              <a:latin typeface="Times New Roman"/>
              <a:cs typeface="Times New Roman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A035444-9EBE-0F23-C21B-B713FDEC75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02968" y="875407"/>
            <a:ext cx="5639137" cy="509357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77D804C-EAD2-5379-2030-7517770A46AB}"/>
              </a:ext>
            </a:extLst>
          </p:cNvPr>
          <p:cNvSpPr txBox="1"/>
          <p:nvPr/>
        </p:nvSpPr>
        <p:spPr>
          <a:xfrm>
            <a:off x="186213" y="2593566"/>
            <a:ext cx="2920514" cy="341632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получает кадр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камеры и идентификаторы сессии. После кадр анализируется нейросетью, которая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определяет наличие «спагетти»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 возвращает признак дефекта и числовую оценку модели вместе с исходными идентификаторами, связывающими результат с конкретным кадром</a:t>
            </a:r>
          </a:p>
        </p:txBody>
      </p:sp>
      <p:sp>
        <p:nvSpPr>
          <p:cNvPr id="3" name="TextBox 26">
            <a:extLst>
              <a:ext uri="{FF2B5EF4-FFF2-40B4-BE49-F238E27FC236}">
                <a16:creationId xmlns:a16="http://schemas.microsoft.com/office/drawing/2014/main" id="{B2494F24-8111-2CAC-A358-3AE7239D4D1C}"/>
              </a:ext>
            </a:extLst>
          </p:cNvPr>
          <p:cNvSpPr>
            <a:spLocks noGrp="1"/>
          </p:cNvSpPr>
          <p:nvPr/>
        </p:nvSpPr>
        <p:spPr>
          <a:xfrm>
            <a:off x="4085971" y="6009005"/>
            <a:ext cx="4073130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Блок-схема серверной обработки кадров и определения дефектов FDM-печати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65725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A4193-2A96-4292-27DF-7C8F10ED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B51DD-8424-3898-F322-045B44C9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098"/>
            <a:ext cx="7886700" cy="712868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/>
                <a:ea typeface="Calibri"/>
                <a:cs typeface="Times New Roman"/>
              </a:rPr>
              <a:t>Обработка на принтере</a:t>
            </a:r>
          </a:p>
        </p:txBody>
      </p:sp>
      <p:sp>
        <p:nvSpPr>
          <p:cNvPr id="4" name="Текстовое поле 3">
            <a:extLst>
              <a:ext uri="{FF2B5EF4-FFF2-40B4-BE49-F238E27FC236}">
                <a16:creationId xmlns:a16="http://schemas.microsoft.com/office/drawing/2014/main" id="{5E8559DA-50BE-07AC-B0EB-3414FBFB6481}"/>
              </a:ext>
            </a:extLst>
          </p:cNvPr>
          <p:cNvSpPr txBox="1"/>
          <p:nvPr/>
        </p:nvSpPr>
        <p:spPr>
          <a:xfrm>
            <a:off x="3775710" y="56407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altLang="en-US" dirty="0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28EFF76E-32CA-AB56-A1FE-FC86064D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7</a:t>
            </a:fld>
            <a:endParaRPr lang="ru-RU" sz="2000" dirty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A035444-9EBE-0F23-C21B-B713FDEC75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06727" y="875407"/>
            <a:ext cx="5905217" cy="529535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77D804C-EAD2-5379-2030-7517770A46AB}"/>
              </a:ext>
            </a:extLst>
          </p:cNvPr>
          <p:cNvSpPr txBox="1"/>
          <p:nvPr/>
        </p:nvSpPr>
        <p:spPr>
          <a:xfrm>
            <a:off x="132056" y="1152406"/>
            <a:ext cx="2917990" cy="480131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Локальный модуль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проверяет принадлежность результата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текущей печатной сессии и учитывает последовательные срабатывания. Отрицательный или неопределённый результат сбрасывает счётчик.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 трёх последовательных обнаружений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«спагетти» повторно проверяется активность сессии и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формируется команда отмены печати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TextBox 26">
            <a:extLst>
              <a:ext uri="{FF2B5EF4-FFF2-40B4-BE49-F238E27FC236}">
                <a16:creationId xmlns:a16="http://schemas.microsoft.com/office/drawing/2014/main" id="{E5B04886-22A1-2CCD-9C65-F1ADEC0EB19F}"/>
              </a:ext>
            </a:extLst>
          </p:cNvPr>
          <p:cNvSpPr>
            <a:spLocks noGrp="1"/>
          </p:cNvSpPr>
          <p:nvPr/>
        </p:nvSpPr>
        <p:spPr>
          <a:xfrm>
            <a:off x="3723995" y="6170765"/>
            <a:ext cx="4670679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Блок-схема проверки результатов обнаружения дефекта и отмены FDM-печати</a:t>
            </a:r>
            <a:endParaRPr sz="1600" b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66394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A4193-2A96-4292-27DF-7C8F10ED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B51DD-8424-3898-F322-045B44C9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64546"/>
            <a:ext cx="7886700" cy="712868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/>
                <a:ea typeface="Calibri"/>
                <a:cs typeface="Times New Roman"/>
              </a:rPr>
              <a:t>Электросхема 3</a:t>
            </a:r>
            <a:r>
              <a:rPr lang="en-US" sz="4000" dirty="0">
                <a:latin typeface="Times New Roman"/>
                <a:ea typeface="Calibri"/>
                <a:cs typeface="Times New Roman"/>
              </a:rPr>
              <a:t>D-</a:t>
            </a:r>
            <a:r>
              <a:rPr lang="ru-RU" sz="4000" dirty="0">
                <a:latin typeface="Times New Roman"/>
                <a:ea typeface="Calibri"/>
                <a:cs typeface="Times New Roman"/>
              </a:rPr>
              <a:t>принтера</a:t>
            </a:r>
          </a:p>
        </p:txBody>
      </p:sp>
      <p:sp>
        <p:nvSpPr>
          <p:cNvPr id="4" name="Текстовое поле 3">
            <a:extLst>
              <a:ext uri="{FF2B5EF4-FFF2-40B4-BE49-F238E27FC236}">
                <a16:creationId xmlns:a16="http://schemas.microsoft.com/office/drawing/2014/main" id="{5E8559DA-50BE-07AC-B0EB-3414FBFB6481}"/>
              </a:ext>
            </a:extLst>
          </p:cNvPr>
          <p:cNvSpPr txBox="1"/>
          <p:nvPr/>
        </p:nvSpPr>
        <p:spPr>
          <a:xfrm>
            <a:off x="3775710" y="56407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altLang="en-US" dirty="0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28EFF76E-32CA-AB56-A1FE-FC86064D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8</a:t>
            </a:fld>
            <a:endParaRPr lang="ru-RU" sz="2000" dirty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E875F94-D2E7-0E2D-5267-8B670B1C8A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1681" y="603944"/>
            <a:ext cx="8440637" cy="370864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71BDEBA-A42A-8680-F3A2-087C760E6CFE}"/>
              </a:ext>
            </a:extLst>
          </p:cNvPr>
          <p:cNvSpPr txBox="1"/>
          <p:nvPr/>
        </p:nvSpPr>
        <p:spPr>
          <a:xfrm>
            <a:off x="254001" y="4734036"/>
            <a:ext cx="8487517" cy="203132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электрической части разрабатываемого 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принтера выбрана плата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MKS Robin Nano V1.2 (7)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драйвера TMC2209. Плата управляет двигателями (5), нагревателями (1, 2) и вентиляторами, а также получает сигналы с датчиков (6).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Raspberry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3B (10)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обеспечивает подключение камеры (9), сенсорного экрана (8) и обменивается данными с управляющей платой по UART. Блок питания (3) обеспечивает силовые узлы напряжением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 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 DC-DC-преобразователь (4) понижает его до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 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Raspberry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подключённой периферии.</a:t>
            </a:r>
          </a:p>
        </p:txBody>
      </p:sp>
      <p:sp>
        <p:nvSpPr>
          <p:cNvPr id="16" name="TextBox 26">
            <a:extLst>
              <a:ext uri="{FF2B5EF4-FFF2-40B4-BE49-F238E27FC236}">
                <a16:creationId xmlns:a16="http://schemas.microsoft.com/office/drawing/2014/main" id="{6C4BDD25-6E44-8F04-93A8-3BDF96080B11}"/>
              </a:ext>
            </a:extLst>
          </p:cNvPr>
          <p:cNvSpPr>
            <a:spLocks noGrp="1"/>
          </p:cNvSpPr>
          <p:nvPr/>
        </p:nvSpPr>
        <p:spPr>
          <a:xfrm>
            <a:off x="1313146" y="4181848"/>
            <a:ext cx="6517706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Рис. 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 Схема электрической коммутации компонентов 3D-принтера </a:t>
            </a:r>
          </a:p>
        </p:txBody>
      </p:sp>
    </p:spTree>
    <p:extLst>
      <p:ext uri="{BB962C8B-B14F-4D97-AF65-F5344CB8AC3E}">
        <p14:creationId xmlns:p14="http://schemas.microsoft.com/office/powerpoint/2010/main" val="1283765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A4193-2A96-4292-27DF-7C8F10ED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B51DD-8424-3898-F322-045B44C9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64546"/>
            <a:ext cx="7886700" cy="712868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Times New Roman"/>
              </a:rPr>
              <a:t>Тестирование на реальной печати</a:t>
            </a:r>
          </a:p>
        </p:txBody>
      </p:sp>
      <p:sp>
        <p:nvSpPr>
          <p:cNvPr id="4" name="Текстовое поле 3">
            <a:extLst>
              <a:ext uri="{FF2B5EF4-FFF2-40B4-BE49-F238E27FC236}">
                <a16:creationId xmlns:a16="http://schemas.microsoft.com/office/drawing/2014/main" id="{5E8559DA-50BE-07AC-B0EB-3414FBFB6481}"/>
              </a:ext>
            </a:extLst>
          </p:cNvPr>
          <p:cNvSpPr txBox="1"/>
          <p:nvPr/>
        </p:nvSpPr>
        <p:spPr>
          <a:xfrm>
            <a:off x="3775710" y="56407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altLang="en-US" dirty="0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28EFF76E-32CA-AB56-A1FE-FC86064D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9</a:t>
            </a:fld>
            <a:endParaRPr lang="ru-RU" sz="2000" dirty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1BDEBA-A42A-8680-F3A2-087C760E6CFE}"/>
              </a:ext>
            </a:extLst>
          </p:cNvPr>
          <p:cNvSpPr txBox="1"/>
          <p:nvPr/>
        </p:nvSpPr>
        <p:spPr>
          <a:xfrm>
            <a:off x="203200" y="4078032"/>
            <a:ext cx="3882390" cy="25853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процессе печати после запуска контролируемого сбоя, модель постепенно увеличивала оценку обнаружения «спагетти». 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Через 3 мин 21 с,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система контроля получила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уверенных последовательных обнаружения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принтер отменил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с выводом соответствующей ошибки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265B33C-B5D3-98C3-9211-F88247D664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750" t="10273" r="32713" b="28766"/>
          <a:stretch/>
        </p:blipFill>
        <p:spPr>
          <a:xfrm>
            <a:off x="4572000" y="678623"/>
            <a:ext cx="4073130" cy="2608849"/>
          </a:xfrm>
          <a:prstGeom prst="rect">
            <a:avLst/>
          </a:prstGeom>
        </p:spPr>
      </p:pic>
      <p:sp>
        <p:nvSpPr>
          <p:cNvPr id="10" name="TextBox 26">
            <a:extLst>
              <a:ext uri="{FF2B5EF4-FFF2-40B4-BE49-F238E27FC236}">
                <a16:creationId xmlns:a16="http://schemas.microsoft.com/office/drawing/2014/main" id="{B3EABF96-386D-700B-07FB-75E0CD46DA63}"/>
              </a:ext>
            </a:extLst>
          </p:cNvPr>
          <p:cNvSpPr>
            <a:spLocks noGrp="1"/>
          </p:cNvSpPr>
          <p:nvPr/>
        </p:nvSpPr>
        <p:spPr>
          <a:xfrm>
            <a:off x="4572000" y="3280969"/>
            <a:ext cx="4073130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9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Кадр с камеры </a:t>
            </a:r>
            <a:r>
              <a:rPr lang="en-US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3D-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принтера с дефектом типа  «спагетти»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</a:p>
        </p:txBody>
      </p:sp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BDAA191B-FE24-F716-CFE2-146C9DF24C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620183"/>
              </p:ext>
            </p:extLst>
          </p:nvPr>
        </p:nvGraphicFramePr>
        <p:xfrm>
          <a:off x="203200" y="678623"/>
          <a:ext cx="3882390" cy="3194144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159000">
                  <a:extLst>
                    <a:ext uri="{9D8B030D-6E8A-4147-A177-3AD203B41FA5}">
                      <a16:colId xmlns:a16="http://schemas.microsoft.com/office/drawing/2014/main" val="665109338"/>
                    </a:ext>
                  </a:extLst>
                </a:gridCol>
                <a:gridCol w="1723390">
                  <a:extLst>
                    <a:ext uri="{9D8B030D-6E8A-4147-A177-3AD203B41FA5}">
                      <a16:colId xmlns:a16="http://schemas.microsoft.com/office/drawing/2014/main" val="3225751743"/>
                    </a:ext>
                  </a:extLst>
                </a:gridCol>
              </a:tblGrid>
              <a:tr h="412304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Результат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6950191"/>
                  </a:ext>
                </a:extLst>
              </a:tr>
              <a:tr h="914976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Время от появления дефекта до срабатывания отмены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минуты, 21 секунда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6288437"/>
                  </a:ext>
                </a:extLst>
              </a:tr>
              <a:tr h="412304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Порог автоматической отмены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043534"/>
                  </a:ext>
                </a:extLst>
              </a:tr>
              <a:tr h="643872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Минимальная отображённая оценка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0,3655, в начале записи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4774038"/>
                  </a:ext>
                </a:extLst>
              </a:tr>
              <a:tr h="643872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Максимальная отображённая оценка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0,9918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2670564"/>
                  </a:ext>
                </a:extLst>
              </a:tr>
            </a:tbl>
          </a:graphicData>
        </a:graphic>
      </p:graphicFrame>
      <p:sp>
        <p:nvSpPr>
          <p:cNvPr id="12" name="TextBox 26">
            <a:extLst>
              <a:ext uri="{FF2B5EF4-FFF2-40B4-BE49-F238E27FC236}">
                <a16:creationId xmlns:a16="http://schemas.microsoft.com/office/drawing/2014/main" id="{0F1BE2F2-80C9-8159-C3BF-933349087573}"/>
              </a:ext>
            </a:extLst>
          </p:cNvPr>
          <p:cNvSpPr>
            <a:spLocks noGrp="1"/>
          </p:cNvSpPr>
          <p:nvPr/>
        </p:nvSpPr>
        <p:spPr>
          <a:xfrm>
            <a:off x="4815206" y="6150348"/>
            <a:ext cx="3586718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10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Кадр с камеры </a:t>
            </a:r>
            <a:r>
              <a:rPr lang="en-US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3D-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принтера с примером обнаружения детали</a:t>
            </a:r>
            <a:endParaRPr sz="1600" b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ED4B603F-73F4-5404-D6AD-383F980E87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68" t="12057" r="32186" b="15292"/>
          <a:stretch/>
        </p:blipFill>
        <p:spPr>
          <a:xfrm>
            <a:off x="5078978" y="4078032"/>
            <a:ext cx="3059174" cy="2095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985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0634" y="1034005"/>
            <a:ext cx="8736990" cy="5827551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Цель и задачи моей научно-исследовательской работы выполнены:</a:t>
            </a:r>
            <a:endParaRPr lang="ru-RU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Изучены дефекты FDM-печати и выбран целевого дефекта для автоматического обнаружения.</a:t>
            </a:r>
          </a:p>
          <a:p>
            <a:pPr>
              <a:lnSpc>
                <a:spcPct val="100000"/>
              </a:lnSpc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Сформирован датасет: произведен поиск данных, балансировка классов, </a:t>
            </a:r>
            <a:r>
              <a:rPr lang="ru-RU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аугментирование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разделение на обучающую и тестовую выборки; </a:t>
            </a:r>
          </a:p>
          <a:p>
            <a:pPr marL="214630" indent="-21463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ru-RU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Обучена нейронная сеть для распознавания дефекта «Спагетти» на основе изображений печатей; </a:t>
            </a: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ru-RU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Разработан, собран и отлажен аппаратно-программный комплекса экспериментального 3D-принтера.</a:t>
            </a:r>
            <a:endParaRPr lang="ru-RU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 тестовый запуск работы системы контроля и 3D-принтера в процессе печати.</a:t>
            </a:r>
          </a:p>
          <a:p>
            <a:pPr>
              <a:lnSpc>
                <a:spcPct val="100000"/>
              </a:lnSpc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Цель и задачи моей научно-исследовательской работы выполнены:</a:t>
            </a:r>
            <a:endParaRPr lang="ru-RU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ru-RU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10</a:t>
            </a:fld>
            <a:endParaRPr lang="ru-RU" sz="20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A5D6DF51-0B62-79A6-6D5B-9EBEFC4103B7}"/>
              </a:ext>
            </a:extLst>
          </p:cNvPr>
          <p:cNvSpPr txBox="1">
            <a:spLocks/>
          </p:cNvSpPr>
          <p:nvPr/>
        </p:nvSpPr>
        <p:spPr>
          <a:xfrm>
            <a:off x="701718" y="3637"/>
            <a:ext cx="7886700" cy="7128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>
                <a:latin typeface="Times New Roman"/>
                <a:ea typeface="Calibri"/>
                <a:cs typeface="Times New Roman"/>
              </a:rPr>
              <a:t>Заключение</a:t>
            </a:r>
            <a:endParaRPr lang="ru-RU">
              <a:ea typeface="Calibri Light"/>
              <a:cs typeface="Calibri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703</TotalTime>
  <Words>1101</Words>
  <Application>Microsoft Office PowerPoint</Application>
  <DocSecurity>0</DocSecurity>
  <PresentationFormat>Экран (4:3)</PresentationFormat>
  <Paragraphs>87</Paragraphs>
  <Slides>10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Arial,Sans-Serif</vt:lpstr>
      <vt:lpstr>Calibri</vt:lpstr>
      <vt:lpstr>Calibri Light</vt:lpstr>
      <vt:lpstr>Times New Roman</vt:lpstr>
      <vt:lpstr>Тема Office</vt:lpstr>
      <vt:lpstr>Автоматическое выявление дефектов в процессе 3D-печати</vt:lpstr>
      <vt:lpstr>Цель работы</vt:lpstr>
      <vt:lpstr>В чем заключается проблема:</vt:lpstr>
      <vt:lpstr>Подготовка к обучению нейросети</vt:lpstr>
      <vt:lpstr>Результат обучения нейросети</vt:lpstr>
      <vt:lpstr>Обработка на сервере</vt:lpstr>
      <vt:lpstr>Обработка на принтере</vt:lpstr>
      <vt:lpstr>Электросхема 3D-принтера</vt:lpstr>
      <vt:lpstr>Тестирование на реальной печати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Yawllen</cp:lastModifiedBy>
  <cp:revision>30</cp:revision>
  <dcterms:created xsi:type="dcterms:W3CDTF">2026-10-07T12:47:26Z</dcterms:created>
  <dcterms:modified xsi:type="dcterms:W3CDTF">2026-10-08T19:38:56Z</dcterms:modified>
</cp:coreProperties>
</file>