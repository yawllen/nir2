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limits7/ppt/slideMasters/theme/theme2.xml" ContentType="application/vnd.openxmlformats-officedocument.theme+xml"/>
  <Override PartName="/ppt/limits7/ppt/slideLayouts/slideLayout1.xml" ContentType="application/vnd.openxmlformats-officedocument.presentationml.slideLayout+xml"/>
  <Override PartName="/ppt/limits7/ppt/slideLayouts/slideLayout2.xml" ContentType="application/vnd.openxmlformats-officedocument.presentationml.slideLayout+xml"/>
  <Override PartName="/ppt/limits7/ppt/slideLayouts/slideLayout3.xml" ContentType="application/vnd.openxmlformats-officedocument.presentationml.slideLayout+xml"/>
  <Override PartName="/ppt/limits7/ppt/slideLayouts/slideLayout4.xml" ContentType="application/vnd.openxmlformats-officedocument.presentationml.slideLayout+xml"/>
  <Override PartName="/ppt/limits7/ppt/slideLayouts/slideLayout5.xml" ContentType="application/vnd.openxmlformats-officedocument.presentationml.slideLayout+xml"/>
  <Override PartName="/ppt/limits7/ppt/slideMasters/slideMaster1.xml" ContentType="application/vnd.openxmlformats-officedocument.presentationml.slideMaster+xml"/>
  <Override PartName="/ppt/limits7/ppt/slideLayouts/slideLayout6.xml" ContentType="application/vnd.openxmlformats-officedocument.presentationml.slideLayout+xml"/>
  <Override PartName="/ppt/limits7/ppt/notesMasters/theme/theme3.xml" ContentType="application/vnd.openxmlformats-officedocument.theme+xml"/>
  <Override PartName="/ppt/limits7/ppt/notesMasters/notesMaster1.xml" ContentType="application/vnd.openxmlformats-officedocument.presentationml.notesMaster+xml"/>
  <Override PartName="/ppt/limits7/ppt/notesSlides/notesSlide1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6" r:id="rId4"/>
    <p:sldId id="275" r:id="rId5"/>
    <p:sldId id="273" r:id="rId6"/>
    <p:sldId id="276" r:id="rId7"/>
    <p:sldId id="277" r:id="rIdLimits7"/>
    <p:sldId id="270" r:id="rId8"/>
    <p:sldId id="271" r:id="rId9"/>
    <p:sldId id="272" r:id="rId10"/>
    <p:sldId id="274" r:id="rId11"/>
    <p:sldId id="266" r:id="rId12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Limits7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ns4="http://schemas.openxmlformats.org/officeDocument/2006/relationships">
  <ns0:date1904 val="1"/>
  <ns0:lang val="ru-RU"/>
  <ns0:roundedCorners val="1"/>
  <ns0:style val="2"/>
  <ns0:chart>
    <ns0:autoTitleDeleted val="1"/>
    <ns0:plotArea>
      <ns0:layout/>
      <ns0:lineChart>
        <ns0:grouping val="standard"/>
        <ns0:varyColors val="0"/>
        <ns0:ser>
          <ns0:idx val="0"/>
          <ns0:order val="0"/>
          <ns0:tx>
            <ns0:v>Ошибка обучения</ns0:v>
          </ns0:tx>
          <ns0:spPr>
            <ns1:ln w="22860">
              <ns1:solidFill>
                <ns1:srgbClr val="2467B2"/>
              </ns1:solidFill>
            </ns1:ln>
          </ns0:spPr>
          <ns0:marker>
            <ns0:symbol val="none"/>
          </ns0:marker>
          <ns0:dLbls>
            <ns0:dLbl>
              <ns0:idx val="18"/>
              <ns0:tx>
                <ns0:rich>
                  <ns1:bodyPr/>
                  <ns1:lstStyle/>
                  <ns1:p>
                    <ns1:r>
                      <ns1:rPr lang="en-US" sz="1275" b="1">
                        <ns1:solidFill>
                          <ns1:srgbClr val="2467B2"/>
                        </ns1:solidFill>
                        <ns1:latin typeface="Times New Roman"/>
                        <ns1:ea typeface="Times New Roman"/>
                        <ns1:cs typeface="Times New Roman"/>
                      </ns1:rPr>
                      <ns1:t>19</ns1:t>
                    </ns1:r>
                  </ns1:p>
                </ns0:rich>
              </ns0:tx>
              <ns0:spPr/>
              <ns0:showLegendKey val="1"/>
              <ns0:showVal val="1"/>
              <ns0:showCatName val="1"/>
              <ns0:showSerName val="1"/>
              <ns0:showPercent val="1"/>
              <ns0:showBubbleSize val="1"/>
              <ns0:extLst>
                <ns0:ext uri="{CE6537A1-D6FC-4f65-9D91-7224C49458BB}">
                  <ns2:showDataLabelsRange val="0"/>
                </ns0:ext>
                <ns0:ext uri="{C3380CC4-5D6E-409C-BE32-E72D297353CC}">
                  <ns3:uniqueId val="{00000000-770E-4390-B389-062BD63099F8}"/>
                </ns0:ext>
              </ns0:extLst>
            </ns0:dLbl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>
                    <ns1:latin typeface="Times New Roman"/>
                    <ns1:ea typeface="Times New Roman"/>
                    <ns1:cs typeface="Times New Roman"/>
                  </ns1:defRPr>
                </ns1:pPr>
                <ns1:endParaRPr lang="ru-RU"/>
              </ns1:p>
            </ns0:txPr>
            <ns0:showLegendKey val="0"/>
            <ns0:showVal val="0"/>
            <ns0:showCatName val="0"/>
            <ns0:showSerName val="0"/>
            <ns0:showPercent val="0"/>
            <ns0:showBubbleSize val="0"/>
            <ns0:extLst>
              <ns0:ext uri="{CE6537A1-D6FC-4f65-9D91-7224C49458BB}">
                <ns2:showLeaderLines val="0"/>
              </ns0:ext>
            </ns0:extLst>
          </ns0:dLbls>
          <ns0:cat>
            <ns0:numRef>
              <ns0:f>'Chart Data'!$A$2:$A$21</ns0:f>
              <ns0:numCache>
                <ns0:formatCode>General</ns0:formatCode>
                <ns0:ptCount val="2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</ns0:numCache>
            </ns0:numRef>
          </ns0:cat>
          <ns0:val>
            <ns0:numRef>
              <ns0:f>'Chart Data'!$B$2:$B$21</ns0:f>
              <ns0:numCache>
                <ns0:formatCode>0.000</ns0:formatCode>
                <ns0:ptCount val="20"/>
                <ns0:pt idx="0">
                  <ns0:v>0.005552</ns0:v>
                </ns0:pt>
                <ns0:pt idx="1">
                  <ns0:v>0.00241</ns0:v>
                </ns0:pt>
                <ns0:pt idx="2">
                  <ns0:v>0.009237</ns0:v>
                </ns0:pt>
                <ns0:pt idx="3">
                  <ns0:v>0.00326</ns0:v>
                </ns0:pt>
                <ns0:pt idx="4">
                  <ns0:v>2.323E-3</ns0:v>
                </ns0:pt>
                <ns0:pt idx="5">
                  <ns0:v>1.774E-3</ns0:v>
                </ns0:pt>
                <ns0:pt idx="6">
                  <ns0:v>1.328E-3</ns0:v>
                </ns0:pt>
                <ns0:pt idx="7">
                  <ns0:v>0.000871</ns0:v>
                </ns0:pt>
                <ns0:pt idx="8">
                  <ns0:v>1.206E-3</ns0:v>
                </ns0:pt>
                <ns0:pt idx="9">
                  <ns0:v>0.004558</ns0:v>
                </ns0:pt>
                <ns0:pt idx="10">
                  <ns0:v>0.001092</ns0:v>
                </ns0:pt>
                <ns0:pt idx="11">
                  <ns0:v>0.003142</ns0:v>
                </ns0:pt>
                <ns0:pt idx="12">
                  <ns0:v>1.619E-3</ns0:v>
                </ns0:pt>
                <ns0:pt idx="13">
                  <ns0:v>0.001099</ns0:v>
                </ns0:pt>
                <ns0:pt idx="14">
                  <ns0:v>0.000973</ns0:v>
                </ns0:pt>
                <ns0:pt idx="15">
                  <ns0:v>0.000976</ns0:v>
                </ns0:pt>
                <ns0:pt idx="16">
                  <ns0:v>1.178E-3</ns0:v>
                </ns0:pt>
                <ns0:pt idx="17">
                  <ns0:v>0.001012</ns0:v>
                </ns0:pt>
                <ns0:pt idx="18">
                  <ns0:v>0.002217</ns0:v>
                </ns0:pt>
                <ns0:pt idx="19">
                  <ns0:v>0.002233</ns0:v>
                </ns0:pt>
              </ns0:numCache>
            </ns0:numRef>
          </ns0:val>
          <ns0:smooth val="0"/>
          <ns0:extLst>
            <ns0:ext uri="{C3380CC4-5D6E-409C-BE32-E72D297353CC}">
              <ns3:uniqueId val="{00000001-770E-4390-B389-062BD63099F8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smooth val="0"/>
        <ns0:axId val="48650112"/>
        <ns0:axId val="48672768"/>
      </ns0:lineChart>
      <ns0:catAx>
        <ns0:axId val="48650112"/>
        <ns0:scaling>
          <ns0:orientation val="minMax"/>
        </ns0:scaling>
        <ns0:delete val="0"/>
        <ns0:axPos val="b"/>
        <ns0:title>
          <ns0:tx>
            <ns0:rich>
              <ns1:bodyPr/>
              <ns1:lstStyle/>
              <ns1:p>
                <ns1:r>
                  <ns1:rPr lang="ru-RU">
                    <ns1:latin typeface="Times New Roman"/>
                    <ns1:ea typeface="Times New Roman"/>
                    <ns1:cs typeface="Times New Roman"/>
                  </ns1:rPr>
                  <ns1:t>Эпоха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7620">
            <ns1:solidFill>
              <ns1:srgbClr val="000000"/>
            </ns1:solidFill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72768"/>
        <ns0:crosses val="autoZero"/>
        <ns0:auto val="1"/>
        <ns0:lblAlgn val="ctr"/>
        <ns0:lblOffset val="100"/>
        <ns0:noMultiLvlLbl val="1"/>
      </ns0:catAx>
      <ns0:valAx>
        <ns0:axId val="48672768"/>
        <ns0:scaling>
          <ns0:orientation val="minMax"/>
          <ns0:max val="0.01"/>
          <ns0:min val="0"/>
        </ns0:scaling>
        <ns0:delete val="0"/>
        <ns0:axPos val="l"/>
        <ns0:majorGridlines>
          <ns0:spPr>
            <ns1:ln w="5715">
              <ns1:solidFill>
                <ns1:srgbClr val="D0D0D0"/>
              </ns1:solidFill>
            </ns1:ln>
          </ns0:spPr>
        </ns0:majorGridlines>
        <ns0:numFmt formatCode="0.000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50112"/>
        <ns0:crosses val="autoZero"/>
        <ns0:crossBetween val="between"/>
        <ns0:majorUnit val="2E-3"/>
      </ns0:valAx>
      <ns0:spPr>
        <ns1:solidFill>
          <ns1:srgbClr val="FFFFFF"/>
        </ns1:solidFill>
      </ns0:spPr>
    </ns0:plotArea>
    <ns0:plotVisOnly val="1"/>
    <ns0:dispBlanksAs val="zero"/>
    <ns0:showDLblsOverMax val="1"/>
  </ns0:chart>
  <ns0:spPr>
    <ns1:solidFill>
      <ns1:srgbClr val="FFFFFF"/>
    </ns1:solidFill>
  </ns0:spPr>
  <ns0:externalData ns4:id="rId1">
    <ns0:autoUpdate val="0"/>
  </ns0:externalData>
</ns0:chartSpace>
</file>

<file path=ppt/charts/chart2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ns4="http://schemas.openxmlformats.org/officeDocument/2006/relationships">
  <ns0:date1904 val="1"/>
  <ns0:lang val="ru-RU"/>
  <ns0:roundedCorners val="1"/>
  <ns0:style val="2"/>
  <ns0:chart>
    <ns0:autoTitleDeleted val="1"/>
    <ns0:plotArea>
      <ns0:layout/>
      <ns0:lineChart>
        <ns0:grouping val="standard"/>
        <ns0:varyColors val="0"/>
        <ns0:ser>
          <ns0:idx val="0"/>
          <ns0:order val="0"/>
          <ns0:tx>
            <ns0:v>Средняя точность, %</ns0:v>
          </ns0:tx>
          <ns0:spPr>
            <ns1:ln w="22860">
              <ns1:solidFill>
                <ns1:srgbClr val="7C4BB1"/>
              </ns1:solidFill>
            </ns1:ln>
          </ns0:spPr>
          <ns0:marker>
            <ns0:symbol val="none"/>
          </ns0:marker>
          <ns0:dLbls>
            <ns0:dLbl>
              <ns0:idx val="18"/>
              <ns0:tx>
                <ns0:rich>
                  <ns1:bodyPr/>
                  <ns1:lstStyle/>
                  <ns1:p>
                    <ns1:r>
                      <ns1:rPr lang="en-US" sz="1275" b="1">
                        <ns1:solidFill>
                          <ns1:srgbClr val="7C4BB1"/>
                        </ns1:solidFill>
                        <ns1:latin typeface="Times New Roman"/>
                        <ns1:ea typeface="Times New Roman"/>
                        <ns1:cs typeface="Times New Roman"/>
                      </ns1:rPr>
                      <ns1:t>19</ns1:t>
                    </ns1:r>
                  </ns1:p>
                </ns0:rich>
              </ns0:tx>
              <ns0:spPr/>
              <ns0:showLegendKey val="1"/>
              <ns0:showVal val="1"/>
              <ns0:showCatName val="1"/>
              <ns0:showSerName val="1"/>
              <ns0:showPercent val="1"/>
              <ns0:showBubbleSize val="1"/>
              <ns0:extLst>
                <ns0:ext uri="{CE6537A1-D6FC-4f65-9D91-7224C49458BB}">
                  <ns2:showDataLabelsRange val="0"/>
                </ns0:ext>
                <ns0:ext uri="{C3380CC4-5D6E-409C-BE32-E72D297353CC}">
                  <ns3:uniqueId val="{00000000-18E7-4864-816E-E53FD48BBAA5}"/>
                </ns0:ext>
              </ns0:extLst>
            </ns0:dLbl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>
                    <ns1:latin typeface="Times New Roman"/>
                    <ns1:ea typeface="Times New Roman"/>
                    <ns1:cs typeface="Times New Roman"/>
                  </ns1:defRPr>
                </ns1:pPr>
                <ns1:endParaRPr lang="ru-RU"/>
              </ns1:p>
            </ns0:txPr>
            <ns0:showLegendKey val="0"/>
            <ns0:showVal val="0"/>
            <ns0:showCatName val="0"/>
            <ns0:showSerName val="0"/>
            <ns0:showPercent val="0"/>
            <ns0:showBubbleSize val="0"/>
            <ns0:extLst>
              <ns0:ext uri="{CE6537A1-D6FC-4f65-9D91-7224C49458BB}">
                <ns2:showLeaderLines val="0"/>
              </ns0:ext>
            </ns0:extLst>
          </ns0:dLbls>
          <ns0:cat>
            <ns0:numRef>
              <ns0:f>'Chart Data'!$A$2:$A$21</ns0:f>
              <ns0:numCache>
                <ns0:formatCode>General</ns0:formatCode>
                <ns0:ptCount val="2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</ns0:numCache>
            </ns0:numRef>
          </ns0:cat>
          <ns0:val>
            <ns0:numRef>
              <ns0:f>'Chart Data'!$B$2:$B$21</ns0:f>
              <ns0:numCache>
                <ns0:formatCode>0.0" %"</ns0:formatCode>
                <ns0:ptCount val="20"/>
                <ns0:pt idx="0">
                  <ns0:v>98.972764</ns0:v>
                </ns0:pt>
                <ns0:pt idx="1">
                  <ns0:v>98.861859</ns0:v>
                </ns0:pt>
                <ns0:pt idx="2">
                  <ns0:v>99.57373</ns0:v>
                </ns0:pt>
                <ns0:pt idx="3">
                  <ns0:v>99.689363</ns0:v>
                </ns0:pt>
                <ns0:pt idx="4">
                  <ns0:v>99.276485</ns0:v>
                </ns0:pt>
                <ns0:pt idx="5">
                  <ns0:v>99.174207</ns0:v>
                </ns0:pt>
                <ns0:pt idx="6">
                  <ns0:v>99.55193</ns0:v>
                </ns0:pt>
                <ns0:pt idx="7">
                  <ns0:v>99.323224</ns0:v>
                </ns0:pt>
                <ns0:pt idx="8">
                  <ns0:v>99.462997</ns0:v>
                </ns0:pt>
                <ns0:pt idx="9">
                  <ns0:v>99.10293</ns0:v>
                </ns0:pt>
                <ns0:pt idx="10">
                  <ns0:v>99.325666</ns0:v>
                </ns0:pt>
                <ns0:pt idx="11">
                  <ns0:v>99.34298</ns0:v>
                </ns0:pt>
                <ns0:pt idx="12">
                  <ns0:v>99.213706</ns0:v>
                </ns0:pt>
                <ns0:pt idx="13">
                  <ns0:v>99.211031</ns0:v>
                </ns0:pt>
                <ns0:pt idx="14">
                  <ns0:v>99.315382</ns0:v>
                </ns0:pt>
                <ns0:pt idx="15">
                  <ns0:v>99.234098</ns0:v>
                </ns0:pt>
                <ns0:pt idx="16">
                  <ns0:v>99.280321</ns0:v>
                </ns0:pt>
                <ns0:pt idx="17">
                  <ns0:v>99.311447</ns0:v>
                </ns0:pt>
                <ns0:pt idx="18">
                  <ns0:v>99.245392</ns0:v>
                </ns0:pt>
                <ns0:pt idx="19">
                  <ns0:v>99.336899</ns0:v>
                </ns0:pt>
              </ns0:numCache>
            </ns0:numRef>
          </ns0:val>
          <ns0:smooth val="0"/>
          <ns0:extLst>
            <ns0:ext uri="{C3380CC4-5D6E-409C-BE32-E72D297353CC}">
              <ns3:uniqueId val="{00000001-18E7-4864-816E-E53FD48BBAA5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smooth val="0"/>
        <ns0:axId val="48650112"/>
        <ns0:axId val="48672768"/>
      </ns0:lineChart>
      <ns0:catAx>
        <ns0:axId val="48650112"/>
        <ns0:scaling>
          <ns0:orientation val="minMax"/>
        </ns0:scaling>
        <ns0:delete val="0"/>
        <ns0:axPos val="b"/>
        <ns0:title>
          <ns0:tx>
            <ns0:rich>
              <ns1:bodyPr/>
              <ns1:lstStyle/>
              <ns1:p>
                <ns1:r>
                  <ns1:rPr lang="ru-RU">
                    <ns1:latin typeface="Times New Roman"/>
                    <ns1:ea typeface="Times New Roman"/>
                    <ns1:cs typeface="Times New Roman"/>
                  </ns1:rPr>
                  <ns1:t>Эпоха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7620">
            <ns1:solidFill>
              <ns1:srgbClr val="000000"/>
            </ns1:solidFill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72768"/>
        <ns0:crosses val="autoZero"/>
        <ns0:auto val="1"/>
        <ns0:lblAlgn val="ctr"/>
        <ns0:lblOffset val="100"/>
        <ns0:noMultiLvlLbl val="1"/>
      </ns0:catAx>
      <ns0:valAx>
        <ns0:axId val="48672768"/>
        <ns0:scaling>
          <ns0:orientation val="minMax"/>
          <ns0:max val="100"/>
          <ns0:min val="98.5"/>
        </ns0:scaling>
        <ns0:delete val="0"/>
        <ns0:axPos val="l"/>
        <ns0:majorGridlines>
          <ns0:spPr>
            <ns1:ln w="5715">
              <ns1:solidFill>
                <ns1:srgbClr val="D0D0D0"/>
              </ns1:solidFill>
            </ns1:ln>
          </ns0:spPr>
        </ns0:majorGridlines>
        <ns0:numFmt formatCode="0.0&quot; %&quot;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50112"/>
        <ns0:crosses val="autoZero"/>
        <ns0:crossBetween val="between"/>
        <ns0:majorUnit val="0.5"/>
      </ns0:valAx>
      <ns0:spPr>
        <ns1:solidFill>
          <ns1:srgbClr val="FFFFFF"/>
        </ns1:solidFill>
      </ns0:spPr>
    </ns0:plotArea>
    <ns0:plotVisOnly val="1"/>
    <ns0:dispBlanksAs val="zero"/>
    <ns0:showDLblsOverMax val="1"/>
  </ns0:chart>
  <ns0:spPr>
    <ns1:solidFill>
      <ns1:srgbClr val="FFFFFF"/>
    </ns1:solidFill>
  </ns0:spPr>
  <ns0:externalData ns4:id="rId1">
    <ns0:autoUpdate val="0"/>
  </ns0:externalData>
</ns0:chartSpace>
</file>

<file path=ppt/charts/chart3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ns4="http://schemas.openxmlformats.org/officeDocument/2006/relationships">
  <ns0:date1904 val="1"/>
  <ns0:lang val="ru-RU"/>
  <ns0:roundedCorners val="1"/>
  <ns0:style val="2"/>
  <ns0:chart>
    <ns0:autoTitleDeleted val="1"/>
    <ns0:plotArea>
      <ns0:layout/>
      <ns0:lineChart>
        <ns0:grouping val="standard"/>
        <ns0:varyColors val="0"/>
        <ns0:ser>
          <ns0:idx val="0"/>
          <ns0:order val="0"/>
          <ns0:tx>
            <ns0:v>Полнота, %</ns0:v>
          </ns0:tx>
          <ns0:spPr>
            <ns1:ln w="22860">
              <ns1:solidFill>
                <ns1:srgbClr val="2467B2"/>
              </ns1:solidFill>
            </ns1:ln>
          </ns0:spPr>
          <ns0:marker>
            <ns0:symbol val="circle"/>
            <ns0:size val="3"/>
            <ns0:spPr>
              <ns1:solidFill>
                <ns1:srgbClr val="2467B2"/>
              </ns1:solidFill>
            </ns0:spPr>
          </ns0:marker>
          <ns0:dLbls>
            <ns0:dLbl>
              <ns0:idx val="18"/>
              <ns0:tx>
                <ns0:rich>
                  <ns1:bodyPr/>
                  <ns1:lstStyle/>
                  <ns1:p>
                    <ns1:r>
                      <ns1:rPr lang="ru-RU" sz="1350" b="1">
                        <ns1:solidFill>
                          <ns1:srgbClr val="2467B2"/>
                        </ns1:solidFill>
                        <ns1:latin typeface="Times New Roman"/>
                        <ns1:ea typeface="Times New Roman"/>
                        <ns1:cs typeface="Times New Roman"/>
                      </ns1:rPr>
                      <ns1:t>19</ns1:t>
                    </ns1:r>
                  </ns1:p>
                </ns0:rich>
              </ns0:tx>
              <ns0:spPr/>
              <ns0:showLegendKey val="1"/>
              <ns0:showVal val="1"/>
              <ns0:showCatName val="1"/>
              <ns0:showSerName val="1"/>
              <ns0:showPercent val="1"/>
              <ns0:showBubbleSize val="1"/>
              <ns0:extLst>
                <ns0:ext uri="{CE6537A1-D6FC-4f65-9D91-7224C49458BB}">
                  <ns2:showDataLabelsRange val="0"/>
                </ns0:ext>
                <ns0:ext uri="{C3380CC4-5D6E-409C-BE32-E72D297353CC}">
                  <ns3:uniqueId val="{00000000-984D-4FAD-BE94-1922F11B378E}"/>
                </ns0:ext>
              </ns0:extLst>
            </ns0:dLbl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>
                    <ns1:latin typeface="Times New Roman"/>
                    <ns1:ea typeface="Times New Roman"/>
                    <ns1:cs typeface="Times New Roman"/>
                  </ns1:defRPr>
                </ns1:pPr>
                <ns1:endParaRPr lang="ru-RU"/>
              </ns1:p>
            </ns0:txPr>
            <ns0:showLegendKey val="0"/>
            <ns0:showVal val="0"/>
            <ns0:showCatName val="0"/>
            <ns0:showSerName val="0"/>
            <ns0:showPercent val="0"/>
            <ns0:showBubbleSize val="0"/>
            <ns0:extLst>
              <ns0:ext uri="{CE6537A1-D6FC-4f65-9D91-7224C49458BB}">
                <ns2:showLeaderLines val="0"/>
              </ns0:ext>
            </ns0:extLst>
          </ns0:dLbls>
          <ns0:cat>
            <ns0:numRef>
              <ns0:f>'Chart Data'!$A$2:$A$21</ns0:f>
              <ns0:numCache>
                <ns0:formatCode>General</ns0:formatCode>
                <ns0:ptCount val="2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</ns0:numCache>
            </ns0:numRef>
          </ns0:cat>
          <ns0:val>
            <ns0:numRef>
              <ns0:f>'Chart Data'!$B$2:$B$21</ns0:f>
              <ns0:numCache>
                <ns0:formatCode>0" %"</ns0:formatCode>
                <ns0:ptCount val="20"/>
                <ns0:pt idx="0">
                  <ns0:v>0</ns0:v>
                </ns0:pt>
                <ns0:pt idx="1">
                  <ns0:v>27.272727</ns0:v>
                </ns0:pt>
                <ns0:pt idx="2">
                  <ns0:v>45.454545</ns0:v>
                </ns0:pt>
                <ns0:pt idx="3">
                  <ns0:v>36.363636</ns0:v>
                </ns0:pt>
                <ns0:pt idx="4">
                  <ns0:v>27.272727</ns0:v>
                </ns0:pt>
                <ns0:pt idx="5">
                  <ns0:v>27.272727</ns0:v>
                </ns0:pt>
                <ns0:pt idx="6">
                  <ns0:v>45.454545</ns0:v>
                </ns0:pt>
                <ns0:pt idx="7">
                  <ns0:v>45.454545</ns0:v>
                </ns0:pt>
                <ns0:pt idx="8">
                  <ns0:v>72.727273</ns0:v>
                </ns0:pt>
                <ns0:pt idx="9">
                  <ns0:v>45.454545</ns0:v>
                </ns0:pt>
                <ns0:pt idx="10">
                  <ns0:v>54.545455</ns0:v>
                </ns0:pt>
                <ns0:pt idx="11">
                  <ns0:v>45.454545</ns0:v>
                </ns0:pt>
                <ns0:pt idx="12">
                  <ns0:v>27.272727</ns0:v>
                </ns0:pt>
                <ns0:pt idx="13">
                  <ns0:v>36.363636</ns0:v>
                </ns0:pt>
                <ns0:pt idx="14">
                  <ns0:v>45.454545</ns0:v>
                </ns0:pt>
                <ns0:pt idx="15">
                  <ns0:v>45.454545</ns0:v>
                </ns0:pt>
                <ns0:pt idx="16">
                  <ns0:v>54.545455</ns0:v>
                </ns0:pt>
                <ns0:pt idx="17">
                  <ns0:v>54.545455</ns0:v>
                </ns0:pt>
                <ns0:pt idx="18">
                  <ns0:v>54.545455</ns0:v>
                </ns0:pt>
                <ns0:pt idx="19">
                  <ns0:v>54.545455</ns0:v>
                </ns0:pt>
              </ns0:numCache>
            </ns0:numRef>
          </ns0:val>
          <ns0:smooth val="0"/>
          <ns0:extLst>
            <ns0:ext uri="{C3380CC4-5D6E-409C-BE32-E72D297353CC}">
              <ns3:uniqueId val="{00000001-984D-4FAD-BE94-1922F11B378E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marker val="1"/>
        <ns0:smooth val="0"/>
        <ns0:axId val="48650112"/>
        <ns0:axId val="48672768"/>
      </ns0:lineChart>
      <ns0:catAx>
        <ns0:axId val="48650112"/>
        <ns0:scaling>
          <ns0:orientation val="minMax"/>
        </ns0:scaling>
        <ns0:delete val="0"/>
        <ns0:axPos val="b"/>
        <ns0:title>
          <ns0:tx>
            <ns0:rich>
              <ns1:bodyPr/>
              <ns1:lstStyle/>
              <ns1:p>
                <ns1:r>
                  <ns1:rPr lang="ru-RU">
                    <ns1:latin typeface="Times New Roman"/>
                    <ns1:ea typeface="Times New Roman"/>
                    <ns1:cs typeface="Times New Roman"/>
                  </ns1:rPr>
                  <ns1:t>Эпоха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72768"/>
        <ns0:crosses val="autoZero"/>
        <ns0:auto val="1"/>
        <ns0:lblAlgn val="ctr"/>
        <ns0:lblOffset val="100"/>
        <ns0:noMultiLvlLbl val="1"/>
      </ns0:catAx>
      <ns0:valAx>
        <ns0:axId val="48672768"/>
        <ns0:scaling>
          <ns0:orientation val="minMax"/>
          <ns0:max val="100"/>
          <ns0:min val="0"/>
        </ns0:scaling>
        <ns0:delete val="0"/>
        <ns0:axPos val="l"/>
        <ns0:majorGridlines>
          <ns0:spPr>
            <ns1:ln w="5715">
              <ns1:solidFill>
                <ns1:srgbClr val="D0D0D0"/>
              </ns1:solidFill>
            </ns1:ln>
          </ns0:spPr>
        </ns0:majorGridlines>
        <ns0:numFmt formatCode="0&quot; %&quot;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50112"/>
        <ns0:crosses val="autoZero"/>
        <ns0:crossBetween val="between"/>
        <ns0:majorUnit val="25"/>
      </ns0:valAx>
      <ns0:spPr>
        <ns1:solidFill>
          <ns1:srgbClr val="FFFFFF"/>
        </ns1:solidFill>
      </ns0:spPr>
    </ns0:plotArea>
    <ns0:plotVisOnly val="1"/>
    <ns0:dispBlanksAs val="zero"/>
    <ns0:showDLblsOverMax val="1"/>
  </ns0:chart>
  <ns0:spPr>
    <ns1:solidFill>
      <ns1:srgbClr val="FFFFFF"/>
    </ns1:solidFill>
  </ns0:spPr>
  <ns0:externalData ns4:id="rId1">
    <ns0:autoUpdate val="0"/>
  </ns0:externalData>
</ns0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Ложные тревоги, %</c:v>
          </c:tx>
          <c:spPr>
            <a:ln w="22860">
              <a:solidFill>
                <a:srgbClr val="A52B37"/>
              </a:solidFill>
            </a:ln>
          </c:spPr>
          <c:marker>
            <c:symbol val="circle"/>
            <c:size val="3"/>
            <c:spPr>
              <a:solidFill>
                <a:srgbClr val="A52B37"/>
              </a:solidFill>
            </c:spPr>
          </c:marker>
          <c:dLbls>
            <c:dLbl>
              <c:idx val="18"/>
              <c:tx>
                <c:rich>
                  <a:bodyPr/>
                  <a:lstStyle/>
                  <a:p>
                    <a:r>
                      <a:rPr lang="ru-RU" sz="1350" b="1">
                        <a:solidFill>
                          <a:srgbClr val="A52B37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spPr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7AD-4005-88FA-A4D7972543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7.03125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AD-4005-88FA-A4D797254312}"/>
            </c:ext>
          </c:extLst>
        </c:ser>
        <c:ser>
          <c:idx val="1"/>
          <c:order val="1"/>
          <c:tx>
            <c:v>Допустимый предел 1 %</c:v>
          </c:tx>
          <c:spPr>
            <a:ln w="16193">
              <a:solidFill>
                <a:srgbClr val="D48923"/>
              </a:solidFill>
              <a:prstDash val="dash"/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0" %"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AD-4005-88FA-A4D7972543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ru-RU"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5715">
              <a:solidFill>
                <a:srgbClr val="D0D0D0"/>
              </a:solidFill>
            </a:ln>
          </c:spPr>
        </c:majorGridlines>
        <c:numFmt formatCode="0&quot; 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limits7/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theme/theme3.xml" Id="R1f60b671ca8e49cf"/></Relationships>
</file>

<file path=ppt/limits7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limits7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limits7/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../slides/slide12.xml" Id="Rfe99c254e01c4dbf"/><Relationship Type="http://schemas.openxmlformats.org/officeDocument/2006/relationships/notesMaster" Target="../notesMasters/notesMaster1.xml" Id="R447a21512b1c4431"/></Relationships>
</file>

<file path=ppt/limits7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C:/Users/Yawllen/Documents/GitHub/Nir2/outputs/model_v12_report/metrics_v12.json; срез valid.printer_at_0_3: TP6 FN5 FP0 TN128, N139. Полнота = TP/(TP+FN) = 6/11 = 54,55 %. Это валидационная выборка выбора весов, не независимый тест. Один кадр меняет оценку полноты на 9,09 процентного пункта. Частота обнаружения по печатным заданиям не измерена. Причина различий с общим набором экспериментально не установлена.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limits7/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1c7b8f2e58214039"/></Relationships>
</file>

<file path=ppt/limits7/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8acbce86b5744a4"/></Relationships>
</file>

<file path=ppt/limits7/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0f36477f99764af0"/></Relationships>
</file>

<file path=ppt/limits7/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01e52d01f57d4b51"/></Relationships>
</file>

<file path=ppt/limits7/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5773bfff6237444f"/></Relationships>
</file>

<file path=ppt/limits7/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77e6bef78dc244d8"/></Relationships>
</file>

<file path=ppt/limits7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9435A-549F-4AE0-9B76-519E960BC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B4B60E-99E3-47A0-8695-3F92B0A6CC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limits7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F819C8-B986-4B88-A950-33684EF86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limits7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F42CC6-DFD6-4EF1-BF5C-202499C5C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9D888F-FA6D-450A-BCAA-C93D7AD6BE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limits7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15419F-66AB-45BB-BB3F-0D0A9C3094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508811-49A1-4BFF-827B-E8E6ACE4C3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AC893A-BA14-4781-BA31-8703B476C3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limits7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24ACD9-8220-45CE-A1EF-D12D935A0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B76407-88BD-44A5-A77E-D876DBEBD1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limits7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limits7/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23966e3444694acd"/><Relationship Type="http://schemas.openxmlformats.org/officeDocument/2006/relationships/slideLayout" Target="../slideLayouts/slideLayout1.xml" Id="R3e51709f5f074d4d"/><Relationship Type="http://schemas.openxmlformats.org/officeDocument/2006/relationships/slideLayout" Target="../slideLayouts/slideLayout2.xml" Id="R532b11d2dc1d4423"/><Relationship Type="http://schemas.openxmlformats.org/officeDocument/2006/relationships/slideLayout" Target="../slideLayouts/slideLayout3.xml" Id="R9a5ebe0a12064699"/><Relationship Type="http://schemas.openxmlformats.org/officeDocument/2006/relationships/slideLayout" Target="../slideLayouts/slideLayout4.xml" Id="R5642b0d1eaf24a7f"/><Relationship Type="http://schemas.openxmlformats.org/officeDocument/2006/relationships/slideLayout" Target="../slideLayouts/slideLayout5.xml" Id="Rf2cde9729c3f4e9f"/><Relationship Type="http://schemas.openxmlformats.org/officeDocument/2006/relationships/slideLayout" Target="../slideLayouts/slideLayout6.xml" Id="Ra7421d9062624be7"/></Relationships>
</file>

<file path=ppt/limits7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51709f5f074d4d"/>
    <p:sldLayoutId xmlns:r="http://schemas.openxmlformats.org/officeDocument/2006/relationships" id="2147483650" r:id="R532b11d2dc1d4423"/>
    <p:sldLayoutId xmlns:r="http://schemas.openxmlformats.org/officeDocument/2006/relationships" id="2147483651" r:id="R9a5ebe0a12064699"/>
    <p:sldLayoutId xmlns:r="http://schemas.openxmlformats.org/officeDocument/2006/relationships" id="2147483652" r:id="R5642b0d1eaf24a7f"/>
    <p:sldLayoutId xmlns:r="http://schemas.openxmlformats.org/officeDocument/2006/relationships" id="2147483653" r:id="Rf2cde9729c3f4e9f"/>
    <p:sldLayoutId xmlns:r="http://schemas.openxmlformats.org/officeDocument/2006/relationships" id="2147483654" r:id="Ra7421d9062624b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limits7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C:/Users/Yawllen/Documents/GitHub/printer-defect-server/models/spaghetti_presence_v12/history.json; C:/Users/Yawllen/Documents/GitHub/printer-defect-server/models/spaghetti_presence_v12/training_config.json. Правило выбора: максимальная полнота при false_alarm_rate &lt;= 0.01 на валидации принтера и пороге 0.3. При равной полноте предпочтение отдаётся меньшей доле ложных тревог, затем большей AP принтера, затем общей AP. Эпохи 11,17,18,19,20 имеют полноту 6/11 и FP=0; AP принтера: 88.47,90.26,92.31,94.63,92.45 %. Тест не использован для выбора весов. Общие графики на слайде 5 описывают другой срез качества. Оценка по 11 положительным и 128 отрицательным кадрам предварительная.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limits7/ppt/slideLayouts/slideLayout6.xml" Id="R97b21ba7e9e7488a"/><Relationship Type="http://schemas.openxmlformats.org/officeDocument/2006/relationships/notesSlide" Target="../limits7/ppt/notesSlides/notesSlide1.xml" Id="R7252c11933f2407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Заголовок">
            <a:extLst>
              <a:ext uri="{FF2B5EF4-FFF2-40B4-BE49-F238E27FC236}">
                <a16:creationId xmlns:a16="http://schemas.microsoft.com/office/drawing/2014/main" id="{ACC627F3-8399-4AA3-8201-0E3F6CF7F6EB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a16:creationId xmlns:a16="http://schemas.microsoft.com/office/drawing/2014/main" id="{91D7E26E-575E-4F65-9320-698663D9E238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</a:t>
            </a:r>
          </a:p>
        </p:txBody>
      </p:sp>
      <p:sp>
        <p:nvSpPr>
          <p:cNvPr id="3" name="Валидация">
            <a:extLst>
              <a:ext uri="{FF2B5EF4-FFF2-40B4-BE49-F238E27FC236}">
                <a16:creationId xmlns:a16="http://schemas.microsoft.com/office/drawing/2014/main" id="{92F8E47D-17EC-435F-864C-AF2AE3FBB56D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5416C60F-AB08-4D6F-ABC0-16AF5CC12BF1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55617F87-B9B6-4A75-B273-B905085F1A97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Матрица ошибок">
            <a:extLst>
              <a:ext uri="{FF2B5EF4-FFF2-40B4-BE49-F238E27FC236}">
                <a16:creationId xmlns:a16="http://schemas.microsoft.com/office/drawing/2014/main" id="{39E2094E-71E6-4E7F-B663-0EF4FCDDCF04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a16:creationId xmlns:a16="http://schemas.microsoft.com/office/drawing/2014/main" id="{FCA0F91C-50A8-46A0-841E-FB90A9D30D5F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a16:creationId xmlns:a16="http://schemas.microsoft.com/office/drawing/2014/main" id="{3C360B39-D1B6-4A83-B331-0C8DBEF12602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a16:creationId xmlns:a16="http://schemas.microsoft.com/office/drawing/2014/main" id="{C9D77181-C197-4033-BBC0-BE676D372C2B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a16:creationId xmlns:a16="http://schemas.microsoft.com/office/drawing/2014/main" id="{D3BD75B8-BD97-480A-BC26-9CA4F42E73A1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a16:creationId xmlns:a16="http://schemas.microsoft.com/office/drawing/2014/main" id="{C8733A88-3474-40EB-BC02-8D6EEA7D66E2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a16:creationId xmlns:a16="http://schemas.microsoft.com/office/drawing/2014/main" id="{86D4A609-562B-4D79-B555-16DC19A3111F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a16:creationId xmlns:a16="http://schemas.microsoft.com/office/drawing/2014/main" id="{0C239167-7153-4BB7-8999-5E952885B44F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a16:creationId xmlns:a16="http://schemas.microsoft.com/office/drawing/2014/main" id="{ABDF62F0-52C1-43D0-9477-091191FEA514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a16:creationId xmlns:a16="http://schemas.microsoft.com/office/drawing/2014/main" id="{43C7FBDD-67D3-4C54-9323-2CA3754E6BA9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a16:creationId xmlns:a16="http://schemas.microsoft.com/office/drawing/2014/main" id="{6F0502F0-58CD-4377-BE55-71635BBB5CFA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a16:creationId xmlns:a16="http://schemas.microsoft.com/office/drawing/2014/main" id="{9A1BADF3-025C-4B74-A9D3-3DD99C16CAD5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a16:creationId xmlns:a16="http://schemas.microsoft.com/office/drawing/2014/main" id="{3DE164EB-6C30-4D3F-A681-35C8884BD99F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a16:creationId xmlns:a16="http://schemas.microsoft.com/office/drawing/2014/main" id="{22992C81-6D46-434C-B0A3-DAFF5C251F50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a16:creationId xmlns:a16="http://schemas.microsoft.com/office/drawing/2014/main" id="{EF24A817-B215-474F-A3D8-FF75C4397F18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a16:creationId xmlns:a16="http://schemas.microsoft.com/office/drawing/2014/main" id="{395D39FE-03CF-4056-956B-8EB4407BCA0C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a16:creationId xmlns:a16="http://schemas.microsoft.com/office/drawing/2014/main" id="{73D65972-A679-439E-8802-EEFE6EAEBE50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a16:creationId xmlns:a16="http://schemas.microsoft.com/office/drawing/2014/main" id="{23B64567-5132-4E63-8D6A-7A50B66EB748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a16:creationId xmlns:a16="http://schemas.microsoft.com/office/drawing/2014/main" id="{463DD5A4-4746-4557-B1BE-BA2EF3BB75AA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a16:creationId xmlns:a16="http://schemas.microsoft.com/office/drawing/2014/main" id="{5EEE147D-C68E-45C5-A789-13B6ECFA1B38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a16:creationId xmlns:a16="http://schemas.microsoft.com/office/drawing/2014/main" id="{2ABDCA34-7708-4EFB-9DB6-0282CFE8F8DA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a16:creationId xmlns:a16="http://schemas.microsoft.com/office/drawing/2014/main" id="{36DB5CFA-27E8-4EE9-8520-E1FAC8AFFE15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28" name="Метрика Точность">
            <a:extLst>
              <a:ext uri="{FF2B5EF4-FFF2-40B4-BE49-F238E27FC236}">
                <a16:creationId xmlns:a16="http://schemas.microsoft.com/office/drawing/2014/main" id="{26FDC1A2-178D-4D98-90FC-E7163E42A0B1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Точность 98,71 %</a:t>
            </a:r>
            <a:r>
              <a:t> — верные срабатывания</a:t>
            </a:r>
          </a:p>
        </p:txBody>
      </p:sp>
      <p:sp>
        <p:nvSpPr>
          <p:cNvPr id="29" name="Метрика Полнота">
            <a:extLst>
              <a:ext uri="{FF2B5EF4-FFF2-40B4-BE49-F238E27FC236}">
                <a16:creationId xmlns:a16="http://schemas.microsoft.com/office/drawing/2014/main" id="{4CA52852-A2C8-49D2-84B4-CF0FB350B92C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Полнота 99,89 %</a:t>
            </a:r>
            <a:r>
              <a:t> — найденные дефекты</a:t>
            </a:r>
          </a:p>
        </p:txBody>
      </p:sp>
      <p:sp>
        <p:nvSpPr>
          <p:cNvPr id="30" name="Метрика Мера F1">
            <a:extLst>
              <a:ext uri="{FF2B5EF4-FFF2-40B4-BE49-F238E27FC236}">
                <a16:creationId xmlns:a16="http://schemas.microsoft.com/office/drawing/2014/main" id="{04C94095-3D73-4A64-BD4D-09B5D8895873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Мера F1 99,30 %</a:t>
            </a:r>
            <a:r>
              <a:t> — баланс точности и полноты</a:t>
            </a:r>
          </a:p>
        </p:txBody>
      </p:sp>
      <p:sp>
        <p:nvSpPr>
          <p:cNvPr id="31" name="Метрика Верные ответы">
            <a:extLst>
              <a:ext uri="{FF2B5EF4-FFF2-40B4-BE49-F238E27FC236}">
                <a16:creationId xmlns:a16="http://schemas.microsoft.com/office/drawing/2014/main" id="{4A380A0F-53B4-448D-A4F2-EB3E8D1C4469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Верные ответы 99,61 %</a:t>
            </a:r>
            <a:r>
              <a:t> — по обоим классам</a:t>
            </a:r>
          </a:p>
        </p:txBody>
      </p:sp>
      <p:sp>
        <p:nvSpPr>
          <p:cNvPr id="32" name="Метрика Средняя точность">
            <a:extLst>
              <a:ext uri="{FF2B5EF4-FFF2-40B4-BE49-F238E27FC236}">
                <a16:creationId xmlns:a16="http://schemas.microsoft.com/office/drawing/2014/main" id="{B8181717-0F00-4305-A5FA-A8A494EA81AD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Средняя точность 99,72 %</a:t>
            </a:r>
            <a:r>
              <a:t> —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a16:creationId xmlns:a16="http://schemas.microsoft.com/office/drawing/2014/main" id="{9531F666-EDA0-49C4-A7B2-939E026759F9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a16:creationId xmlns:a16="http://schemas.microsoft.com/office/drawing/2014/main" id="{3A0111E8-A102-45FD-8C56-82D6964C5D10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Дообучались ранее полученные веса: средняя точность после первой эпохи — 98,97 %. На тесте 13 ошибок из 3 337 кадров. Похожие кадры и использование теста при разработке могут завышать оценку.</a:t>
            </a:r>
          </a:p>
        </p:txBody>
      </p:sp>
      <p:sp>
        <p:nvSpPr>
          <p:cNvPr id="35" name="Номер">
            <a:extLst>
              <a:ext uri="{FF2B5EF4-FFF2-40B4-BE49-F238E27FC236}">
                <a16:creationId xmlns:a16="http://schemas.microsoft.com/office/drawing/2014/main" id="{116D7FF0-53F5-4134-BD55-9CDE1DAB906B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Заголовок выбора">
            <a:extLst>
              <a:ext uri="{FF2B5EF4-FFF2-40B4-BE49-F238E27FC236}">
                <a16:creationId xmlns:a16="http://schemas.microsoft.com/office/drawing/2014/main" id="{09540E61-7982-44DB-BD21-14200E57786D}"/>
              </a:ext>
            </a:extLst>
          </p:cNvPr>
          <p:cNvSpPr>
            <a:spLocks noGrp="1"/>
          </p:cNvSpPr>
          <p:nvPr/>
        </p:nvSpPr>
        <p:spPr>
          <a:xfrm>
            <a:off x="428625" y="47625"/>
            <a:ext cx="828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выбраны веса 19-й эпохи</a:t>
            </a:r>
          </a:p>
        </p:txBody>
      </p:sp>
      <p:sp>
        <p:nvSpPr>
          <p:cNvPr id="2" name="Правило выбора">
            <a:extLst>
              <a:ext uri="{FF2B5EF4-FFF2-40B4-BE49-F238E27FC236}">
                <a16:creationId xmlns:a16="http://schemas.microsoft.com/office/drawing/2014/main" id="{86D5EC6A-99D8-415B-ADB7-FD4A45A2DA4D}"/>
              </a:ext>
            </a:extLst>
          </p:cNvPr>
          <p:cNvSpPr>
            <a:spLocks noGrp="1"/>
          </p:cNvSpPr>
          <p:nvPr/>
        </p:nvSpPr>
        <p:spPr>
          <a:xfrm>
            <a:off x="419100" y="838200"/>
            <a:ext cx="832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Максимум полноты при доле ложных тревог не выше 1 %</a:t>
            </a:r>
          </a:p>
        </p:txBody>
      </p:sp>
      <p:sp>
        <p:nvSpPr>
          <p:cNvPr id="3" name="Выборка для выбора">
            <a:extLst>
              <a:ext uri="{FF2B5EF4-FFF2-40B4-BE49-F238E27FC236}">
                <a16:creationId xmlns:a16="http://schemas.microsoft.com/office/drawing/2014/main" id="{968AB077-8918-40E3-9726-F4D390F9A0B7}"/>
              </a:ext>
            </a:extLst>
          </p:cNvPr>
          <p:cNvSpPr>
            <a:spLocks noGrp="1"/>
          </p:cNvSpPr>
          <p:nvPr/>
        </p:nvSpPr>
        <p:spPr>
          <a:xfrm>
            <a:off x="428625" y="1247775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принтера: 11 кадров с дефектом и 128 без него; порог 0,3</a:t>
            </a:r>
          </a:p>
        </p:txBody>
      </p:sp>
      <p:sp>
        <p:nvSpPr>
          <p:cNvPr id="4" name="Полнота заголовок">
            <a:extLst>
              <a:ext uri="{FF2B5EF4-FFF2-40B4-BE49-F238E27FC236}">
                <a16:creationId xmlns:a16="http://schemas.microsoft.com/office/drawing/2014/main" id="{ABB0AA5C-48E6-4992-8067-A3709AAC884A}"/>
              </a:ext>
            </a:extLst>
          </p:cNvPr>
          <p:cNvSpPr>
            <a:spLocks noGrp="1"/>
          </p:cNvSpPr>
          <p:nvPr/>
        </p:nvSpPr>
        <p:spPr>
          <a:xfrm>
            <a:off x="36195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обнаружения, %</a:t>
            </a:r>
          </a:p>
        </p:txBody>
      </p:sp>
      <p:sp>
        <p:nvSpPr>
          <p:cNvPr id="5" name="Тревоги заголовок">
            <a:extLst>
              <a:ext uri="{FF2B5EF4-FFF2-40B4-BE49-F238E27FC236}">
                <a16:creationId xmlns:a16="http://schemas.microsoft.com/office/drawing/2014/main" id="{1AED36EF-C74A-418C-ADA2-7515E9050124}"/>
              </a:ext>
            </a:extLst>
          </p:cNvPr>
          <p:cNvSpPr>
            <a:spLocks noGrp="1"/>
          </p:cNvSpPr>
          <p:nvPr/>
        </p:nvSpPr>
        <p:spPr>
          <a:xfrm>
            <a:off x="476250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ложных тревог, %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2884465A-7273-4A5E-9189-55A78A4AC6CC}"/>
              </a:ext>
            </a:extLst>
          </p:cNvPr>
          <p:cNvGraphicFramePr/>
          <p:nvPr/>
        </p:nvGraphicFramePr>
        <p:xfrm>
          <a:off x="295275" y="2133600"/>
          <a:ext cx="4124325" cy="1819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EEF613BF-9326-4B67-A49B-747AD8171167}"/>
              </a:ext>
            </a:extLst>
          </p:cNvPr>
          <p:cNvGraphicFramePr/>
          <p:nvPr/>
        </p:nvGraphicFramePr>
        <p:xfrm>
          <a:off x="4705350" y="2133600"/>
          <a:ext cx="4124325" cy="1819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Предел">
            <a:extLst>
              <a:ext uri="{FF2B5EF4-FFF2-40B4-BE49-F238E27FC236}">
                <a16:creationId xmlns:a16="http://schemas.microsoft.com/office/drawing/2014/main" id="{7D6D7FD3-4519-4CE3-B474-E2653ED7EBC4}"/>
              </a:ext>
            </a:extLst>
          </p:cNvPr>
          <p:cNvSpPr>
            <a:spLocks noGrp="1"/>
          </p:cNvSpPr>
          <p:nvPr/>
        </p:nvSpPr>
        <p:spPr>
          <a:xfrm>
            <a:off x="4752975" y="4010025"/>
            <a:ext cx="404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Пунктир — допустимая доля ложных тревог 1 %</a:t>
            </a:r>
          </a:p>
        </p:txBody>
      </p:sp>
      <p:sp>
        <p:nvSpPr>
          <p:cNvPr id="9" name="Таблица 0 0">
            <a:extLst>
              <a:ext uri="{FF2B5EF4-FFF2-40B4-BE49-F238E27FC236}">
                <a16:creationId xmlns:a16="http://schemas.microsoft.com/office/drawing/2014/main" id="{0134092E-AF35-4789-90B6-3D9321CA0609}"/>
              </a:ext>
            </a:extLst>
          </p:cNvPr>
          <p:cNvSpPr>
            <a:spLocks noGrp="1"/>
          </p:cNvSpPr>
          <p:nvPr/>
        </p:nvSpPr>
        <p:spPr>
          <a:xfrm>
            <a:off x="457200" y="4371975"/>
            <a:ext cx="7143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0" name="Текст 0 0">
            <a:extLst>
              <a:ext uri="{FF2B5EF4-FFF2-40B4-BE49-F238E27FC236}">
                <a16:creationId xmlns:a16="http://schemas.microsoft.com/office/drawing/2014/main" id="{91F2AA3B-219B-433C-8D8B-BAAE5BABD753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Эпоха</a:t>
            </a:r>
          </a:p>
        </p:txBody>
      </p:sp>
      <p:sp>
        <p:nvSpPr>
          <p:cNvPr id="11" name="Таблица 0 1">
            <a:extLst>
              <a:ext uri="{FF2B5EF4-FFF2-40B4-BE49-F238E27FC236}">
                <a16:creationId xmlns:a16="http://schemas.microsoft.com/office/drawing/2014/main" id="{AD719252-6C26-49E8-87BF-6F2667F7BE34}"/>
              </a:ext>
            </a:extLst>
          </p:cNvPr>
          <p:cNvSpPr>
            <a:spLocks noGrp="1"/>
          </p:cNvSpPr>
          <p:nvPr/>
        </p:nvSpPr>
        <p:spPr>
          <a:xfrm>
            <a:off x="1171575" y="4371975"/>
            <a:ext cx="15621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2" name="Текст 0 1">
            <a:extLst>
              <a:ext uri="{FF2B5EF4-FFF2-40B4-BE49-F238E27FC236}">
                <a16:creationId xmlns:a16="http://schemas.microsoft.com/office/drawing/2014/main" id="{8187E781-42FC-428E-AF95-0786C89F3455}"/>
              </a:ext>
            </a:extLst>
          </p:cNvPr>
          <p:cNvSpPr>
            <a:spLocks noGrp="1"/>
          </p:cNvSpPr>
          <p:nvPr/>
        </p:nvSpPr>
        <p:spPr>
          <a:xfrm>
            <a:off x="1209675" y="44386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Полнота, %</a:t>
            </a:r>
          </a:p>
        </p:txBody>
      </p:sp>
      <p:sp>
        <p:nvSpPr>
          <p:cNvPr id="13" name="Таблица 0 2">
            <a:extLst>
              <a:ext uri="{FF2B5EF4-FFF2-40B4-BE49-F238E27FC236}">
                <a16:creationId xmlns:a16="http://schemas.microsoft.com/office/drawing/2014/main" id="{3F975863-DC00-4C9D-94A8-CDDFA5F39171}"/>
              </a:ext>
            </a:extLst>
          </p:cNvPr>
          <p:cNvSpPr>
            <a:spLocks noGrp="1"/>
          </p:cNvSpPr>
          <p:nvPr/>
        </p:nvSpPr>
        <p:spPr>
          <a:xfrm>
            <a:off x="2733675" y="4371975"/>
            <a:ext cx="19716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4" name="Текст 0 2">
            <a:extLst>
              <a:ext uri="{FF2B5EF4-FFF2-40B4-BE49-F238E27FC236}">
                <a16:creationId xmlns:a16="http://schemas.microsoft.com/office/drawing/2014/main" id="{5A0C453D-AAA5-46AE-8C2B-3F2091B221FC}"/>
              </a:ext>
            </a:extLst>
          </p:cNvPr>
          <p:cNvSpPr>
            <a:spLocks noGrp="1"/>
          </p:cNvSpPr>
          <p:nvPr/>
        </p:nvSpPr>
        <p:spPr>
          <a:xfrm>
            <a:off x="2771775" y="44386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тревоги, %</a:t>
            </a:r>
          </a:p>
        </p:txBody>
      </p:sp>
      <p:sp>
        <p:nvSpPr>
          <p:cNvPr id="15" name="Таблица 0 3">
            <a:extLst>
              <a:ext uri="{FF2B5EF4-FFF2-40B4-BE49-F238E27FC236}">
                <a16:creationId xmlns:a16="http://schemas.microsoft.com/office/drawing/2014/main" id="{6EC8EDF5-C9BB-42E2-B2C2-4588A0350266}"/>
              </a:ext>
            </a:extLst>
          </p:cNvPr>
          <p:cNvSpPr>
            <a:spLocks noGrp="1"/>
          </p:cNvSpPr>
          <p:nvPr/>
        </p:nvSpPr>
        <p:spPr>
          <a:xfrm>
            <a:off x="4705350" y="4371975"/>
            <a:ext cx="16002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6" name="Текст 0 3">
            <a:extLst>
              <a:ext uri="{FF2B5EF4-FFF2-40B4-BE49-F238E27FC236}">
                <a16:creationId xmlns:a16="http://schemas.microsoft.com/office/drawing/2014/main" id="{3D274A40-4420-46D3-ABD8-6D8514691AEE}"/>
              </a:ext>
            </a:extLst>
          </p:cNvPr>
          <p:cNvSpPr>
            <a:spLocks noGrp="1"/>
          </p:cNvSpPr>
          <p:nvPr/>
        </p:nvSpPr>
        <p:spPr>
          <a:xfrm>
            <a:off x="4743450" y="4438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</a:t>
            </a:r>
          </a:p>
        </p:txBody>
      </p:sp>
      <p:sp>
        <p:nvSpPr>
          <p:cNvPr id="17" name="Таблица 0 4">
            <a:extLst>
              <a:ext uri="{FF2B5EF4-FFF2-40B4-BE49-F238E27FC236}">
                <a16:creationId xmlns:a16="http://schemas.microsoft.com/office/drawing/2014/main" id="{29DBF2EB-8C1F-42F7-AF00-A6754764DD54}"/>
              </a:ext>
            </a:extLst>
          </p:cNvPr>
          <p:cNvSpPr>
            <a:spLocks noGrp="1"/>
          </p:cNvSpPr>
          <p:nvPr/>
        </p:nvSpPr>
        <p:spPr>
          <a:xfrm>
            <a:off x="6305550" y="4371975"/>
            <a:ext cx="238125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8" name="Текст 0 4">
            <a:extLst>
              <a:ext uri="{FF2B5EF4-FFF2-40B4-BE49-F238E27FC236}">
                <a16:creationId xmlns:a16="http://schemas.microsoft.com/office/drawing/2014/main" id="{080F0005-70C9-48D5-98B2-21D18AD159FB}"/>
              </a:ext>
            </a:extLst>
          </p:cNvPr>
          <p:cNvSpPr>
            <a:spLocks noGrp="1"/>
          </p:cNvSpPr>
          <p:nvPr/>
        </p:nvSpPr>
        <p:spPr>
          <a:xfrm>
            <a:off x="6343650" y="44386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Решение</a:t>
            </a:r>
          </a:p>
        </p:txBody>
      </p:sp>
      <p:sp>
        <p:nvSpPr>
          <p:cNvPr id="19" name="Таблица 1 0">
            <a:extLst>
              <a:ext uri="{FF2B5EF4-FFF2-40B4-BE49-F238E27FC236}">
                <a16:creationId xmlns:a16="http://schemas.microsoft.com/office/drawing/2014/main" id="{67DB66A9-CE9B-4255-98BB-4991B41D2046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7143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0" name="Текст 1 0">
            <a:extLst>
              <a:ext uri="{FF2B5EF4-FFF2-40B4-BE49-F238E27FC236}">
                <a16:creationId xmlns:a16="http://schemas.microsoft.com/office/drawing/2014/main" id="{971E9913-8059-4BBC-B20F-C0FA5F4ED301}"/>
              </a:ext>
            </a:extLst>
          </p:cNvPr>
          <p:cNvSpPr>
            <a:spLocks noGrp="1"/>
          </p:cNvSpPr>
          <p:nvPr/>
        </p:nvSpPr>
        <p:spPr>
          <a:xfrm>
            <a:off x="495300" y="475297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1" name="Таблица 1 1">
            <a:extLst>
              <a:ext uri="{FF2B5EF4-FFF2-40B4-BE49-F238E27FC236}">
                <a16:creationId xmlns:a16="http://schemas.microsoft.com/office/drawing/2014/main" id="{2C91F6C8-8E4C-471E-BB9B-E737BCE3A7DA}"/>
              </a:ext>
            </a:extLst>
          </p:cNvPr>
          <p:cNvSpPr>
            <a:spLocks noGrp="1"/>
          </p:cNvSpPr>
          <p:nvPr/>
        </p:nvSpPr>
        <p:spPr>
          <a:xfrm>
            <a:off x="1171575" y="4686300"/>
            <a:ext cx="15621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2" name="Текст 1 1">
            <a:extLst>
              <a:ext uri="{FF2B5EF4-FFF2-40B4-BE49-F238E27FC236}">
                <a16:creationId xmlns:a16="http://schemas.microsoft.com/office/drawing/2014/main" id="{72526D8D-90AE-4053-B5EE-930527D93F4B}"/>
              </a:ext>
            </a:extLst>
          </p:cNvPr>
          <p:cNvSpPr>
            <a:spLocks noGrp="1"/>
          </p:cNvSpPr>
          <p:nvPr/>
        </p:nvSpPr>
        <p:spPr>
          <a:xfrm>
            <a:off x="1209675" y="475297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72,73</a:t>
            </a:r>
          </a:p>
        </p:txBody>
      </p:sp>
      <p:sp>
        <p:nvSpPr>
          <p:cNvPr id="23" name="Таблица 1 2">
            <a:extLst>
              <a:ext uri="{FF2B5EF4-FFF2-40B4-BE49-F238E27FC236}">
                <a16:creationId xmlns:a16="http://schemas.microsoft.com/office/drawing/2014/main" id="{00303724-085C-4D6F-AFF4-1933C7AAA5B2}"/>
              </a:ext>
            </a:extLst>
          </p:cNvPr>
          <p:cNvSpPr>
            <a:spLocks noGrp="1"/>
          </p:cNvSpPr>
          <p:nvPr/>
        </p:nvSpPr>
        <p:spPr>
          <a:xfrm>
            <a:off x="2733675" y="4686300"/>
            <a:ext cx="19716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4" name="Текст 1 2">
            <a:extLst>
              <a:ext uri="{FF2B5EF4-FFF2-40B4-BE49-F238E27FC236}">
                <a16:creationId xmlns:a16="http://schemas.microsoft.com/office/drawing/2014/main" id="{80FA16A8-F759-4519-8703-650F52C8D2DE}"/>
              </a:ext>
            </a:extLst>
          </p:cNvPr>
          <p:cNvSpPr>
            <a:spLocks noGrp="1"/>
          </p:cNvSpPr>
          <p:nvPr/>
        </p:nvSpPr>
        <p:spPr>
          <a:xfrm>
            <a:off x="2771775" y="475297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7,03</a:t>
            </a:r>
          </a:p>
        </p:txBody>
      </p:sp>
      <p:sp>
        <p:nvSpPr>
          <p:cNvPr id="25" name="Таблица 1 3">
            <a:extLst>
              <a:ext uri="{FF2B5EF4-FFF2-40B4-BE49-F238E27FC236}">
                <a16:creationId xmlns:a16="http://schemas.microsoft.com/office/drawing/2014/main" id="{A0600624-A7F0-40F0-86BB-4C25F247C8B7}"/>
              </a:ext>
            </a:extLst>
          </p:cNvPr>
          <p:cNvSpPr>
            <a:spLocks noGrp="1"/>
          </p:cNvSpPr>
          <p:nvPr/>
        </p:nvSpPr>
        <p:spPr>
          <a:xfrm>
            <a:off x="4705350" y="4686300"/>
            <a:ext cx="16002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6" name="Текст 1 3">
            <a:extLst>
              <a:ext uri="{FF2B5EF4-FFF2-40B4-BE49-F238E27FC236}">
                <a16:creationId xmlns:a16="http://schemas.microsoft.com/office/drawing/2014/main" id="{2FC569A8-BF66-4C41-9E76-4661168A5B50}"/>
              </a:ext>
            </a:extLst>
          </p:cNvPr>
          <p:cNvSpPr>
            <a:spLocks noGrp="1"/>
          </p:cNvSpPr>
          <p:nvPr/>
        </p:nvSpPr>
        <p:spPr>
          <a:xfrm>
            <a:off x="4743450" y="47529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75,12 %</a:t>
            </a:r>
          </a:p>
        </p:txBody>
      </p:sp>
      <p:sp>
        <p:nvSpPr>
          <p:cNvPr id="27" name="Таблица 1 4">
            <a:extLst>
              <a:ext uri="{FF2B5EF4-FFF2-40B4-BE49-F238E27FC236}">
                <a16:creationId xmlns:a16="http://schemas.microsoft.com/office/drawing/2014/main" id="{EE0D11C1-72A8-4F3A-9F56-163B1BF5CCC2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238125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8" name="Текст 1 4">
            <a:extLst>
              <a:ext uri="{FF2B5EF4-FFF2-40B4-BE49-F238E27FC236}">
                <a16:creationId xmlns:a16="http://schemas.microsoft.com/office/drawing/2014/main" id="{3FA3A720-304B-4DFF-A1D1-4C815D9C24CB}"/>
              </a:ext>
            </a:extLst>
          </p:cNvPr>
          <p:cNvSpPr>
            <a:spLocks noGrp="1"/>
          </p:cNvSpPr>
          <p:nvPr/>
        </p:nvSpPr>
        <p:spPr>
          <a:xfrm>
            <a:off x="6343650" y="475297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Превышен предел 1 %</a:t>
            </a:r>
          </a:p>
        </p:txBody>
      </p:sp>
      <p:sp>
        <p:nvSpPr>
          <p:cNvPr id="29" name="Таблица 2 0">
            <a:extLst>
              <a:ext uri="{FF2B5EF4-FFF2-40B4-BE49-F238E27FC236}">
                <a16:creationId xmlns:a16="http://schemas.microsoft.com/office/drawing/2014/main" id="{4A6B021C-3C1B-4209-BD25-752C1436599D}"/>
              </a:ext>
            </a:extLst>
          </p:cNvPr>
          <p:cNvSpPr>
            <a:spLocks noGrp="1"/>
          </p:cNvSpPr>
          <p:nvPr/>
        </p:nvSpPr>
        <p:spPr>
          <a:xfrm>
            <a:off x="457200" y="500062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0" name="Текст 2 0">
            <a:extLst>
              <a:ext uri="{FF2B5EF4-FFF2-40B4-BE49-F238E27FC236}">
                <a16:creationId xmlns:a16="http://schemas.microsoft.com/office/drawing/2014/main" id="{EFAF94D7-93FF-4D11-8D5C-6A6557BAB300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18</a:t>
            </a:r>
          </a:p>
        </p:txBody>
      </p:sp>
      <p:sp>
        <p:nvSpPr>
          <p:cNvPr id="31" name="Таблица 2 1">
            <a:extLst>
              <a:ext uri="{FF2B5EF4-FFF2-40B4-BE49-F238E27FC236}">
                <a16:creationId xmlns:a16="http://schemas.microsoft.com/office/drawing/2014/main" id="{CEA3B073-880A-4724-8D6F-45F509E82AF4}"/>
              </a:ext>
            </a:extLst>
          </p:cNvPr>
          <p:cNvSpPr>
            <a:spLocks noGrp="1"/>
          </p:cNvSpPr>
          <p:nvPr/>
        </p:nvSpPr>
        <p:spPr>
          <a:xfrm>
            <a:off x="1171575" y="500062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2" name="Текст 2 1">
            <a:extLst>
              <a:ext uri="{FF2B5EF4-FFF2-40B4-BE49-F238E27FC236}">
                <a16:creationId xmlns:a16="http://schemas.microsoft.com/office/drawing/2014/main" id="{7B8EF410-8BF5-4861-AB84-BBDB7D3E34AB}"/>
              </a:ext>
            </a:extLst>
          </p:cNvPr>
          <p:cNvSpPr>
            <a:spLocks noGrp="1"/>
          </p:cNvSpPr>
          <p:nvPr/>
        </p:nvSpPr>
        <p:spPr>
          <a:xfrm>
            <a:off x="1209675" y="506730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33" name="Таблица 2 2">
            <a:extLst>
              <a:ext uri="{FF2B5EF4-FFF2-40B4-BE49-F238E27FC236}">
                <a16:creationId xmlns:a16="http://schemas.microsoft.com/office/drawing/2014/main" id="{3D50C02F-41D6-474A-95D0-E72A123CE082}"/>
              </a:ext>
            </a:extLst>
          </p:cNvPr>
          <p:cNvSpPr>
            <a:spLocks noGrp="1"/>
          </p:cNvSpPr>
          <p:nvPr/>
        </p:nvSpPr>
        <p:spPr>
          <a:xfrm>
            <a:off x="2733675" y="500062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4" name="Текст 2 2">
            <a:extLst>
              <a:ext uri="{FF2B5EF4-FFF2-40B4-BE49-F238E27FC236}">
                <a16:creationId xmlns:a16="http://schemas.microsoft.com/office/drawing/2014/main" id="{921FF854-A2C4-47B8-AB8E-9E687708FD98}"/>
              </a:ext>
            </a:extLst>
          </p:cNvPr>
          <p:cNvSpPr>
            <a:spLocks noGrp="1"/>
          </p:cNvSpPr>
          <p:nvPr/>
        </p:nvSpPr>
        <p:spPr>
          <a:xfrm>
            <a:off x="2771775" y="506730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35" name="Таблица 2 3">
            <a:extLst>
              <a:ext uri="{FF2B5EF4-FFF2-40B4-BE49-F238E27FC236}">
                <a16:creationId xmlns:a16="http://schemas.microsoft.com/office/drawing/2014/main" id="{B0A26545-E5DE-44D6-99D6-3109E78C14F0}"/>
              </a:ext>
            </a:extLst>
          </p:cNvPr>
          <p:cNvSpPr>
            <a:spLocks noGrp="1"/>
          </p:cNvSpPr>
          <p:nvPr/>
        </p:nvSpPr>
        <p:spPr>
          <a:xfrm>
            <a:off x="4705350" y="500062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6" name="Текст 2 3">
            <a:extLst>
              <a:ext uri="{FF2B5EF4-FFF2-40B4-BE49-F238E27FC236}">
                <a16:creationId xmlns:a16="http://schemas.microsoft.com/office/drawing/2014/main" id="{AC4228AE-F361-4CAA-8DC6-1D54AF8DC6E3}"/>
              </a:ext>
            </a:extLst>
          </p:cNvPr>
          <p:cNvSpPr>
            <a:spLocks noGrp="1"/>
          </p:cNvSpPr>
          <p:nvPr/>
        </p:nvSpPr>
        <p:spPr>
          <a:xfrm>
            <a:off x="4743450" y="50673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92,31 %</a:t>
            </a:r>
          </a:p>
        </p:txBody>
      </p:sp>
      <p:sp>
        <p:nvSpPr>
          <p:cNvPr id="37" name="Таблица 2 4">
            <a:extLst>
              <a:ext uri="{FF2B5EF4-FFF2-40B4-BE49-F238E27FC236}">
                <a16:creationId xmlns:a16="http://schemas.microsoft.com/office/drawing/2014/main" id="{B50A96C4-F666-4CCE-933C-4BB5331312D2}"/>
              </a:ext>
            </a:extLst>
          </p:cNvPr>
          <p:cNvSpPr>
            <a:spLocks noGrp="1"/>
          </p:cNvSpPr>
          <p:nvPr/>
        </p:nvSpPr>
        <p:spPr>
          <a:xfrm>
            <a:off x="6305550" y="500062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8" name="Текст 2 4">
            <a:extLst>
              <a:ext uri="{FF2B5EF4-FFF2-40B4-BE49-F238E27FC236}">
                <a16:creationId xmlns:a16="http://schemas.microsoft.com/office/drawing/2014/main" id="{EDE49BD4-0213-4BCC-A908-B7AE7DD98432}"/>
              </a:ext>
            </a:extLst>
          </p:cNvPr>
          <p:cNvSpPr>
            <a:spLocks noGrp="1"/>
          </p:cNvSpPr>
          <p:nvPr/>
        </p:nvSpPr>
        <p:spPr>
          <a:xfrm>
            <a:off x="6343650" y="506730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39" name="Таблица 3 0">
            <a:extLst>
              <a:ext uri="{FF2B5EF4-FFF2-40B4-BE49-F238E27FC236}">
                <a16:creationId xmlns:a16="http://schemas.microsoft.com/office/drawing/2014/main" id="{2CB809CA-4159-44EA-BFCD-992F849323CB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7143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0" name="Текст 3 0">
            <a:extLst>
              <a:ext uri="{FF2B5EF4-FFF2-40B4-BE49-F238E27FC236}">
                <a16:creationId xmlns:a16="http://schemas.microsoft.com/office/drawing/2014/main" id="{1C08B1AC-2276-458B-8E94-52FD0317E6DB}"/>
              </a:ext>
            </a:extLst>
          </p:cNvPr>
          <p:cNvSpPr>
            <a:spLocks noGrp="1"/>
          </p:cNvSpPr>
          <p:nvPr/>
        </p:nvSpPr>
        <p:spPr>
          <a:xfrm>
            <a:off x="495300" y="538162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19</a:t>
            </a:r>
          </a:p>
        </p:txBody>
      </p:sp>
      <p:sp>
        <p:nvSpPr>
          <p:cNvPr id="41" name="Таблица 3 1">
            <a:extLst>
              <a:ext uri="{FF2B5EF4-FFF2-40B4-BE49-F238E27FC236}">
                <a16:creationId xmlns:a16="http://schemas.microsoft.com/office/drawing/2014/main" id="{747C173A-6741-45A5-AC0E-BEF0D3721EB9}"/>
              </a:ext>
            </a:extLst>
          </p:cNvPr>
          <p:cNvSpPr>
            <a:spLocks noGrp="1"/>
          </p:cNvSpPr>
          <p:nvPr/>
        </p:nvSpPr>
        <p:spPr>
          <a:xfrm>
            <a:off x="1171575" y="5314950"/>
            <a:ext cx="15621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2" name="Текст 3 1">
            <a:extLst>
              <a:ext uri="{FF2B5EF4-FFF2-40B4-BE49-F238E27FC236}">
                <a16:creationId xmlns:a16="http://schemas.microsoft.com/office/drawing/2014/main" id="{FAD1F012-E55E-4FB8-A892-0A9895E3D2C2}"/>
              </a:ext>
            </a:extLst>
          </p:cNvPr>
          <p:cNvSpPr>
            <a:spLocks noGrp="1"/>
          </p:cNvSpPr>
          <p:nvPr/>
        </p:nvSpPr>
        <p:spPr>
          <a:xfrm>
            <a:off x="1209675" y="538162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43" name="Таблица 3 2">
            <a:extLst>
              <a:ext uri="{FF2B5EF4-FFF2-40B4-BE49-F238E27FC236}">
                <a16:creationId xmlns:a16="http://schemas.microsoft.com/office/drawing/2014/main" id="{28AADCFB-C2A8-4BEE-8D1B-8DB02F0CC38C}"/>
              </a:ext>
            </a:extLst>
          </p:cNvPr>
          <p:cNvSpPr>
            <a:spLocks noGrp="1"/>
          </p:cNvSpPr>
          <p:nvPr/>
        </p:nvSpPr>
        <p:spPr>
          <a:xfrm>
            <a:off x="2733675" y="5314950"/>
            <a:ext cx="19716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4" name="Текст 3 2">
            <a:extLst>
              <a:ext uri="{FF2B5EF4-FFF2-40B4-BE49-F238E27FC236}">
                <a16:creationId xmlns:a16="http://schemas.microsoft.com/office/drawing/2014/main" id="{1BC4B4D7-4FB9-4524-A560-CC2A856078CD}"/>
              </a:ext>
            </a:extLst>
          </p:cNvPr>
          <p:cNvSpPr>
            <a:spLocks noGrp="1"/>
          </p:cNvSpPr>
          <p:nvPr/>
        </p:nvSpPr>
        <p:spPr>
          <a:xfrm>
            <a:off x="2771775" y="538162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45" name="Таблица 3 3">
            <a:extLst>
              <a:ext uri="{FF2B5EF4-FFF2-40B4-BE49-F238E27FC236}">
                <a16:creationId xmlns:a16="http://schemas.microsoft.com/office/drawing/2014/main" id="{D9A54C87-A3E5-4D6C-8ED8-87CD2CB6BA6F}"/>
              </a:ext>
            </a:extLst>
          </p:cNvPr>
          <p:cNvSpPr>
            <a:spLocks noGrp="1"/>
          </p:cNvSpPr>
          <p:nvPr/>
        </p:nvSpPr>
        <p:spPr>
          <a:xfrm>
            <a:off x="4705350" y="5314950"/>
            <a:ext cx="16002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6" name="Текст 3 3">
            <a:extLst>
              <a:ext uri="{FF2B5EF4-FFF2-40B4-BE49-F238E27FC236}">
                <a16:creationId xmlns:a16="http://schemas.microsoft.com/office/drawing/2014/main" id="{9DFB7934-E395-4C9E-B698-E4703D6E3A3C}"/>
              </a:ext>
            </a:extLst>
          </p:cNvPr>
          <p:cNvSpPr>
            <a:spLocks noGrp="1"/>
          </p:cNvSpPr>
          <p:nvPr/>
        </p:nvSpPr>
        <p:spPr>
          <a:xfrm>
            <a:off x="4743450" y="5381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94,63 %</a:t>
            </a:r>
          </a:p>
        </p:txBody>
      </p:sp>
      <p:sp>
        <p:nvSpPr>
          <p:cNvPr id="47" name="Таблица 3 4">
            <a:extLst>
              <a:ext uri="{FF2B5EF4-FFF2-40B4-BE49-F238E27FC236}">
                <a16:creationId xmlns:a16="http://schemas.microsoft.com/office/drawing/2014/main" id="{239B04DD-58EB-40CD-AC38-45F0490173EC}"/>
              </a:ext>
            </a:extLst>
          </p:cNvPr>
          <p:cNvSpPr>
            <a:spLocks noGrp="1"/>
          </p:cNvSpPr>
          <p:nvPr/>
        </p:nvSpPr>
        <p:spPr>
          <a:xfrm>
            <a:off x="6305550" y="5314950"/>
            <a:ext cx="238125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8" name="Текст 3 4">
            <a:extLst>
              <a:ext uri="{FF2B5EF4-FFF2-40B4-BE49-F238E27FC236}">
                <a16:creationId xmlns:a16="http://schemas.microsoft.com/office/drawing/2014/main" id="{9FCDAC01-D398-4F5F-B1BA-57CFC4201671}"/>
              </a:ext>
            </a:extLst>
          </p:cNvPr>
          <p:cNvSpPr>
            <a:spLocks noGrp="1"/>
          </p:cNvSpPr>
          <p:nvPr/>
        </p:nvSpPr>
        <p:spPr>
          <a:xfrm>
            <a:off x="6343650" y="538162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Выбрана</a:t>
            </a:r>
          </a:p>
        </p:txBody>
      </p:sp>
      <p:sp>
        <p:nvSpPr>
          <p:cNvPr id="49" name="Таблица 4 0">
            <a:extLst>
              <a:ext uri="{FF2B5EF4-FFF2-40B4-BE49-F238E27FC236}">
                <a16:creationId xmlns:a16="http://schemas.microsoft.com/office/drawing/2014/main" id="{6E12636E-3A76-4EAA-854D-6E92C08BA536}"/>
              </a:ext>
            </a:extLst>
          </p:cNvPr>
          <p:cNvSpPr>
            <a:spLocks noGrp="1"/>
          </p:cNvSpPr>
          <p:nvPr/>
        </p:nvSpPr>
        <p:spPr>
          <a:xfrm>
            <a:off x="457200" y="562927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0" name="Текст 4 0">
            <a:extLst>
              <a:ext uri="{FF2B5EF4-FFF2-40B4-BE49-F238E27FC236}">
                <a16:creationId xmlns:a16="http://schemas.microsoft.com/office/drawing/2014/main" id="{1838496D-6BF3-4BF2-B52E-62EA9D112A41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20</a:t>
            </a:r>
          </a:p>
        </p:txBody>
      </p:sp>
      <p:sp>
        <p:nvSpPr>
          <p:cNvPr id="51" name="Таблица 4 1">
            <a:extLst>
              <a:ext uri="{FF2B5EF4-FFF2-40B4-BE49-F238E27FC236}">
                <a16:creationId xmlns:a16="http://schemas.microsoft.com/office/drawing/2014/main" id="{4C31146C-7A68-40BB-910F-A65094FB7E31}"/>
              </a:ext>
            </a:extLst>
          </p:cNvPr>
          <p:cNvSpPr>
            <a:spLocks noGrp="1"/>
          </p:cNvSpPr>
          <p:nvPr/>
        </p:nvSpPr>
        <p:spPr>
          <a:xfrm>
            <a:off x="1171575" y="562927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2" name="Текст 4 1">
            <a:extLst>
              <a:ext uri="{FF2B5EF4-FFF2-40B4-BE49-F238E27FC236}">
                <a16:creationId xmlns:a16="http://schemas.microsoft.com/office/drawing/2014/main" id="{8BC48706-93D1-4028-A289-8E7BF1E91A39}"/>
              </a:ext>
            </a:extLst>
          </p:cNvPr>
          <p:cNvSpPr>
            <a:spLocks noGrp="1"/>
          </p:cNvSpPr>
          <p:nvPr/>
        </p:nvSpPr>
        <p:spPr>
          <a:xfrm>
            <a:off x="1209675" y="56959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53" name="Таблица 4 2">
            <a:extLst>
              <a:ext uri="{FF2B5EF4-FFF2-40B4-BE49-F238E27FC236}">
                <a16:creationId xmlns:a16="http://schemas.microsoft.com/office/drawing/2014/main" id="{46CB48B5-B984-4924-A653-69DE8975EF09}"/>
              </a:ext>
            </a:extLst>
          </p:cNvPr>
          <p:cNvSpPr>
            <a:spLocks noGrp="1"/>
          </p:cNvSpPr>
          <p:nvPr/>
        </p:nvSpPr>
        <p:spPr>
          <a:xfrm>
            <a:off x="2733675" y="562927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4" name="Текст 4 2">
            <a:extLst>
              <a:ext uri="{FF2B5EF4-FFF2-40B4-BE49-F238E27FC236}">
                <a16:creationId xmlns:a16="http://schemas.microsoft.com/office/drawing/2014/main" id="{53A66576-9EC9-431A-92B4-55D6F6FA0CCA}"/>
              </a:ext>
            </a:extLst>
          </p:cNvPr>
          <p:cNvSpPr>
            <a:spLocks noGrp="1"/>
          </p:cNvSpPr>
          <p:nvPr/>
        </p:nvSpPr>
        <p:spPr>
          <a:xfrm>
            <a:off x="2771775" y="56959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55" name="Таблица 4 3">
            <a:extLst>
              <a:ext uri="{FF2B5EF4-FFF2-40B4-BE49-F238E27FC236}">
                <a16:creationId xmlns:a16="http://schemas.microsoft.com/office/drawing/2014/main" id="{C35A4F93-A9B7-413B-9534-E4886398933B}"/>
              </a:ext>
            </a:extLst>
          </p:cNvPr>
          <p:cNvSpPr>
            <a:spLocks noGrp="1"/>
          </p:cNvSpPr>
          <p:nvPr/>
        </p:nvSpPr>
        <p:spPr>
          <a:xfrm>
            <a:off x="4705350" y="562927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6" name="Текст 4 3">
            <a:extLst>
              <a:ext uri="{FF2B5EF4-FFF2-40B4-BE49-F238E27FC236}">
                <a16:creationId xmlns:a16="http://schemas.microsoft.com/office/drawing/2014/main" id="{29AA6B9F-FF16-462F-A2C2-0F6FC2FC0CDA}"/>
              </a:ext>
            </a:extLst>
          </p:cNvPr>
          <p:cNvSpPr>
            <a:spLocks noGrp="1"/>
          </p:cNvSpPr>
          <p:nvPr/>
        </p:nvSpPr>
        <p:spPr>
          <a:xfrm>
            <a:off x="4743450" y="56959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92,45 %</a:t>
            </a:r>
          </a:p>
        </p:txBody>
      </p:sp>
      <p:sp>
        <p:nvSpPr>
          <p:cNvPr id="57" name="Таблица 4 4">
            <a:extLst>
              <a:ext uri="{FF2B5EF4-FFF2-40B4-BE49-F238E27FC236}">
                <a16:creationId xmlns:a16="http://schemas.microsoft.com/office/drawing/2014/main" id="{E02512CD-2A53-4C09-9D3E-C3488EC60E99}"/>
              </a:ext>
            </a:extLst>
          </p:cNvPr>
          <p:cNvSpPr>
            <a:spLocks noGrp="1"/>
          </p:cNvSpPr>
          <p:nvPr/>
        </p:nvSpPr>
        <p:spPr>
          <a:xfrm>
            <a:off x="6305550" y="562927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8" name="Текст 4 4">
            <a:extLst>
              <a:ext uri="{FF2B5EF4-FFF2-40B4-BE49-F238E27FC236}">
                <a16:creationId xmlns:a16="http://schemas.microsoft.com/office/drawing/2014/main" id="{F6FA1B50-31AE-4A4E-B537-7678EC2B0102}"/>
              </a:ext>
            </a:extLst>
          </p:cNvPr>
          <p:cNvSpPr>
            <a:spLocks noGrp="1"/>
          </p:cNvSpPr>
          <p:nvPr/>
        </p:nvSpPr>
        <p:spPr>
          <a:xfrm>
            <a:off x="6343650" y="56959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59" name="Обоснование">
            <a:extLst>
              <a:ext uri="{FF2B5EF4-FFF2-40B4-BE49-F238E27FC236}">
                <a16:creationId xmlns:a16="http://schemas.microsoft.com/office/drawing/2014/main" id="{BE42FAD7-17EC-4CE6-8C09-08FD19D08FC2}"/>
              </a:ext>
            </a:extLst>
          </p:cNvPr>
          <p:cNvSpPr>
            <a:spLocks noGrp="1"/>
          </p:cNvSpPr>
          <p:nvPr/>
        </p:nvSpPr>
        <p:spPr>
          <a:xfrm>
            <a:off x="457200" y="6124575"/>
            <a:ext cx="8229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19-я эпоха: 6 из 11 дефектных кадров, ни одной ложной тревоги. При равной полноте средняя точность на кадрах принтера максимальна.</a:t>
            </a:r>
          </a:p>
        </p:txBody>
      </p:sp>
      <p:sp>
        <p:nvSpPr>
          <p:cNvPr id="60" name="Номер">
            <a:extLst>
              <a:ext uri="{FF2B5EF4-FFF2-40B4-BE49-F238E27FC236}">
                <a16:creationId xmlns:a16="http://schemas.microsoft.com/office/drawing/2014/main" id="{B83CAFFE-64ED-4649-97F2-C30AE88542D8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1434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11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12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EF4267F-DDC1-4335-8DB6-BED23CF3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5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5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Ограничения обнаружения дефектов</a:t>
            </a:r>
          </a:p>
        </p:txBody>
      </p:sp>
      <p:sp>
        <p:nvSpPr>
          <p:cNvPr id="2" name="Выборка">
            <a:extLst xmlns:a="http://schemas.openxmlformats.org/drawingml/2006/main">
              <a:ext uri="{FF2B5EF4-FFF2-40B4-BE49-F238E27FC236}">
                <a16:creationId xmlns:a16="http://schemas.microsoft.com/office/drawing/2014/main" id="{3E1D56EB-2844-470E-BC0E-46931E5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525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на кадрах собственного принтера, порог 0,3</a:t>
            </a:r>
          </a:p>
        </p:txBody>
      </p:sp>
      <p:sp>
        <p:nvSpPr>
          <p:cNvPr id="3" name="Полнота">
            <a:extLst xmlns:a="http://schemas.openxmlformats.org/drawingml/2006/main">
              <a:ext uri="{FF2B5EF4-FFF2-40B4-BE49-F238E27FC236}">
                <a16:creationId xmlns:a16="http://schemas.microsoft.com/office/drawing/2014/main" id="{B03F5A5A-E511-4A7E-B03C-59AD0C00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54,55 %</a:t>
            </a:r>
          </a:p>
        </p:txBody>
      </p:sp>
      <p:sp>
        <p:nvSpPr>
          <p:cNvPr id="4" name="Расшифровка">
            <a:extLst xmlns:a="http://schemas.openxmlformats.org/drawingml/2006/main">
              <a:ext uri="{FF2B5EF4-FFF2-40B4-BE49-F238E27FC236}">
                <a16:creationId xmlns:a16="http://schemas.microsoft.com/office/drawing/2014/main" id="{5376F823-D25A-470D-91AA-4A673008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003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обнаружения: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модель нашла 6 из 11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кадров с дефектом</a:t>
            </a:r>
          </a:p>
        </p:txBody>
      </p:sp>
      <p:sp>
        <p:nvSpPr>
          <p:cNvPr id="5" name="Кадры">
            <a:extLst xmlns:a="http://schemas.openxmlformats.org/drawingml/2006/main">
              <a:ext uri="{FF2B5EF4-FFF2-40B4-BE49-F238E27FC236}">
                <a16:creationId xmlns:a16="http://schemas.microsoft.com/office/drawing/2014/main" id="{33A831CA-FA81-4E2B-BDCD-86F9AB81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19250"/>
            <a:ext cx="501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11 кадров с дефектом</a:t>
            </a:r>
          </a:p>
        </p:txBody>
      </p:sp>
      <p:sp>
        <p:nvSpPr>
          <p:cNvPr id="6" name="Кадр 1">
            <a:extLst xmlns:a="http://schemas.openxmlformats.org/drawingml/2006/main">
              <a:ext uri="{FF2B5EF4-FFF2-40B4-BE49-F238E27FC236}">
                <a16:creationId xmlns:a16="http://schemas.microsoft.com/office/drawing/2014/main" id="{D2A4BFC5-F8CA-4E49-BC54-AA94B879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Номер кадра 1">
            <a:extLst xmlns:a="http://schemas.openxmlformats.org/drawingml/2006/main">
              <a:ext uri="{FF2B5EF4-FFF2-40B4-BE49-F238E27FC236}">
                <a16:creationId xmlns:a16="http://schemas.microsoft.com/office/drawing/2014/main" id="{8760610A-6018-417F-94C6-1C758415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8" name="Кадр 2">
            <a:extLst xmlns:a="http://schemas.openxmlformats.org/drawingml/2006/main">
              <a:ext uri="{FF2B5EF4-FFF2-40B4-BE49-F238E27FC236}">
                <a16:creationId xmlns:a16="http://schemas.microsoft.com/office/drawing/2014/main" id="{B019BB82-9824-4D58-BB98-18979271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Номер кадра 2">
            <a:extLst xmlns:a="http://schemas.openxmlformats.org/drawingml/2006/main">
              <a:ext uri="{FF2B5EF4-FFF2-40B4-BE49-F238E27FC236}">
                <a16:creationId xmlns:a16="http://schemas.microsoft.com/office/drawing/2014/main" id="{EE5C3348-8BD6-4D40-8A2D-3A6C89D4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</a:t>
            </a:r>
          </a:p>
        </p:txBody>
      </p:sp>
      <p:sp>
        <p:nvSpPr>
          <p:cNvPr id="10" name="Кадр 3">
            <a:extLst xmlns:a="http://schemas.openxmlformats.org/drawingml/2006/main">
              <a:ext uri="{FF2B5EF4-FFF2-40B4-BE49-F238E27FC236}">
                <a16:creationId xmlns:a16="http://schemas.microsoft.com/office/drawing/2014/main" id="{A6C1994B-F013-483B-AE1B-BEE45A70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Номер кадра 3">
            <a:extLst xmlns:a="http://schemas.openxmlformats.org/drawingml/2006/main">
              <a:ext uri="{FF2B5EF4-FFF2-40B4-BE49-F238E27FC236}">
                <a16:creationId xmlns:a16="http://schemas.microsoft.com/office/drawing/2014/main" id="{50220200-7BDB-407B-8FBB-05682A6D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3</a:t>
            </a:r>
          </a:p>
        </p:txBody>
      </p:sp>
      <p:sp>
        <p:nvSpPr>
          <p:cNvPr id="12" name="Кадр 4">
            <a:extLst xmlns:a="http://schemas.openxmlformats.org/drawingml/2006/main">
              <a:ext uri="{FF2B5EF4-FFF2-40B4-BE49-F238E27FC236}">
                <a16:creationId xmlns:a16="http://schemas.microsoft.com/office/drawing/2014/main" id="{F0052C0E-C39B-4CA7-97F9-1EDE8E18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Номер кадра 4">
            <a:extLst xmlns:a="http://schemas.openxmlformats.org/drawingml/2006/main">
              <a:ext uri="{FF2B5EF4-FFF2-40B4-BE49-F238E27FC236}">
                <a16:creationId xmlns:a16="http://schemas.microsoft.com/office/drawing/2014/main" id="{99D87A28-BE9E-4B40-BC87-F0EF1821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4</a:t>
            </a:r>
          </a:p>
        </p:txBody>
      </p:sp>
      <p:sp>
        <p:nvSpPr>
          <p:cNvPr id="14" name="Кадр 5">
            <a:extLst xmlns:a="http://schemas.openxmlformats.org/drawingml/2006/main">
              <a:ext uri="{FF2B5EF4-FFF2-40B4-BE49-F238E27FC236}">
                <a16:creationId xmlns:a16="http://schemas.microsoft.com/office/drawing/2014/main" id="{B3FC8CCD-F74B-4597-97E7-B31A3F70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Номер кадра 5">
            <a:extLst xmlns:a="http://schemas.openxmlformats.org/drawingml/2006/main">
              <a:ext uri="{FF2B5EF4-FFF2-40B4-BE49-F238E27FC236}">
                <a16:creationId xmlns:a16="http://schemas.microsoft.com/office/drawing/2014/main" id="{97905C0A-2EB1-403D-8460-2661EED5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  <p:sp>
        <p:nvSpPr>
          <p:cNvPr id="16" name="Кадр 6">
            <a:extLst xmlns:a="http://schemas.openxmlformats.org/drawingml/2006/main">
              <a:ext uri="{FF2B5EF4-FFF2-40B4-BE49-F238E27FC236}">
                <a16:creationId xmlns:a16="http://schemas.microsoft.com/office/drawing/2014/main" id="{6C0FB2BD-A347-4685-9D50-48AFDF84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Номер кадра 6">
            <a:extLst xmlns:a="http://schemas.openxmlformats.org/drawingml/2006/main">
              <a:ext uri="{FF2B5EF4-FFF2-40B4-BE49-F238E27FC236}">
                <a16:creationId xmlns:a16="http://schemas.microsoft.com/office/drawing/2014/main" id="{219B5CDF-9355-40E5-9F4B-363FD51C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  <p:sp>
        <p:nvSpPr>
          <p:cNvPr id="18" name="Кадр 7">
            <a:extLst xmlns:a="http://schemas.openxmlformats.org/drawingml/2006/main">
              <a:ext uri="{FF2B5EF4-FFF2-40B4-BE49-F238E27FC236}">
                <a16:creationId xmlns:a16="http://schemas.microsoft.com/office/drawing/2014/main" id="{61277313-97D8-45A7-B663-7AC14629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Номер кадра 7">
            <a:extLst xmlns:a="http://schemas.openxmlformats.org/drawingml/2006/main">
              <a:ext uri="{FF2B5EF4-FFF2-40B4-BE49-F238E27FC236}">
                <a16:creationId xmlns:a16="http://schemas.microsoft.com/office/drawing/2014/main" id="{46CDC0C2-6B5A-4CFC-923E-97153463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7</a:t>
            </a:r>
          </a:p>
        </p:txBody>
      </p:sp>
      <p:sp>
        <p:nvSpPr>
          <p:cNvPr id="20" name="Кадр 8">
            <a:extLst xmlns:a="http://schemas.openxmlformats.org/drawingml/2006/main">
              <a:ext uri="{FF2B5EF4-FFF2-40B4-BE49-F238E27FC236}">
                <a16:creationId xmlns:a16="http://schemas.microsoft.com/office/drawing/2014/main" id="{FF69AAF2-E1AE-4367-92BE-BC468F51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Номер кадра 8">
            <a:extLst xmlns:a="http://schemas.openxmlformats.org/drawingml/2006/main">
              <a:ext uri="{FF2B5EF4-FFF2-40B4-BE49-F238E27FC236}">
                <a16:creationId xmlns:a16="http://schemas.microsoft.com/office/drawing/2014/main" id="{8EBEE50D-1AAD-4CFC-A7A4-D7F1D59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8</a:t>
            </a:r>
          </a:p>
        </p:txBody>
      </p:sp>
      <p:sp>
        <p:nvSpPr>
          <p:cNvPr id="22" name="Кадр 9">
            <a:extLst xmlns:a="http://schemas.openxmlformats.org/drawingml/2006/main">
              <a:ext uri="{FF2B5EF4-FFF2-40B4-BE49-F238E27FC236}">
                <a16:creationId xmlns:a16="http://schemas.microsoft.com/office/drawing/2014/main" id="{CADBBF38-8D64-4511-9798-C0E5A8DC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Номер кадра 9">
            <a:extLst xmlns:a="http://schemas.openxmlformats.org/drawingml/2006/main">
              <a:ext uri="{FF2B5EF4-FFF2-40B4-BE49-F238E27FC236}">
                <a16:creationId xmlns:a16="http://schemas.microsoft.com/office/drawing/2014/main" id="{F82DE8E2-15AA-44E9-A41A-4CDD911A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4" name="Кадр 10">
            <a:extLst xmlns:a="http://schemas.openxmlformats.org/drawingml/2006/main">
              <a:ext uri="{FF2B5EF4-FFF2-40B4-BE49-F238E27FC236}">
                <a16:creationId xmlns:a16="http://schemas.microsoft.com/office/drawing/2014/main" id="{C75D2DCD-8F0B-42AB-84E7-61096944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Номер кадра 10">
            <a:extLst xmlns:a="http://schemas.openxmlformats.org/drawingml/2006/main">
              <a:ext uri="{FF2B5EF4-FFF2-40B4-BE49-F238E27FC236}">
                <a16:creationId xmlns:a16="http://schemas.microsoft.com/office/drawing/2014/main" id="{E1E84B1B-0D00-4F70-810D-A1C88FA6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10</a:t>
            </a:r>
          </a:p>
        </p:txBody>
      </p:sp>
      <p:sp>
        <p:nvSpPr>
          <p:cNvPr id="26" name="Кадр 11">
            <a:extLst xmlns:a="http://schemas.openxmlformats.org/drawingml/2006/main">
              <a:ext uri="{FF2B5EF4-FFF2-40B4-BE49-F238E27FC236}">
                <a16:creationId xmlns:a16="http://schemas.microsoft.com/office/drawing/2014/main" id="{E1522FBA-2108-4134-A40C-1AA0CFEC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Номер кадра 11">
            <a:extLst xmlns:a="http://schemas.openxmlformats.org/drawingml/2006/main">
              <a:ext uri="{FF2B5EF4-FFF2-40B4-BE49-F238E27FC236}">
                <a16:creationId xmlns:a16="http://schemas.microsoft.com/office/drawing/2014/main" id="{A5DFD7BE-7634-42B8-A0C4-2A5B0F6E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11</a:t>
            </a:r>
          </a:p>
        </p:txBody>
      </p:sp>
      <p:sp>
        <p:nvSpPr>
          <p:cNvPr id="28" name="Найденные">
            <a:extLst xmlns:a="http://schemas.openxmlformats.org/drawingml/2006/main">
              <a:ext uri="{FF2B5EF4-FFF2-40B4-BE49-F238E27FC236}">
                <a16:creationId xmlns:a16="http://schemas.microsoft.com/office/drawing/2014/main" id="{840D8FC7-D2DC-49B0-8993-A69F0A80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 обнаружены</a:t>
            </a:r>
          </a:p>
        </p:txBody>
      </p:sp>
      <p:sp>
        <p:nvSpPr>
          <p:cNvPr id="29" name="Пропущенные">
            <a:extLst xmlns:a="http://schemas.openxmlformats.org/drawingml/2006/main">
              <a:ext uri="{FF2B5EF4-FFF2-40B4-BE49-F238E27FC236}">
                <a16:creationId xmlns:a16="http://schemas.microsoft.com/office/drawing/2014/main" id="{77BCA3C7-16A7-4F19-B1F0-8757CD4D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5 пропущены</a:t>
            </a:r>
          </a:p>
        </p:txBody>
      </p:sp>
      <p:sp>
        <p:nvSpPr>
          <p:cNvPr id="30" name="Проверка без дефекта">
            <a:extLst xmlns:a="http://schemas.openxmlformats.org/drawingml/2006/main">
              <a:ext uri="{FF2B5EF4-FFF2-40B4-BE49-F238E27FC236}">
                <a16:creationId xmlns:a16="http://schemas.microsoft.com/office/drawing/2014/main" id="{77284CDF-9073-434D-BCF8-31B5B2BD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374332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dash"/>
          </a:ln>
        </p:spPr>
      </p:sp>
      <p:sp>
        <p:nvSpPr>
          <p:cNvPr id="31" name="Ложные тревоги">
            <a:extLst xmlns:a="http://schemas.openxmlformats.org/drawingml/2006/main">
              <a:ext uri="{FF2B5EF4-FFF2-40B4-BE49-F238E27FC236}">
                <a16:creationId xmlns:a16="http://schemas.microsoft.com/office/drawing/2014/main" id="{7B464530-D534-4157-BD6E-D89E0E37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Кадры без дефекта</a:t>
            </a:r>
          </a:p>
        </p:txBody>
      </p:sp>
      <p:sp>
        <p:nvSpPr>
          <p:cNvPr id="32" name="Ложные тревоги число">
            <a:extLst xmlns:a="http://schemas.openxmlformats.org/drawingml/2006/main">
              <a:ext uri="{FF2B5EF4-FFF2-40B4-BE49-F238E27FC236}">
                <a16:creationId xmlns:a16="http://schemas.microsoft.com/office/drawing/2014/main" id="{529D2985-46BE-4E7E-8331-CA3C3D7E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 из 128</a:t>
            </a:r>
          </a:p>
        </p:txBody>
      </p:sp>
      <p:sp>
        <p:nvSpPr>
          <p:cNvPr id="33" name="Ложные тревоги смысл">
            <a:extLst xmlns:a="http://schemas.openxmlformats.org/drawingml/2006/main">
              <a:ext uri="{FF2B5EF4-FFF2-40B4-BE49-F238E27FC236}">
                <a16:creationId xmlns:a16="http://schemas.microsoft.com/office/drawing/2014/main" id="{4E37FE68-52E2-4217-9AD2-230BC37B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3476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На этой выборке модель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 выдала ложных тревог.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Пять дефектных кадров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при этом были пропущены.</a:t>
            </a:r>
          </a:p>
        </p:txBody>
      </p:sp>
      <p:sp>
        <p:nvSpPr>
          <p:cNvPr id="34" name="Смысл оценки">
            <a:extLst xmlns:a="http://schemas.openxmlformats.org/drawingml/2006/main">
              <a:ext uri="{FF2B5EF4-FFF2-40B4-BE49-F238E27FC236}">
                <a16:creationId xmlns:a16="http://schemas.microsoft.com/office/drawing/2014/main" id="{84CF3160-F3ED-4BF8-9ABC-259FAEFC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9525"/>
            <a:ext cx="4229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dash"/>
          </a:ln>
        </p:spPr>
      </p:sp>
      <p:sp>
        <p:nvSpPr>
          <p:cNvPr id="35" name="Ограничение заголовок">
            <a:extLst xmlns:a="http://schemas.openxmlformats.org/drawingml/2006/main">
              <a:ext uri="{FF2B5EF4-FFF2-40B4-BE49-F238E27FC236}">
                <a16:creationId xmlns:a16="http://schemas.microsoft.com/office/drawing/2014/main" id="{AC8D631A-CC9B-4671-940F-05972BC5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3382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результат</a:t>
            </a:r>
          </a:p>
        </p:txBody>
      </p:sp>
      <p:sp>
        <p:nvSpPr>
          <p:cNvPr id="36" name="Ограничение текст">
            <a:extLst xmlns:a="http://schemas.openxmlformats.org/drawingml/2006/main">
              <a:ext uri="{FF2B5EF4-FFF2-40B4-BE49-F238E27FC236}">
                <a16:creationId xmlns:a16="http://schemas.microsoft.com/office/drawing/2014/main" id="{C6D4835D-D583-4A00-930C-193DD71B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39433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54,55 % относится к кадрам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с дефектом в этой выборке.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Оценка по 11 таким кадрам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 даёт надёжного прогноза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для новых печатных заданий.</a:t>
            </a:r>
          </a:p>
        </p:txBody>
      </p:sp>
      <p:sp>
        <p:nvSpPr>
          <p:cNvPr id="37" name="Отличие общего теста">
            <a:extLst xmlns:a="http://schemas.openxmlformats.org/drawingml/2006/main">
              <a:ext uri="{FF2B5EF4-FFF2-40B4-BE49-F238E27FC236}">
                <a16:creationId xmlns:a16="http://schemas.microsoft.com/office/drawing/2014/main" id="{35B738EA-A422-43F0-90AD-3D95DA6D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Высокие показатели на общем наборе не подтверждают такую же полноту на кадрах собственного принтера.</a:t>
            </a:r>
          </a:p>
        </p:txBody>
      </p:sp>
      <p:sp>
        <p:nvSpPr>
          <p:cNvPr id="38" name="Номер">
            <a:extLst xmlns:a="http://schemas.openxmlformats.org/drawingml/2006/main">
              <a:ext uri="{FF2B5EF4-FFF2-40B4-BE49-F238E27FC236}">
                <a16:creationId xmlns:a16="http://schemas.microsoft.com/office/drawing/2014/main" id="{893F6D03-A985-4451-9135-F8328336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57225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457694"/>
      </p:ext>
    </p:extLst>
  </p:cSld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1483</Words>
  <Application>Microsoft Office PowerPoint</Application>
  <DocSecurity>0</DocSecurity>
  <PresentationFormat>Экран (4:3)</PresentationFormat>
  <Paragraphs>153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Презентация PowerPoint</vt:lpstr>
      <vt:lpstr>Презентация PowerPoint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31</cp:revision>
  <dcterms:created xsi:type="dcterms:W3CDTF">2026-10-07T12:47:26Z</dcterms:created>
  <dcterms:modified xsi:type="dcterms:W3CDTF">2026-10-08T22:48:58Z</dcterms:modified>
</cp:coreProperties>
</file>