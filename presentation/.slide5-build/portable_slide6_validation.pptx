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inter_validation6/ppt/slides/charts/chart1.xml" ContentType="application/vnd.openxmlformats-officedocument.drawingml.chart+xml"/>
  <Override PartName="/ppt/printer_validation6/ppt/slides/charts/chart2.xml" ContentType="application/vnd.openxmlformats-officedocument.drawingml.chart+xml"/>
  <Override PartName="/ppt/printer_validation6/ppt/notesMasters/theme/theme3.xml" ContentType="application/vnd.openxmlformats-officedocument.theme+xml"/>
  <Override PartName="/ppt/printer_validation6/ppt/notesMasters/notesMaster1.xml" ContentType="application/vnd.openxmlformats-officedocument.presentationml.notesMaster+xml"/>
  <Override PartName="/ppt/printer_validation6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6" r:id="rId4"/>
    <p:sldId id="275" r:id="rId5"/>
    <p:sldId id="273" r:id="rId6"/>
    <p:sldId id="276" r:id="rId7"/>
    <p:sldId id="270" r:id="rId8"/>
    <p:sldId id="271" r:id="rId9"/>
    <p:sldId id="272" r:id="rId10"/>
    <p:sldId id="274" r:id="rId11"/>
    <p:sldId id="266" r:id="rId12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ns4="http://schemas.openxmlformats.org/officeDocument/2006/relationships">
  <ns0:date1904 val="1"/>
  <ns0:lang val="ru-RU"/>
  <ns0:roundedCorners val="1"/>
  <ns0:style val="2"/>
  <ns0:chart>
    <ns0:autoTitleDeleted val="1"/>
    <ns0:plotArea>
      <ns0:layout/>
      <ns0:lineChart>
        <ns0:grouping val="standard"/>
        <ns0:varyColors val="0"/>
        <ns0:ser>
          <ns0:idx val="0"/>
          <ns0:order val="0"/>
          <ns0:tx>
            <ns0:v>Ошибка обучения</ns0:v>
          </ns0:tx>
          <ns0:spPr>
            <ns1:ln w="22860">
              <ns1:solidFill>
                <ns1:srgbClr val="2467B2"/>
              </ns1:solidFill>
            </ns1:ln>
          </ns0:spPr>
          <ns0:marker>
            <ns0:symbol val="none"/>
          </ns0:marker>
          <ns0:dLbls>
            <ns0:dLbl>
              <ns0:idx val="18"/>
              <ns0:tx>
                <ns0:rich>
                  <ns1:bodyPr/>
                  <ns1:lstStyle/>
                  <ns1:p>
                    <ns1:r>
                      <ns1:rPr lang="en-US" sz="1275" b="1">
                        <ns1:solidFill>
                          <ns1:srgbClr val="2467B2"/>
                        </ns1:solidFill>
                        <ns1:latin typeface="Times New Roman"/>
                        <ns1:ea typeface="Times New Roman"/>
                        <ns1:cs typeface="Times New Roman"/>
                      </ns1:rPr>
                      <ns1:t>19</ns1:t>
                    </ns1:r>
                  </ns1:p>
                </ns0:rich>
              </ns0:tx>
              <ns0:spPr/>
              <ns0:showLegendKey val="1"/>
              <ns0:showVal val="1"/>
              <ns0:showCatName val="1"/>
              <ns0:showSerName val="1"/>
              <ns0:showPercent val="1"/>
              <ns0:showBubbleSize val="1"/>
              <ns0:extLst>
                <ns0:ext uri="{CE6537A1-D6FC-4f65-9D91-7224C49458BB}">
                  <ns2:showDataLabelsRange val="0"/>
                </ns0:ext>
                <ns0:ext uri="{C3380CC4-5D6E-409C-BE32-E72D297353CC}">
                  <ns3:uniqueId val="{00000000-770E-4390-B389-062BD63099F8}"/>
                </ns0:ext>
              </ns0:extLst>
            </ns0:dLbl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>
                    <ns1:latin typeface="Times New Roman"/>
                    <ns1:ea typeface="Times New Roman"/>
                    <ns1:cs typeface="Times New Roman"/>
                  </ns1:defRPr>
                </ns1:pPr>
                <ns1:endParaRPr lang="ru-RU"/>
              </ns1:p>
            </ns0:txPr>
            <ns0:showLegendKey val="0"/>
            <ns0:showVal val="0"/>
            <ns0:showCatName val="0"/>
            <ns0:showSerName val="0"/>
            <ns0:showPercent val="0"/>
            <ns0:showBubbleSize val="0"/>
            <ns0:extLst>
              <ns0:ext uri="{CE6537A1-D6FC-4f65-9D91-7224C49458BB}">
                <ns2:showLeaderLines val="0"/>
              </ns0:ext>
            </ns0:extLst>
          </ns0:dLbls>
          <ns0:cat>
            <ns0:numRef>
              <ns0:f>'Chart Data'!$A$2:$A$21</ns0:f>
              <ns0:numCache>
                <ns0:formatCode>General</ns0:formatCode>
                <ns0:ptCount val="2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</ns0:numCache>
            </ns0:numRef>
          </ns0:cat>
          <ns0:val>
            <ns0:numRef>
              <ns0:f>'Chart Data'!$B$2:$B$21</ns0:f>
              <ns0:numCache>
                <ns0:formatCode>0.000</ns0:formatCode>
                <ns0:ptCount val="20"/>
                <ns0:pt idx="0">
                  <ns0:v>0.005552</ns0:v>
                </ns0:pt>
                <ns0:pt idx="1">
                  <ns0:v>0.00241</ns0:v>
                </ns0:pt>
                <ns0:pt idx="2">
                  <ns0:v>0.009237</ns0:v>
                </ns0:pt>
                <ns0:pt idx="3">
                  <ns0:v>0.00326</ns0:v>
                </ns0:pt>
                <ns0:pt idx="4">
                  <ns0:v>2.323E-3</ns0:v>
                </ns0:pt>
                <ns0:pt idx="5">
                  <ns0:v>1.774E-3</ns0:v>
                </ns0:pt>
                <ns0:pt idx="6">
                  <ns0:v>1.328E-3</ns0:v>
                </ns0:pt>
                <ns0:pt idx="7">
                  <ns0:v>0.000871</ns0:v>
                </ns0:pt>
                <ns0:pt idx="8">
                  <ns0:v>1.206E-3</ns0:v>
                </ns0:pt>
                <ns0:pt idx="9">
                  <ns0:v>0.004558</ns0:v>
                </ns0:pt>
                <ns0:pt idx="10">
                  <ns0:v>0.001092</ns0:v>
                </ns0:pt>
                <ns0:pt idx="11">
                  <ns0:v>0.003142</ns0:v>
                </ns0:pt>
                <ns0:pt idx="12">
                  <ns0:v>1.619E-3</ns0:v>
                </ns0:pt>
                <ns0:pt idx="13">
                  <ns0:v>0.001099</ns0:v>
                </ns0:pt>
                <ns0:pt idx="14">
                  <ns0:v>0.000973</ns0:v>
                </ns0:pt>
                <ns0:pt idx="15">
                  <ns0:v>0.000976</ns0:v>
                </ns0:pt>
                <ns0:pt idx="16">
                  <ns0:v>1.178E-3</ns0:v>
                </ns0:pt>
                <ns0:pt idx="17">
                  <ns0:v>0.001012</ns0:v>
                </ns0:pt>
                <ns0:pt idx="18">
                  <ns0:v>0.002217</ns0:v>
                </ns0:pt>
                <ns0:pt idx="19">
                  <ns0:v>0.002233</ns0:v>
                </ns0:pt>
              </ns0:numCache>
            </ns0:numRef>
          </ns0:val>
          <ns0:smooth val="0"/>
          <ns0:extLst>
            <ns0:ext uri="{C3380CC4-5D6E-409C-BE32-E72D297353CC}">
              <ns3:uniqueId val="{00000001-770E-4390-B389-062BD63099F8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smooth val="0"/>
        <ns0:axId val="48650112"/>
        <ns0:axId val="48672768"/>
      </ns0:lineChart>
      <ns0:catAx>
        <ns0:axId val="48650112"/>
        <ns0:scaling>
          <ns0:orientation val="minMax"/>
        </ns0:scaling>
        <ns0:delete val="0"/>
        <ns0:axPos val="b"/>
        <ns0:title>
          <ns0:tx>
            <ns0:rich>
              <ns1:bodyPr/>
              <ns1:lstStyle/>
              <ns1:p>
                <ns1:r>
                  <ns1:rPr lang="ru-RU">
                    <ns1:latin typeface="Times New Roman"/>
                    <ns1:ea typeface="Times New Roman"/>
                    <ns1:cs typeface="Times New Roman"/>
                  </ns1:rPr>
                  <ns1:t>Эпоха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7620">
            <ns1:solidFill>
              <ns1:srgbClr val="000000"/>
            </ns1:solidFill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72768"/>
        <ns0:crosses val="autoZero"/>
        <ns0:auto val="1"/>
        <ns0:lblAlgn val="ctr"/>
        <ns0:lblOffset val="100"/>
        <ns0:noMultiLvlLbl val="1"/>
      </ns0:catAx>
      <ns0:valAx>
        <ns0:axId val="48672768"/>
        <ns0:scaling>
          <ns0:orientation val="minMax"/>
          <ns0:max val="0.01"/>
          <ns0:min val="0"/>
        </ns0:scaling>
        <ns0:delete val="0"/>
        <ns0:axPos val="l"/>
        <ns0:majorGridlines>
          <ns0:spPr>
            <ns1:ln w="5715">
              <ns1:solidFill>
                <ns1:srgbClr val="D0D0D0"/>
              </ns1:solidFill>
            </ns1:ln>
          </ns0:spPr>
        </ns0:majorGridlines>
        <ns0:numFmt formatCode="0.000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50112"/>
        <ns0:crosses val="autoZero"/>
        <ns0:crossBetween val="between"/>
        <ns0:majorUnit val="2E-3"/>
      </ns0:valAx>
      <ns0:spPr>
        <ns1:solidFill>
          <ns1:srgbClr val="FFFFFF"/>
        </ns1:solidFill>
      </ns0:spPr>
    </ns0:plotArea>
    <ns0:plotVisOnly val="1"/>
    <ns0:dispBlanksAs val="zero"/>
    <ns0:showDLblsOverMax val="1"/>
  </ns0:chart>
  <ns0:spPr>
    <ns1:solidFill>
      <ns1:srgbClr val="FFFFFF"/>
    </ns1:solidFill>
  </ns0:spPr>
  <ns0:externalData ns4:id="rId1">
    <ns0:autoUpdate val="0"/>
  </ns0:externalData>
</ns0:chartSpace>
</file>

<file path=ppt/charts/chart2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ns4="http://schemas.openxmlformats.org/officeDocument/2006/relationships">
  <ns0:date1904 val="1"/>
  <ns0:lang val="ru-RU"/>
  <ns0:roundedCorners val="1"/>
  <ns0:style val="2"/>
  <ns0:chart>
    <ns0:autoTitleDeleted val="1"/>
    <ns0:plotArea>
      <ns0:layout/>
      <ns0:lineChart>
        <ns0:grouping val="standard"/>
        <ns0:varyColors val="0"/>
        <ns0:ser>
          <ns0:idx val="0"/>
          <ns0:order val="0"/>
          <ns0:tx>
            <ns0:v>Средняя точность, %</ns0:v>
          </ns0:tx>
          <ns0:spPr>
            <ns1:ln w="22860">
              <ns1:solidFill>
                <ns1:srgbClr val="7C4BB1"/>
              </ns1:solidFill>
            </ns1:ln>
          </ns0:spPr>
          <ns0:marker>
            <ns0:symbol val="none"/>
          </ns0:marker>
          <ns0:dLbls>
            <ns0:dLbl>
              <ns0:idx val="18"/>
              <ns0:tx>
                <ns0:rich>
                  <ns1:bodyPr/>
                  <ns1:lstStyle/>
                  <ns1:p>
                    <ns1:r>
                      <ns1:rPr lang="en-US" sz="1275" b="1">
                        <ns1:solidFill>
                          <ns1:srgbClr val="7C4BB1"/>
                        </ns1:solidFill>
                        <ns1:latin typeface="Times New Roman"/>
                        <ns1:ea typeface="Times New Roman"/>
                        <ns1:cs typeface="Times New Roman"/>
                      </ns1:rPr>
                      <ns1:t>19</ns1:t>
                    </ns1:r>
                  </ns1:p>
                </ns0:rich>
              </ns0:tx>
              <ns0:spPr/>
              <ns0:showLegendKey val="1"/>
              <ns0:showVal val="1"/>
              <ns0:showCatName val="1"/>
              <ns0:showSerName val="1"/>
              <ns0:showPercent val="1"/>
              <ns0:showBubbleSize val="1"/>
              <ns0:extLst>
                <ns0:ext uri="{CE6537A1-D6FC-4f65-9D91-7224C49458BB}">
                  <ns2:showDataLabelsRange val="0"/>
                </ns0:ext>
                <ns0:ext uri="{C3380CC4-5D6E-409C-BE32-E72D297353CC}">
                  <ns3:uniqueId val="{00000000-18E7-4864-816E-E53FD48BBAA5}"/>
                </ns0:ext>
              </ns0:extLst>
            </ns0:dLbl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>
                    <ns1:latin typeface="Times New Roman"/>
                    <ns1:ea typeface="Times New Roman"/>
                    <ns1:cs typeface="Times New Roman"/>
                  </ns1:defRPr>
                </ns1:pPr>
                <ns1:endParaRPr lang="ru-RU"/>
              </ns1:p>
            </ns0:txPr>
            <ns0:showLegendKey val="0"/>
            <ns0:showVal val="0"/>
            <ns0:showCatName val="0"/>
            <ns0:showSerName val="0"/>
            <ns0:showPercent val="0"/>
            <ns0:showBubbleSize val="0"/>
            <ns0:extLst>
              <ns0:ext uri="{CE6537A1-D6FC-4f65-9D91-7224C49458BB}">
                <ns2:showLeaderLines val="0"/>
              </ns0:ext>
            </ns0:extLst>
          </ns0:dLbls>
          <ns0:cat>
            <ns0:numRef>
              <ns0:f>'Chart Data'!$A$2:$A$21</ns0:f>
              <ns0:numCache>
                <ns0:formatCode>General</ns0:formatCode>
                <ns0:ptCount val="2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</ns0:numCache>
            </ns0:numRef>
          </ns0:cat>
          <ns0:val>
            <ns0:numRef>
              <ns0:f>'Chart Data'!$B$2:$B$21</ns0:f>
              <ns0:numCache>
                <ns0:formatCode>0.0" %"</ns0:formatCode>
                <ns0:ptCount val="20"/>
                <ns0:pt idx="0">
                  <ns0:v>98.972764</ns0:v>
                </ns0:pt>
                <ns0:pt idx="1">
                  <ns0:v>98.861859</ns0:v>
                </ns0:pt>
                <ns0:pt idx="2">
                  <ns0:v>99.57373</ns0:v>
                </ns0:pt>
                <ns0:pt idx="3">
                  <ns0:v>99.689363</ns0:v>
                </ns0:pt>
                <ns0:pt idx="4">
                  <ns0:v>99.276485</ns0:v>
                </ns0:pt>
                <ns0:pt idx="5">
                  <ns0:v>99.174207</ns0:v>
                </ns0:pt>
                <ns0:pt idx="6">
                  <ns0:v>99.55193</ns0:v>
                </ns0:pt>
                <ns0:pt idx="7">
                  <ns0:v>99.323224</ns0:v>
                </ns0:pt>
                <ns0:pt idx="8">
                  <ns0:v>99.462997</ns0:v>
                </ns0:pt>
                <ns0:pt idx="9">
                  <ns0:v>99.10293</ns0:v>
                </ns0:pt>
                <ns0:pt idx="10">
                  <ns0:v>99.325666</ns0:v>
                </ns0:pt>
                <ns0:pt idx="11">
                  <ns0:v>99.34298</ns0:v>
                </ns0:pt>
                <ns0:pt idx="12">
                  <ns0:v>99.213706</ns0:v>
                </ns0:pt>
                <ns0:pt idx="13">
                  <ns0:v>99.211031</ns0:v>
                </ns0:pt>
                <ns0:pt idx="14">
                  <ns0:v>99.315382</ns0:v>
                </ns0:pt>
                <ns0:pt idx="15">
                  <ns0:v>99.234098</ns0:v>
                </ns0:pt>
                <ns0:pt idx="16">
                  <ns0:v>99.280321</ns0:v>
                </ns0:pt>
                <ns0:pt idx="17">
                  <ns0:v>99.311447</ns0:v>
                </ns0:pt>
                <ns0:pt idx="18">
                  <ns0:v>99.245392</ns0:v>
                </ns0:pt>
                <ns0:pt idx="19">
                  <ns0:v>99.336899</ns0:v>
                </ns0:pt>
              </ns0:numCache>
            </ns0:numRef>
          </ns0:val>
          <ns0:smooth val="0"/>
          <ns0:extLst>
            <ns0:ext uri="{C3380CC4-5D6E-409C-BE32-E72D297353CC}">
              <ns3:uniqueId val="{00000001-18E7-4864-816E-E53FD48BBAA5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smooth val="0"/>
        <ns0:axId val="48650112"/>
        <ns0:axId val="48672768"/>
      </ns0:lineChart>
      <ns0:catAx>
        <ns0:axId val="48650112"/>
        <ns0:scaling>
          <ns0:orientation val="minMax"/>
        </ns0:scaling>
        <ns0:delete val="0"/>
        <ns0:axPos val="b"/>
        <ns0:title>
          <ns0:tx>
            <ns0:rich>
              <ns1:bodyPr/>
              <ns1:lstStyle/>
              <ns1:p>
                <ns1:r>
                  <ns1:rPr lang="ru-RU">
                    <ns1:latin typeface="Times New Roman"/>
                    <ns1:ea typeface="Times New Roman"/>
                    <ns1:cs typeface="Times New Roman"/>
                  </ns1:rPr>
                  <ns1:t>Эпоха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7620">
            <ns1:solidFill>
              <ns1:srgbClr val="000000"/>
            </ns1:solidFill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72768"/>
        <ns0:crosses val="autoZero"/>
        <ns0:auto val="1"/>
        <ns0:lblAlgn val="ctr"/>
        <ns0:lblOffset val="100"/>
        <ns0:noMultiLvlLbl val="1"/>
      </ns0:catAx>
      <ns0:valAx>
        <ns0:axId val="48672768"/>
        <ns0:scaling>
          <ns0:orientation val="minMax"/>
          <ns0:max val="100"/>
          <ns0:min val="98.5"/>
        </ns0:scaling>
        <ns0:delete val="0"/>
        <ns0:axPos val="l"/>
        <ns0:majorGridlines>
          <ns0:spPr>
            <ns1:ln w="5715">
              <ns1:solidFill>
                <ns1:srgbClr val="D0D0D0"/>
              </ns1:solidFill>
            </ns1:ln>
          </ns0:spPr>
        </ns0:majorGridlines>
        <ns0:numFmt formatCode="0.0&quot; %&quot;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50112"/>
        <ns0:crosses val="autoZero"/>
        <ns0:crossBetween val="between"/>
        <ns0:majorUnit val="0.5"/>
      </ns0:valAx>
      <ns0:spPr>
        <ns1:solidFill>
          <ns1:srgbClr val="FFFFFF"/>
        </ns1:solidFill>
      </ns0:spPr>
    </ns0:plotArea>
    <ns0:plotVisOnly val="1"/>
    <ns0:dispBlanksAs val="zero"/>
    <ns0:showDLblsOverMax val="1"/>
  </ns0:chart>
  <ns0:spPr>
    <ns1:solidFill>
      <ns1:srgbClr val="FFFFFF"/>
    </ns1:solidFill>
  </ns0:spPr>
  <ns0:externalData ns4:id="rId1">
    <ns0:autoUpdate val="0"/>
  </ns0:externalData>
</ns0:chartSpace>
</file>

<file path=ppt/charts/chart3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ns4="http://schemas.openxmlformats.org/officeDocument/2006/relationships">
  <ns0:date1904 val="1"/>
  <ns0:lang val="ru-RU"/>
  <ns0:roundedCorners val="1"/>
  <ns0:style val="2"/>
  <ns0:chart>
    <ns0:autoTitleDeleted val="1"/>
    <ns0:plotArea>
      <ns0:layout/>
      <ns0:lineChart>
        <ns0:grouping val="standard"/>
        <ns0:varyColors val="0"/>
        <ns0:ser>
          <ns0:idx val="0"/>
          <ns0:order val="0"/>
          <ns0:tx>
            <ns0:v>Полнота, %</ns0:v>
          </ns0:tx>
          <ns0:spPr>
            <ns1:ln w="22860">
              <ns1:solidFill>
                <ns1:srgbClr val="2467B2"/>
              </ns1:solidFill>
            </ns1:ln>
          </ns0:spPr>
          <ns0:marker>
            <ns0:symbol val="circle"/>
            <ns0:size val="3"/>
            <ns0:spPr>
              <ns1:solidFill>
                <ns1:srgbClr val="2467B2"/>
              </ns1:solidFill>
            </ns0:spPr>
          </ns0:marker>
          <ns0:dLbls>
            <ns0:dLbl>
              <ns0:idx val="18"/>
              <ns0:tx>
                <ns0:rich>
                  <ns1:bodyPr/>
                  <ns1:lstStyle/>
                  <ns1:p>
                    <ns1:r>
                      <ns1:rPr lang="ru-RU" sz="1350" b="1">
                        <ns1:solidFill>
                          <ns1:srgbClr val="2467B2"/>
                        </ns1:solidFill>
                        <ns1:latin typeface="Times New Roman"/>
                        <ns1:ea typeface="Times New Roman"/>
                        <ns1:cs typeface="Times New Roman"/>
                      </ns1:rPr>
                      <ns1:t>19</ns1:t>
                    </ns1:r>
                  </ns1:p>
                </ns0:rich>
              </ns0:tx>
              <ns0:spPr/>
              <ns0:showLegendKey val="1"/>
              <ns0:showVal val="1"/>
              <ns0:showCatName val="1"/>
              <ns0:showSerName val="1"/>
              <ns0:showPercent val="1"/>
              <ns0:showBubbleSize val="1"/>
              <ns0:extLst>
                <ns0:ext uri="{CE6537A1-D6FC-4f65-9D91-7224C49458BB}">
                  <ns2:showDataLabelsRange val="0"/>
                </ns0:ext>
                <ns0:ext uri="{C3380CC4-5D6E-409C-BE32-E72D297353CC}">
                  <ns3:uniqueId val="{00000000-984D-4FAD-BE94-1922F11B378E}"/>
                </ns0:ext>
              </ns0:extLst>
            </ns0:dLbl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>
                    <ns1:latin typeface="Times New Roman"/>
                    <ns1:ea typeface="Times New Roman"/>
                    <ns1:cs typeface="Times New Roman"/>
                  </ns1:defRPr>
                </ns1:pPr>
                <ns1:endParaRPr lang="ru-RU"/>
              </ns1:p>
            </ns0:txPr>
            <ns0:showLegendKey val="0"/>
            <ns0:showVal val="0"/>
            <ns0:showCatName val="0"/>
            <ns0:showSerName val="0"/>
            <ns0:showPercent val="0"/>
            <ns0:showBubbleSize val="0"/>
            <ns0:extLst>
              <ns0:ext uri="{CE6537A1-D6FC-4f65-9D91-7224C49458BB}">
                <ns2:showLeaderLines val="0"/>
              </ns0:ext>
            </ns0:extLst>
          </ns0:dLbls>
          <ns0:cat>
            <ns0:numRef>
              <ns0:f>'Chart Data'!$A$2:$A$21</ns0:f>
              <ns0:numCache>
                <ns0:formatCode>General</ns0:formatCode>
                <ns0:ptCount val="2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</ns0:numCache>
            </ns0:numRef>
          </ns0:cat>
          <ns0:val>
            <ns0:numRef>
              <ns0:f>'Chart Data'!$B$2:$B$21</ns0:f>
              <ns0:numCache>
                <ns0:formatCode>0" %"</ns0:formatCode>
                <ns0:ptCount val="20"/>
                <ns0:pt idx="0">
                  <ns0:v>0</ns0:v>
                </ns0:pt>
                <ns0:pt idx="1">
                  <ns0:v>27.272727</ns0:v>
                </ns0:pt>
                <ns0:pt idx="2">
                  <ns0:v>45.454545</ns0:v>
                </ns0:pt>
                <ns0:pt idx="3">
                  <ns0:v>36.363636</ns0:v>
                </ns0:pt>
                <ns0:pt idx="4">
                  <ns0:v>27.272727</ns0:v>
                </ns0:pt>
                <ns0:pt idx="5">
                  <ns0:v>27.272727</ns0:v>
                </ns0:pt>
                <ns0:pt idx="6">
                  <ns0:v>45.454545</ns0:v>
                </ns0:pt>
                <ns0:pt idx="7">
                  <ns0:v>45.454545</ns0:v>
                </ns0:pt>
                <ns0:pt idx="8">
                  <ns0:v>72.727273</ns0:v>
                </ns0:pt>
                <ns0:pt idx="9">
                  <ns0:v>45.454545</ns0:v>
                </ns0:pt>
                <ns0:pt idx="10">
                  <ns0:v>54.545455</ns0:v>
                </ns0:pt>
                <ns0:pt idx="11">
                  <ns0:v>45.454545</ns0:v>
                </ns0:pt>
                <ns0:pt idx="12">
                  <ns0:v>27.272727</ns0:v>
                </ns0:pt>
                <ns0:pt idx="13">
                  <ns0:v>36.363636</ns0:v>
                </ns0:pt>
                <ns0:pt idx="14">
                  <ns0:v>45.454545</ns0:v>
                </ns0:pt>
                <ns0:pt idx="15">
                  <ns0:v>45.454545</ns0:v>
                </ns0:pt>
                <ns0:pt idx="16">
                  <ns0:v>54.545455</ns0:v>
                </ns0:pt>
                <ns0:pt idx="17">
                  <ns0:v>54.545455</ns0:v>
                </ns0:pt>
                <ns0:pt idx="18">
                  <ns0:v>54.545455</ns0:v>
                </ns0:pt>
                <ns0:pt idx="19">
                  <ns0:v>54.545455</ns0:v>
                </ns0:pt>
              </ns0:numCache>
            </ns0:numRef>
          </ns0:val>
          <ns0:smooth val="0"/>
          <ns0:extLst>
            <ns0:ext uri="{C3380CC4-5D6E-409C-BE32-E72D297353CC}">
              <ns3:uniqueId val="{00000001-984D-4FAD-BE94-1922F11B378E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marker val="1"/>
        <ns0:smooth val="0"/>
        <ns0:axId val="48650112"/>
        <ns0:axId val="48672768"/>
      </ns0:lineChart>
      <ns0:catAx>
        <ns0:axId val="48650112"/>
        <ns0:scaling>
          <ns0:orientation val="minMax"/>
        </ns0:scaling>
        <ns0:delete val="0"/>
        <ns0:axPos val="b"/>
        <ns0:title>
          <ns0:tx>
            <ns0:rich>
              <ns1:bodyPr/>
              <ns1:lstStyle/>
              <ns1:p>
                <ns1:r>
                  <ns1:rPr lang="ru-RU">
                    <ns1:latin typeface="Times New Roman"/>
                    <ns1:ea typeface="Times New Roman"/>
                    <ns1:cs typeface="Times New Roman"/>
                  </ns1:rPr>
                  <ns1:t>Эпоха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72768"/>
        <ns0:crosses val="autoZero"/>
        <ns0:auto val="1"/>
        <ns0:lblAlgn val="ctr"/>
        <ns0:lblOffset val="100"/>
        <ns0:noMultiLvlLbl val="1"/>
      </ns0:catAx>
      <ns0:valAx>
        <ns0:axId val="48672768"/>
        <ns0:scaling>
          <ns0:orientation val="minMax"/>
          <ns0:max val="100"/>
          <ns0:min val="0"/>
        </ns0:scaling>
        <ns0:delete val="0"/>
        <ns0:axPos val="l"/>
        <ns0:majorGridlines>
          <ns0:spPr>
            <ns1:ln w="5715">
              <ns1:solidFill>
                <ns1:srgbClr val="D0D0D0"/>
              </ns1:solidFill>
            </ns1:ln>
          </ns0:spPr>
        </ns0:majorGridlines>
        <ns0:numFmt formatCode="0&quot; %&quot;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50112"/>
        <ns0:crosses val="autoZero"/>
        <ns0:crossBetween val="between"/>
        <ns0:majorUnit val="25"/>
      </ns0:valAx>
      <ns0:spPr>
        <ns1:solidFill>
          <ns1:srgbClr val="FFFFFF"/>
        </ns1:solidFill>
      </ns0:spPr>
    </ns0:plotArea>
    <ns0:plotVisOnly val="1"/>
    <ns0:dispBlanksAs val="zero"/>
    <ns0:showDLblsOverMax val="1"/>
  </ns0:chart>
  <ns0:spPr>
    <ns1:solidFill>
      <ns1:srgbClr val="FFFFFF"/>
    </ns1:solidFill>
  </ns0:spPr>
  <ns0:externalData ns4:id="rId1">
    <ns0:autoUpdate val="0"/>
  </ns0:externalData>
</ns0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Ложные тревоги, %</c:v>
          </c:tx>
          <c:spPr>
            <a:ln w="22860">
              <a:solidFill>
                <a:srgbClr val="A52B37"/>
              </a:solidFill>
            </a:ln>
          </c:spPr>
          <c:marker>
            <c:symbol val="circle"/>
            <c:size val="3"/>
            <c:spPr>
              <a:solidFill>
                <a:srgbClr val="A52B37"/>
              </a:solidFill>
            </c:spPr>
          </c:marker>
          <c:dLbls>
            <c:dLbl>
              <c:idx val="18"/>
              <c:tx>
                <c:rich>
                  <a:bodyPr/>
                  <a:lstStyle/>
                  <a:p>
                    <a:r>
                      <a:rPr lang="ru-RU" sz="1350" b="1">
                        <a:solidFill>
                          <a:srgbClr val="A52B37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spPr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7AD-4005-88FA-A4D7972543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7.03125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AD-4005-88FA-A4D797254312}"/>
            </c:ext>
          </c:extLst>
        </c:ser>
        <c:ser>
          <c:idx val="1"/>
          <c:order val="1"/>
          <c:tx>
            <c:v>Допустимый предел 1 %</c:v>
          </c:tx>
          <c:spPr>
            <a:ln w="16193">
              <a:solidFill>
                <a:srgbClr val="D48923"/>
              </a:solidFill>
              <a:prstDash val="dash"/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0" %"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AD-4005-88FA-A4D7972543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ru-RU"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5715">
              <a:solidFill>
                <a:srgbClr val="D0D0D0"/>
              </a:solidFill>
            </a:ln>
          </c:spPr>
        </c:majorGridlines>
        <c:numFmt formatCode="0&quot; 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C:/Users/Yawllen/Documents/GitHub/printer-defect-server/models/spaghetti_presence_v12/history.json; C:/Users/Yawllen/Documents/GitHub/printer-defect-server/models/spaghetti_presence_v12/training_config.json. Правило выбора: максимальная полнота при false_alarm_rate &lt;= 0.01 на валидации принтера и пороге 0.3. При равной полноте предпочтение отдаётся меньшей доле ложных тревог, затем большей AP принтера, затем общей AP. Эпохи 11,17,18,19,20 имеют полноту 6/11 и FP=0; AP принтера: 88.47,90.26,92.31,94.63,92.45 %. Тест не использован для выбора весов. Общие графики на слайде 5 описывают другой срез качества. Оценка по 11 положительным и 128 отрицательным кадрам предварительная.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printer_validation6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0ac1551537904991" /></ns0:Relationships>
</file>

<file path=ppt/printer_validation6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printer_validation6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printer_validation6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6.xml" Id="R8bfc89d633c6403b" /><ns0:Relationship Type="http://schemas.openxmlformats.org/officeDocument/2006/relationships/notesMaster" Target="../notesMasters/notesMaster1.xml" Id="Ra920b358ed2e4675" /></ns0:Relationships>
</file>

<file path=ppt/printer_validation6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C:/Users/Yawllen/Documents/GitHub/printer-defect-server/models/spaghetti_presence_v12/training_config.json. Показан срез valid.printer_at_0_3: TP=6, FP=0, FN=5, TN=128, всего 139 кадров. Полнота 54.55 %, F1 70.59 %. Это валидация принтера, а не независимый тест и не оценка обнаружения по печатным заданиям. Веса 19-й эпохи выбирались по этой валидации при пороге 0.3. Общие тестовые метрики из смешанного набора не показаны. Обучение выполнено из ранее полученных весов.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printer_validation6/ppt/slides/charts/_rels/chart1.xml.rels><Relationships xmlns="http://schemas.openxmlformats.org/package/2006/relationships"><Relationship Id="rIdChartSnapshot1" Type="http://schemas.openxmlformats.org/officeDocument/2006/relationships/package" Target="../../../../embeddings/chart-data-snapshot-001.xlsx"/></Relationships>
</file>

<file path=ppt/printer_validation6/ppt/slides/charts/_rels/chart2.xml.rels><Relationships xmlns="http://schemas.openxmlformats.org/package/2006/relationships"><Relationship Id="rIdChartSnapshot1" Type="http://schemas.openxmlformats.org/officeDocument/2006/relationships/package" Target="../../../../embeddings/chart-data-snapshot-002.xlsx"/></Relationships>
</file>

<file path=ppt/printer_validation6/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2467B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printer_validation6/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Полнота на кадрах принтера, %</c:v>
          </c:tx>
          <c:spPr>
            <a:ln xmlns:a="http://schemas.openxmlformats.org/drawingml/2006/main" w="22860">
              <a:solidFill>
                <a:srgbClr val="7C4BB1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7C4BB1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7C4BB1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27.272727</c:v>
                </c:pt>
                <c:pt idx="2">
                  <c:v>45.454545</c:v>
                </c:pt>
                <c:pt idx="3">
                  <c:v>36.363636</c:v>
                </c:pt>
                <c:pt idx="4">
                  <c:v>27.272727</c:v>
                </c:pt>
                <c:pt idx="5">
                  <c:v>27.272727</c:v>
                </c:pt>
                <c:pt idx="6">
                  <c:v>45.454545</c:v>
                </c:pt>
                <c:pt idx="7">
                  <c:v>45.454545</c:v>
                </c:pt>
                <c:pt idx="8">
                  <c:v>72.727273</c:v>
                </c:pt>
                <c:pt idx="9">
                  <c:v>45.454545</c:v>
                </c:pt>
                <c:pt idx="10">
                  <c:v>54.545455</c:v>
                </c:pt>
                <c:pt idx="11">
                  <c:v>45.454545</c:v>
                </c:pt>
                <c:pt idx="12">
                  <c:v>27.272727</c:v>
                </c:pt>
                <c:pt idx="13">
                  <c:v>36.363636</c:v>
                </c:pt>
                <c:pt idx="14">
                  <c:v>45.454545</c:v>
                </c:pt>
                <c:pt idx="15">
                  <c:v>45.454545</c:v>
                </c:pt>
                <c:pt idx="16">
                  <c:v>54.545455</c:v>
                </c:pt>
                <c:pt idx="17">
                  <c:v>54.545455</c:v>
                </c:pt>
                <c:pt idx="18">
                  <c:v>54.545455</c:v>
                </c:pt>
                <c:pt idx="19">
                  <c:v>54.545455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printer_validation6/ppt/slides/charts/chart1.xml" Id="rIdValidation2" /><ns0:Relationship Type="http://schemas.openxmlformats.org/officeDocument/2006/relationships/chart" Target="../printer_validation6/ppt/slides/charts/chart2.xml" Id="rIdValidation3" /><ns0:Relationship Type="http://schemas.openxmlformats.org/officeDocument/2006/relationships/notesSlide" Target="../printer_validation6/ppt/notesSlides/notesSlide1.xml" Id="rIdValidation4" /></ns0: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Заголовок">
            <a:extLst>
              <a:ext uri="{FF2B5EF4-FFF2-40B4-BE49-F238E27FC236}">
                <a16:creationId xmlns:a16="http://schemas.microsoft.com/office/drawing/2014/main" id="{ACC627F3-8399-4AA3-8201-0E3F6CF7F6EB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a16:creationId xmlns:a16="http://schemas.microsoft.com/office/drawing/2014/main" id="{91D7E26E-575E-4F65-9320-698663D9E238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</a:t>
            </a:r>
          </a:p>
        </p:txBody>
      </p:sp>
      <p:sp>
        <p:nvSpPr>
          <p:cNvPr id="3" name="Валидация">
            <a:extLst>
              <a:ext uri="{FF2B5EF4-FFF2-40B4-BE49-F238E27FC236}">
                <a16:creationId xmlns:a16="http://schemas.microsoft.com/office/drawing/2014/main" id="{92F8E47D-17EC-435F-864C-AF2AE3FBB56D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5416C60F-AB08-4D6F-ABC0-16AF5CC12BF1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55617F87-B9B6-4A75-B273-B905085F1A97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Матрица ошибок">
            <a:extLst>
              <a:ext uri="{FF2B5EF4-FFF2-40B4-BE49-F238E27FC236}">
                <a16:creationId xmlns:a16="http://schemas.microsoft.com/office/drawing/2014/main" id="{39E2094E-71E6-4E7F-B663-0EF4FCDDCF04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a16:creationId xmlns:a16="http://schemas.microsoft.com/office/drawing/2014/main" id="{FCA0F91C-50A8-46A0-841E-FB90A9D30D5F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a16:creationId xmlns:a16="http://schemas.microsoft.com/office/drawing/2014/main" id="{3C360B39-D1B6-4A83-B331-0C8DBEF12602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a16:creationId xmlns:a16="http://schemas.microsoft.com/office/drawing/2014/main" id="{C9D77181-C197-4033-BBC0-BE676D372C2B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a16:creationId xmlns:a16="http://schemas.microsoft.com/office/drawing/2014/main" id="{D3BD75B8-BD97-480A-BC26-9CA4F42E73A1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a16:creationId xmlns:a16="http://schemas.microsoft.com/office/drawing/2014/main" id="{C8733A88-3474-40EB-BC02-8D6EEA7D66E2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a16:creationId xmlns:a16="http://schemas.microsoft.com/office/drawing/2014/main" id="{86D4A609-562B-4D79-B555-16DC19A3111F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a16:creationId xmlns:a16="http://schemas.microsoft.com/office/drawing/2014/main" id="{0C239167-7153-4BB7-8999-5E952885B44F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a16:creationId xmlns:a16="http://schemas.microsoft.com/office/drawing/2014/main" id="{ABDF62F0-52C1-43D0-9477-091191FEA514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a16:creationId xmlns:a16="http://schemas.microsoft.com/office/drawing/2014/main" id="{43C7FBDD-67D3-4C54-9323-2CA3754E6BA9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a16:creationId xmlns:a16="http://schemas.microsoft.com/office/drawing/2014/main" id="{6F0502F0-58CD-4377-BE55-71635BBB5CFA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a16:creationId xmlns:a16="http://schemas.microsoft.com/office/drawing/2014/main" id="{9A1BADF3-025C-4B74-A9D3-3DD99C16CAD5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a16:creationId xmlns:a16="http://schemas.microsoft.com/office/drawing/2014/main" id="{3DE164EB-6C30-4D3F-A681-35C8884BD99F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a16:creationId xmlns:a16="http://schemas.microsoft.com/office/drawing/2014/main" id="{22992C81-6D46-434C-B0A3-DAFF5C251F50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a16:creationId xmlns:a16="http://schemas.microsoft.com/office/drawing/2014/main" id="{EF24A817-B215-474F-A3D8-FF75C4397F18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a16:creationId xmlns:a16="http://schemas.microsoft.com/office/drawing/2014/main" id="{395D39FE-03CF-4056-956B-8EB4407BCA0C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a16:creationId xmlns:a16="http://schemas.microsoft.com/office/drawing/2014/main" id="{73D65972-A679-439E-8802-EEFE6EAEBE50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a16:creationId xmlns:a16="http://schemas.microsoft.com/office/drawing/2014/main" id="{23B64567-5132-4E63-8D6A-7A50B66EB748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a16:creationId xmlns:a16="http://schemas.microsoft.com/office/drawing/2014/main" id="{463DD5A4-4746-4557-B1BE-BA2EF3BB75AA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a16:creationId xmlns:a16="http://schemas.microsoft.com/office/drawing/2014/main" id="{5EEE147D-C68E-45C5-A789-13B6ECFA1B38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a16:creationId xmlns:a16="http://schemas.microsoft.com/office/drawing/2014/main" id="{2ABDCA34-7708-4EFB-9DB6-0282CFE8F8DA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a16:creationId xmlns:a16="http://schemas.microsoft.com/office/drawing/2014/main" id="{36DB5CFA-27E8-4EE9-8520-E1FAC8AFFE15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28" name="Метрика Точность">
            <a:extLst>
              <a:ext uri="{FF2B5EF4-FFF2-40B4-BE49-F238E27FC236}">
                <a16:creationId xmlns:a16="http://schemas.microsoft.com/office/drawing/2014/main" id="{26FDC1A2-178D-4D98-90FC-E7163E42A0B1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Точность 98,71 %</a:t>
            </a:r>
            <a:r>
              <a:t> — верные срабатывания</a:t>
            </a:r>
          </a:p>
        </p:txBody>
      </p:sp>
      <p:sp>
        <p:nvSpPr>
          <p:cNvPr id="29" name="Метрика Полнота">
            <a:extLst>
              <a:ext uri="{FF2B5EF4-FFF2-40B4-BE49-F238E27FC236}">
                <a16:creationId xmlns:a16="http://schemas.microsoft.com/office/drawing/2014/main" id="{4CA52852-A2C8-49D2-84B4-CF0FB350B92C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Полнота 99,89 %</a:t>
            </a:r>
            <a:r>
              <a:t> — найденные дефекты</a:t>
            </a:r>
          </a:p>
        </p:txBody>
      </p:sp>
      <p:sp>
        <p:nvSpPr>
          <p:cNvPr id="30" name="Метрика Мера F1">
            <a:extLst>
              <a:ext uri="{FF2B5EF4-FFF2-40B4-BE49-F238E27FC236}">
                <a16:creationId xmlns:a16="http://schemas.microsoft.com/office/drawing/2014/main" id="{04C94095-3D73-4A64-BD4D-09B5D8895873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Мера F1 99,30 %</a:t>
            </a:r>
            <a:r>
              <a:t> — баланс точности и полноты</a:t>
            </a:r>
          </a:p>
        </p:txBody>
      </p:sp>
      <p:sp>
        <p:nvSpPr>
          <p:cNvPr id="31" name="Метрика Верные ответы">
            <a:extLst>
              <a:ext uri="{FF2B5EF4-FFF2-40B4-BE49-F238E27FC236}">
                <a16:creationId xmlns:a16="http://schemas.microsoft.com/office/drawing/2014/main" id="{4A380A0F-53B4-448D-A4F2-EB3E8D1C4469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Верные ответы 99,61 %</a:t>
            </a:r>
            <a:r>
              <a:t> — по обоим классам</a:t>
            </a:r>
          </a:p>
        </p:txBody>
      </p:sp>
      <p:sp>
        <p:nvSpPr>
          <p:cNvPr id="32" name="Метрика Средняя точность">
            <a:extLst>
              <a:ext uri="{FF2B5EF4-FFF2-40B4-BE49-F238E27FC236}">
                <a16:creationId xmlns:a16="http://schemas.microsoft.com/office/drawing/2014/main" id="{B8181717-0F00-4305-A5FA-A8A494EA81AD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Средняя точность 99,72 %</a:t>
            </a:r>
            <a:r>
              <a:t> —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a16:creationId xmlns:a16="http://schemas.microsoft.com/office/drawing/2014/main" id="{9531F666-EDA0-49C4-A7B2-939E026759F9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a16:creationId xmlns:a16="http://schemas.microsoft.com/office/drawing/2014/main" id="{3A0111E8-A102-45FD-8C56-82D6964C5D10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Дообучались ранее полученные веса: средняя точность после первой эпохи — 98,97 %. На тесте 13 ошибок из 3 337 кадров. Похожие кадры и использование теста при разработке могут завышать оценку.</a:t>
            </a:r>
          </a:p>
        </p:txBody>
      </p:sp>
      <p:sp>
        <p:nvSpPr>
          <p:cNvPr id="35" name="Номер">
            <a:extLst>
              <a:ext uri="{FF2B5EF4-FFF2-40B4-BE49-F238E27FC236}">
                <a16:creationId xmlns:a16="http://schemas.microsoft.com/office/drawing/2014/main" id="{116D7FF0-53F5-4134-BD55-9CDE1DAB906B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5" name="Заголовок">
            <a:extLst>
              <a:ext uri="{FF2B5EF4-FFF2-40B4-BE49-F238E27FC236}">
                <ns2:creationId id="{524E1BD4-AE36-4ADC-B18A-EBE7B77FFDA9}"/>
              </a:ext>
            </a:extLst>
          </p:cNvPr>
          <p:cNvSpPr>
            <a:spLocks noGrp="1"/>
          </p:cNvSpPr>
          <p:nvPr/>
        </p:nvSpPr>
        <p:spPr>
          <a:xfrm>
            <a:off x="428625" y="47625"/>
            <a:ext cx="828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36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6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Проверка модели на кадрах принтера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ns2:creationId id="{1F2E1EF0-8550-49C2-9032-8661C75575F0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</a:t>
            </a:r>
          </a:p>
        </p:txBody>
      </p:sp>
      <p:sp>
        <p:nvSpPr>
          <p:cNvPr id="3" name="Валидация">
            <a:extLst>
              <a:ext uri="{FF2B5EF4-FFF2-40B4-BE49-F238E27FC236}">
                <ns2:creationId id="{5805B4B7-4ECA-4C50-8B5E-758D6B114DCA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на кадрах принтера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AB6F657C-B274-4113-9D8C-9519FBCC0039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ns3:chart r:id="rIdValidation2"/>
          </a:graphicData>
        </a:graphic>
      </p:graphicFrame>
      <p:graphicFrame>
        <p:nvGraphicFramePr>
          <p:cNvPr id="5" name="Chart">
            <a:extLst>
              <a:ext uri="{FF2B5EF4-FFF2-40B4-BE49-F238E27FC236}">
                <ns2:creationId id="{AE360003-6B64-49B2-8478-74A75BC4164A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ns3:chart r:id="rIdValidation3"/>
          </a:graphicData>
        </a:graphic>
      </p:graphicFrame>
      <p:sp>
        <p:nvSpPr>
          <p:cNvPr id="6" name="Матрица ошибок">
            <a:extLst>
              <a:ext uri="{FF2B5EF4-FFF2-40B4-BE49-F238E27FC236}">
                <ns2:creationId id="{83A45998-BA7C-428D-BBA9-A585A7D514B3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валидации</a:t>
            </a:r>
          </a:p>
        </p:txBody>
      </p:sp>
      <p:sp>
        <p:nvSpPr>
          <p:cNvPr id="7" name="Порог">
            <a:extLst>
              <a:ext uri="{FF2B5EF4-FFF2-40B4-BE49-F238E27FC236}">
                <ns2:creationId id="{B450B794-B24E-4F21-83F1-FCC995971C94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139 кадров принтера; порог 0,3</a:t>
            </a:r>
          </a:p>
        </p:txBody>
      </p:sp>
      <p:sp>
        <p:nvSpPr>
          <p:cNvPr id="8" name="Предсказание">
            <a:extLst>
              <a:ext uri="{FF2B5EF4-FFF2-40B4-BE49-F238E27FC236}">
                <ns2:creationId id="{A8DF5A85-E7C3-4FED-831E-6CE6395C15B3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ns2:creationId id="{1D5AABC3-76A8-4A43-8129-854808F1B0C5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ns2:creationId id="{F68DB5DA-8EF7-4F58-B55B-2DAFE92C56B0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ns2:creationId id="{D1E37B1A-1802-473A-A196-2869A0E05482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ns2:creationId id="{9087B5D8-FF28-446C-B114-AA0DE00B07C5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ns2:creationId id="{9250A1B2-394D-4FA3-BE9C-462355A3C468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ns2:creationId id="{3D6507F9-B07C-4886-B4F9-98A2836251CE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ns2:creationId id="{E0D26C62-4643-4B3B-A44D-BA9062B93ED6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128</a:t>
            </a:r>
          </a:p>
        </p:txBody>
      </p:sp>
      <p:sp>
        <p:nvSpPr>
          <p:cNvPr id="16" name="Смысл TN">
            <a:extLst>
              <a:ext uri="{FF2B5EF4-FFF2-40B4-BE49-F238E27FC236}">
                <ns2:creationId id="{B7F15119-C322-42F4-947A-4902E8AD1DB9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ns2:creationId id="{ECE91DA9-B792-4385-842F-68DFC4C6C7C6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ns2:creationId id="{447985AC-FBA0-4076-A74D-0B98A99F5825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0</a:t>
            </a:r>
          </a:p>
        </p:txBody>
      </p:sp>
      <p:sp>
        <p:nvSpPr>
          <p:cNvPr id="19" name="Смысл FP">
            <a:extLst>
              <a:ext uri="{FF2B5EF4-FFF2-40B4-BE49-F238E27FC236}">
                <ns2:creationId id="{439F640B-AD8E-461A-BC76-D42A81E37600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ns2:creationId id="{A00766DC-2746-4FDA-95BC-EDC3E02F5A3C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ns2:creationId id="{C1A214A0-C337-4796-8973-0898A69E444E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  <p:sp>
        <p:nvSpPr>
          <p:cNvPr id="22" name="Смысл FN">
            <a:extLst>
              <a:ext uri="{FF2B5EF4-FFF2-40B4-BE49-F238E27FC236}">
                <ns2:creationId id="{ED11A2DC-C6C8-49EB-8089-0E94FD2561E6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ns2:creationId id="{E24B5905-FA2B-46A3-B8F1-8A1F1AF0A8E1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ns2:creationId id="{3E3E8538-22C7-476D-8DEC-BF0DCEFAAAF7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  <p:sp>
        <p:nvSpPr>
          <p:cNvPr id="25" name="Смысл TP">
            <a:extLst>
              <a:ext uri="{FF2B5EF4-FFF2-40B4-BE49-F238E27FC236}">
                <ns2:creationId id="{8AEE966F-F31E-44F5-A0C7-332770309C5F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ns2:creationId id="{5053F392-DF20-45FE-A748-E68A4FAB6929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валидации принтера</a:t>
            </a:r>
          </a:p>
        </p:txBody>
      </p:sp>
      <p:sp>
        <p:nvSpPr>
          <p:cNvPr id="27" name="Рамка метрик">
            <a:extLst>
              <a:ext uri="{FF2B5EF4-FFF2-40B4-BE49-F238E27FC236}">
                <ns2:creationId id="{29508ADC-71C8-435A-983A-D29C88E70483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466850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28" name="Основной результат">
            <a:extLst>
              <a:ext uri="{FF2B5EF4-FFF2-40B4-BE49-F238E27FC236}">
                <ns2:creationId id="{586BF904-CA4C-4B32-9E28-A22D7644F680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8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28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54,55 %</a:t>
            </a:r>
          </a:p>
        </p:txBody>
      </p:sp>
      <p:sp>
        <p:nvSpPr>
          <p:cNvPr id="29" name="Обнаружения">
            <a:extLst>
              <a:ext uri="{FF2B5EF4-FFF2-40B4-BE49-F238E27FC236}">
                <ns2:creationId id="{8C51B911-8848-4C03-9F85-D374049CBDE4}"/>
              </a:ext>
            </a:extLst>
          </p:cNvPr>
          <p:cNvSpPr>
            <a:spLocks noGrp="1"/>
          </p:cNvSpPr>
          <p:nvPr/>
        </p:nvSpPr>
        <p:spPr>
          <a:xfrm>
            <a:off x="4848225" y="4229100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Обнаружены 6 из 11; пропущены 5</a:t>
            </a:r>
          </a:p>
        </p:txBody>
      </p:sp>
      <p:sp>
        <p:nvSpPr>
          <p:cNvPr id="30" name="Ложные тревоги">
            <a:extLst>
              <a:ext uri="{FF2B5EF4-FFF2-40B4-BE49-F238E27FC236}">
                <ns2:creationId id="{5602CE4D-EB63-431E-A224-D8BACDBFAC07}"/>
              </a:ext>
            </a:extLst>
          </p:cNvPr>
          <p:cNvSpPr>
            <a:spLocks noGrp="1"/>
          </p:cNvSpPr>
          <p:nvPr/>
        </p:nvSpPr>
        <p:spPr>
          <a:xfrm>
            <a:off x="4848225" y="4524375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тревоги: 0 из 128</a:t>
            </a:r>
          </a:p>
        </p:txBody>
      </p:sp>
      <p:sp>
        <p:nvSpPr>
          <p:cNvPr id="31" name="F1">
            <a:extLst>
              <a:ext uri="{FF2B5EF4-FFF2-40B4-BE49-F238E27FC236}">
                <ns2:creationId id="{8FC21DD1-ADC2-44D1-8999-39002DF23B74}"/>
              </a:ext>
            </a:extLst>
          </p:cNvPr>
          <p:cNvSpPr>
            <a:spLocks noGrp="1"/>
          </p:cNvSpPr>
          <p:nvPr/>
        </p:nvSpPr>
        <p:spPr>
          <a:xfrm>
            <a:off x="4848225" y="4819650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Мера F1: 70,59 %</a:t>
            </a:r>
          </a:p>
        </p:txBody>
      </p:sp>
      <p:sp>
        <p:nvSpPr>
          <p:cNvPr id="32" name="Смысл проверки">
            <a:extLst>
              <a:ext uri="{FF2B5EF4-FFF2-40B4-BE49-F238E27FC236}">
                <ns2:creationId id="{EC93E8F1-01FC-4795-B212-CB6C70019654}"/>
              </a:ext>
            </a:extLst>
          </p:cNvPr>
          <p:cNvSpPr>
            <a:spLocks noGrp="1"/>
          </p:cNvSpPr>
          <p:nvPr/>
        </p:nvSpPr>
        <p:spPr>
          <a:xfrm>
            <a:off x="4743450" y="5267325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выбрана 19-я эпоха</a:t>
            </a:r>
          </a:p>
        </p:txBody>
      </p:sp>
      <p:sp>
        <p:nvSpPr>
          <p:cNvPr id="33" name="Объяснение">
            <a:extLst>
              <a:ext uri="{FF2B5EF4-FFF2-40B4-BE49-F238E27FC236}">
                <ns2:creationId id="{5D1C4B12-BF0C-432A-BA57-03911004CD12}"/>
              </a:ext>
            </a:extLst>
          </p:cNvPr>
          <p:cNvSpPr>
            <a:spLocks noGrp="1"/>
          </p:cNvSpPr>
          <p:nvPr/>
        </p:nvSpPr>
        <p:spPr>
          <a:xfrm>
            <a:off x="4743450" y="5610225"/>
            <a:ext cx="40386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При пределе ложных тревог 1 % это максимальная полнота. Среди эпох с таким результатом у 19-й выше средняя точность: 94,63 %. Выборку нужно расширить новыми сессиями.</a:t>
            </a:r>
          </a:p>
        </p:txBody>
      </p:sp>
      <p:sp>
        <p:nvSpPr>
          <p:cNvPr id="34" name="Номер">
            <a:extLst>
              <a:ext uri="{FF2B5EF4-FFF2-40B4-BE49-F238E27FC236}">
                <ns2:creationId id="{C2F32F25-0428-4196-95E5-6CFBAD5CB29F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ns5:creationId val="211434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11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1483</Words>
  <Application>Microsoft Office PowerPoint</Application>
  <DocSecurity>0</DocSecurity>
  <PresentationFormat>Экран (4:3)</PresentationFormat>
  <Paragraphs>153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Презентация PowerPoint</vt:lpstr>
      <vt:lpstr>Презентация PowerPoint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31</cp:revision>
  <dcterms:created xsi:type="dcterms:W3CDTF">2026-10-07T12:47:26Z</dcterms:created>
  <dcterms:modified xsi:type="dcterms:W3CDTF">2026-10-08T22:48:58Z</dcterms:modified>
</cp:coreProperties>
</file>