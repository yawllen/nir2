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6a378e33ff4524" /><Relationship Type="http://schemas.openxmlformats.org/officeDocument/2006/relationships/extended-properties" Target="/docProps/app.xml" Id="R021cc2319c8d475d" /><Relationship Type="http://schemas.openxmlformats.org/officeDocument/2006/relationships/officeDocument" Target="/ppt/presentation.xml" Id="R86c02aad6f204c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152c321294426b"/>
  </p:sldMasterIdLst>
  <p:notesMasterIdLst>
    <p:notesMasterId xmlns:r="http://schemas.openxmlformats.org/officeDocument/2006/relationships" r:id="Ra80650f269024b79"/>
  </p:notesMasterIdLst>
  <p:sldIdLst>
    <p:sldId xmlns:r="http://schemas.openxmlformats.org/officeDocument/2006/relationships" id="256" r:id="R5c93e8f604a94af0"/>
    <p:sldId xmlns:r="http://schemas.openxmlformats.org/officeDocument/2006/relationships" id="257" r:id="Ra2178e6b288c498a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688057b604474" /><Relationship Type="http://schemas.openxmlformats.org/officeDocument/2006/relationships/slideMaster" Target="/ppt/slideMasters/slideMaster1.xml" Id="R22152c321294426b" /><Relationship Type="http://schemas.openxmlformats.org/officeDocument/2006/relationships/notesMaster" Target="/ppt/notesMasters/notesMaster1.xml" Id="Ra80650f269024b79" /><Relationship Type="http://schemas.openxmlformats.org/officeDocument/2006/relationships/presProps" Target="/ppt/presProps.xml" Id="R7820546ba12d426e" /><Relationship Type="http://schemas.openxmlformats.org/officeDocument/2006/relationships/tableStyles" Target="/ppt/tableStyles.xml" Id="R3181943b70d84aa0" /><Relationship Type="http://schemas.openxmlformats.org/officeDocument/2006/relationships/slide" Target="/ppt/slides/slide1.xml" Id="R5c93e8f604a94af0" /><Relationship Type="http://schemas.openxmlformats.org/officeDocument/2006/relationships/slide" Target="/ppt/slides/slide2.xml" Id="Ra2178e6b288c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5172973d8948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36e633bb0c4f7f" /><Relationship Type="http://schemas.openxmlformats.org/officeDocument/2006/relationships/notesMaster" Target="/ppt/notesMasters/notesMaster1.xml" Id="R975ad80c518a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8f3600be0141f4" /><Relationship Type="http://schemas.openxmlformats.org/officeDocument/2006/relationships/notesMaster" Target="/ppt/notesMasters/notesMaster1.xml" Id="R8edf40ce689043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e5813a73545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0b97b4f6849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83000dbe849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3621c79fd4b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f0247e9894d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d5333b52e4f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8BACCE-6FC4-44AF-8D56-6465A44BC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62E389-7D65-4FD7-90AF-4CDF92DDDC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57ABEF-3A9B-41F1-A97A-BC6D65702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865FCD-F9AB-46B1-BA92-2CF3B90D8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C7E80A-D87F-426F-9742-248A6F6760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B3429C-58CF-4F00-9981-9D46C5600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7053FE-EAA3-4250-9A9B-FA76F10B14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2AC050-A9E0-4150-955E-26874501BA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18C03E-71C3-4A32-84C0-BE5A754C4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71AB5B-EE35-4CBB-8A5A-7D379DC756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2cd3b89c8a47f5" /><Relationship Type="http://schemas.openxmlformats.org/officeDocument/2006/relationships/slideLayout" Target="/ppt/slideLayouts/slideLayout1.xml" Id="Re24bcc15527547d8" /><Relationship Type="http://schemas.openxmlformats.org/officeDocument/2006/relationships/slideLayout" Target="/ppt/slideLayouts/slideLayout2.xml" Id="Rc3a4a291a6fb4a3c" /><Relationship Type="http://schemas.openxmlformats.org/officeDocument/2006/relationships/slideLayout" Target="/ppt/slideLayouts/slideLayout3.xml" Id="R84bfebc7cfb24103" /><Relationship Type="http://schemas.openxmlformats.org/officeDocument/2006/relationships/slideLayout" Target="/ppt/slideLayouts/slideLayout4.xml" Id="Radfb7176bbc648a4" /><Relationship Type="http://schemas.openxmlformats.org/officeDocument/2006/relationships/slideLayout" Target="/ppt/slideLayouts/slideLayout5.xml" Id="R3058566a1b374519" /><Relationship Type="http://schemas.openxmlformats.org/officeDocument/2006/relationships/slideLayout" Target="/ppt/slideLayouts/slideLayout6.xml" Id="R75af1396be5345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bcc15527547d8"/>
    <p:sldLayoutId xmlns:r="http://schemas.openxmlformats.org/officeDocument/2006/relationships" id="2147483650" r:id="Rc3a4a291a6fb4a3c"/>
    <p:sldLayoutId xmlns:r="http://schemas.openxmlformats.org/officeDocument/2006/relationships" id="2147483651" r:id="R84bfebc7cfb24103"/>
    <p:sldLayoutId xmlns:r="http://schemas.openxmlformats.org/officeDocument/2006/relationships" id="2147483652" r:id="Radfb7176bbc648a4"/>
    <p:sldLayoutId xmlns:r="http://schemas.openxmlformats.org/officeDocument/2006/relationships" id="2147483653" r:id="R3058566a1b374519"/>
    <p:sldLayoutId xmlns:r="http://schemas.openxmlformats.org/officeDocument/2006/relationships" id="2147483654" r:id="R75af1396be53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9584917154861" /><Relationship Type="http://schemas.openxmlformats.org/officeDocument/2006/relationships/chart" Target="/ppt/slides/charts/chart1.xml" Id="R0329fea187e144c1" /><Relationship Type="http://schemas.openxmlformats.org/officeDocument/2006/relationships/chart" Target="/ppt/slides/charts/chart2.xml" Id="R640173151870422b" /><Relationship Type="http://schemas.openxmlformats.org/officeDocument/2006/relationships/notesSlide" Target="/ppt/notesSlides/notesSlide1.xml" Id="R2b3e1c3dd8b3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58998e02f456d" /><Relationship Type="http://schemas.openxmlformats.org/officeDocument/2006/relationships/chart" Target="/ppt/slides/charts/chart3.xml" Id="Raa1df8564cda4f30" /><Relationship Type="http://schemas.openxmlformats.org/officeDocument/2006/relationships/notesSlide" Target="/ppt/notesSlides/notesSlide2.xml" Id="R9ca206489524479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Функция потерь при обучении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0.000</c:formatCode>
                <c:ptCount val="2"/>
                <c:pt idx="0">
                  <c:v>0</c:v>
                </c:pt>
                <c:pt idx="1">
                  <c:v>0.002217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0.000</c:formatCode>
                <c:ptCount val="2"/>
                <c:pt idx="0">
                  <c:v>0.002217</c:v>
                </c:pt>
                <c:pt idx="1">
                  <c:v>0.002217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0,0022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.0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0.000</c:formatCode>
                <c:ptCount val="1"/>
                <c:pt idx="0">
                  <c:v>0.002217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0.000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Функция потерь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0.002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Средняя точность на валидации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0.0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98.5</c:v>
                </c:pt>
                <c:pt idx="1">
                  <c:v>99.245392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99.245392</c:v>
                </c:pt>
                <c:pt idx="1">
                  <c:v>99.245392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99,25 %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99.245392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0.0</c:formatCode>
                <c:ptCount val="1"/>
                <c:pt idx="0">
                  <c:v>98.5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AP,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Полнота обнаружения по эпохам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'Chart Data'!$B$2:$B$21</c:f>
              <c:numCache>
                <c:formatCode>0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</c:v>
                </c:pt>
                <c:pt idx="7">
                  <c:v>45.454545</c:v>
                </c:pt>
                <c:pt idx="8">
                  <c:v>72.727273</c:v>
                </c:pt>
                <c:pt idx="9">
                  <c:v>45.454545</c:v>
                </c:pt>
                <c:pt idx="10">
                  <c:v>54.545455</c:v>
                </c:pt>
                <c:pt idx="11">
                  <c:v>45.454545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</c:v>
                </c:pt>
                <c:pt idx="15">
                  <c:v>45.454545</c:v>
                </c:pt>
                <c:pt idx="16">
                  <c:v>54.545455</c:v>
                </c:pt>
                <c:pt idx="17">
                  <c:v>54.545455</c:v>
                </c:pt>
                <c:pt idx="18">
                  <c:v>54.545455</c:v>
                </c:pt>
                <c:pt idx="19">
                  <c:v>54.545455</c:v>
                </c:pt>
              </c:numCache>
            </c:numRef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54.545455</c:v>
                </c:pt>
              </c:numCache>
            </c:numRef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19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54.545455</c:v>
                </c:pt>
                <c:pt idx="1">
                  <c:v>54.545455</c:v>
                </c:pt>
              </c:numCache>
            </c:numRef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54,55 %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Data'!$H$2:$H$2</c:f>
              <c:numCache>
                <c:formatCode>0</c:formatCode>
                <c:ptCount val="1"/>
                <c:pt idx="0">
                  <c:v>54.545455</c:v>
                </c:pt>
              </c:numCache>
            </c:numRef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Data'!$I$2:$I$2</c:f>
              <c:numCache>
                <c:formatCode>General</c:formatCode>
                <c:ptCount val="1"/>
                <c:pt idx="0">
                  <c:v>19</c:v>
                </c:pt>
              </c:numCache>
            </c:numRef>
          </c:xVal>
          <c:yVal>
            <c:numRef>
              <c:f>'Chart Data'!$J$2:$J$2</c:f>
              <c:numCache>
                <c:formatCode>0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Полнота,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DB898-E9E7-45F0-A346-D276BEB2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Результаты обучения и тестирования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96716-41B6-46CF-B128-3ED0710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Дообучение ResNet18 на общей выборке, 20 эпох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E77ED-80E2-46D0-8426-84FE91B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260B2-1163-4A0E-9482-6DDCF5F6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96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rPr>
              <a:t>19-я эпоха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EBB1F-C543-4EEA-A956-21E51D67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1D14F-AF70-4405-B960-22FEE1F2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67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9E13EDF-5090-497C-BEF3-65907A5764D0}"/>
              </a:ext>
            </a:extLst>
          </p:cNvPr>
          <p:cNvGraphicFramePr/>
          <p:nvPr/>
        </p:nvGraphicFramePr>
        <p:xfrm>
          <a:off xmlns:a="http://schemas.openxmlformats.org/drawingml/2006/main" x="381000" y="1304925"/>
          <a:ext xmlns:a="http://schemas.openxmlformats.org/drawingml/2006/main" cx="4048125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29fea187e144c1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159A92F-A1BE-4302-AC01-8D0F1C1D5D00}"/>
              </a:ext>
            </a:extLst>
          </p:cNvPr>
          <p:cNvGraphicFramePr/>
          <p:nvPr/>
        </p:nvGraphicFramePr>
        <p:xfrm>
          <a:off xmlns:a="http://schemas.openxmlformats.org/drawingml/2006/main" x="4714875" y="1304925"/>
          <a:ext xmlns:a="http://schemas.openxmlformats.org/drawingml/2006/main" cx="4048125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0173151870422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B65B4-0FF0-4D00-82E6-A1B2F30A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719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Рис. 4 – Функция потерь по эпохам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8700C-4AAC-4A2E-8E26-B776660B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719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Рис. 5 – Средняя точность AP на валидации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8D0EC-874C-46B2-8CCD-B32A6019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Таблица 1 – Результаты на тестовой выборке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C07D9-CC4B-4A3C-9941-B1756828C0EA}"/>
              </a:ext>
            </a:extLst>
          </p:cNvPr>
          <p:cNvGraphicFramePr/>
          <p:nvPr/>
        </p:nvGraphicFramePr>
        <p:xfrm>
          <a:off xmlns:a="http://schemas.openxmlformats.org/drawingml/2006/main" x="381000" y="4562475"/>
          <a:ext xmlns:a="http://schemas.openxmlformats.org/drawingml/2006/main" cx="8382000" cy="876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438150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Точность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(precision)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Полнота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(recall)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Мера F1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Доля верных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ответов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Средняя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точность AP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</a:tr>
              <a:tr h="438150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98,71 %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99,89 %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99,30 %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99,61 %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99,72 %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182A4-A79B-4520-8149-E49773C2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34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rPr>
              <a:t>13 ошибок на 3 337 тестовых кадрах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71D64-1ED8-448A-9688-6A2DA47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86475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Похожие кадры и использование теста при разработке могут завышать оценку.</a:t>
            </a:r>
          </a:p>
        </p:txBody>
      </p:sp>
    </p:spTree>
    <p:extLst>
      <p:ext uri="{BB962C8B-B14F-4D97-AF65-F5344CB8AC3E}">
        <p14:creationId xmlns:p14="http://schemas.microsoft.com/office/powerpoint/2010/main" val="570430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2E67C-9068-4CE1-85B4-7644BA5E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Проверка на экспериментальном принтере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1470F-4EA8-4264-8872-7A51745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Порог классификации 0,3. Выбор весов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8695B-AA51-4638-8C9B-C21DF6BC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72FF8-C0D8-4977-A0C1-DA8BEE15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96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rPr>
              <a:t>19-я эпоха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9C7F0-AF54-4F20-91B6-870354DA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768D7-F3A0-41A1-81A9-2DDB79DA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67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695DA74-C241-4DE9-A483-861BA8C7DD1F}"/>
              </a:ext>
            </a:extLst>
          </p:cNvPr>
          <p:cNvGraphicFramePr/>
          <p:nvPr/>
        </p:nvGraphicFramePr>
        <p:xfrm>
          <a:off xmlns:a="http://schemas.openxmlformats.org/drawingml/2006/main" x="381000" y="1333500"/>
          <a:ext xmlns:a="http://schemas.openxmlformats.org/drawingml/2006/main" cx="4143375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1df8564cda4f3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630F8-BD19-429C-B899-4D64E128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671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Рис. 6 – Полнота обнаружения на кадрах принтера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34CB3-29E8-47AA-80E0-0AE08D2F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28750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Таблица 2 – Сравнение эпох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885F8-E026-42AC-BB75-B95F91F93ADD}"/>
              </a:ext>
            </a:extLst>
          </p:cNvPr>
          <p:cNvGraphicFramePr/>
          <p:nvPr/>
        </p:nvGraphicFramePr>
        <p:xfrm>
          <a:off xmlns:a="http://schemas.openxmlformats.org/drawingml/2006/main" x="4762500" y="1838325"/>
          <a:ext xmlns:a="http://schemas.openxmlformats.org/drawingml/2006/main" cx="40005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8175"/>
                <a:gridCol w="1057275"/>
                <a:gridCol w="1257300"/>
                <a:gridCol w="1047750"/>
              </a:tblGrid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Эпоха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Полнота,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Ложные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тревоги, 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AP, 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72,73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7,03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75,12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92,31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94,63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92,45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6302B-B42B-45EA-B66C-EEE6C79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91025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9E130-25EC-4B14-ADA5-4B934303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rPr>
              <a:t>6 из 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28AE6-18A9-434B-AA2C-C0FA4172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72000"/>
            <a:ext cx="6257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дефектных кадров обнаружены</a:t>
            </a:r>
          </a:p>
          <a:p xmlns:a="http://schemas.openxmlformats.org/drawingml/2006/main">
            <a: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5 кадров пропущены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281F1-60FD-4C59-A5AE-B7AA3480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00675"/>
            <a:ext cx="836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Выбрана 19-я эпоха: среди эпох 18–20 при одинаковой полноте</a:t>
            </a:r>
          </a:p>
          <a:p xmlns:a="http://schemas.openxmlformats.org/drawingml/2006/main">
            <a: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и отсутствии ложных тревог получено наибольшее значение 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14D59-3535-48EB-90E5-267B91CA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8267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Ложные тревоги допустимы в пределах 1 %. Проверка на 11 дефектных кадрах</a:t>
            </a:r>
          </a:p>
          <a:p xmlns:a="http://schemas.openxmlformats.org/drawingml/2006/main">
            <a: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предварительная. Требуется расширение независимой выборки.</a:t>
            </a:r>
          </a:p>
        </p:txBody>
      </p:sp>
    </p:spTree>
    <p:extLst>
      <p:ext uri="{BB962C8B-B14F-4D97-AF65-F5344CB8AC3E}">
        <p14:creationId xmlns:p14="http://schemas.microsoft.com/office/powerpoint/2010/main" val="1421427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2026-10-09T08:09:28.5400000Z</dcterms:created>
  <dcterms:modified xsi:type="dcterms:W3CDTF">2026-10-09T08:09:28.5400000Z</dcterms:modified>
</coreProperties>
</file>