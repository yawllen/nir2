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77f9ed3fb94c25" /><Relationship Type="http://schemas.openxmlformats.org/officeDocument/2006/relationships/extended-properties" Target="/docProps/app.xml" Id="Rc1915ba0e9304cd2" /><Relationship Type="http://schemas.openxmlformats.org/officeDocument/2006/relationships/officeDocument" Target="/ppt/presentation.xml" Id="Refd4cd85f39446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35282027d3451b"/>
  </p:sldMasterIdLst>
  <p:notesMasterIdLst>
    <p:notesMasterId xmlns:r="http://schemas.openxmlformats.org/officeDocument/2006/relationships" r:id="R5862040b7ae54ccd"/>
  </p:notesMasterIdLst>
  <p:sldIdLst>
    <p:sldId xmlns:r="http://schemas.openxmlformats.org/officeDocument/2006/relationships" id="256" r:id="Rc8a7b98b2f2c4c92"/>
    <p:sldId xmlns:r="http://schemas.openxmlformats.org/officeDocument/2006/relationships" id="257" r:id="Radef51f9246f48db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e9bbd90334447f" /><Relationship Type="http://schemas.openxmlformats.org/officeDocument/2006/relationships/slideMaster" Target="/ppt/slideMasters/slideMaster1.xml" Id="R4e35282027d3451b" /><Relationship Type="http://schemas.openxmlformats.org/officeDocument/2006/relationships/notesMaster" Target="/ppt/notesMasters/notesMaster1.xml" Id="R5862040b7ae54ccd" /><Relationship Type="http://schemas.openxmlformats.org/officeDocument/2006/relationships/presProps" Target="/ppt/presProps.xml" Id="R053fccb71dda460a" /><Relationship Type="http://schemas.openxmlformats.org/officeDocument/2006/relationships/tableStyles" Target="/ppt/tableStyles.xml" Id="R57568bedf9294473" /><Relationship Type="http://schemas.openxmlformats.org/officeDocument/2006/relationships/slide" Target="/ppt/slides/slide1.xml" Id="Rc8a7b98b2f2c4c92" /><Relationship Type="http://schemas.openxmlformats.org/officeDocument/2006/relationships/slide" Target="/ppt/slides/slide2.xml" Id="Radef51f9246f48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a66089f5b642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aa481d213d499f" /><Relationship Type="http://schemas.openxmlformats.org/officeDocument/2006/relationships/notesMaster" Target="/ppt/notesMasters/notesMaster1.xml" Id="R68bdfc94da3c42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5c47ef059245bd" /><Relationship Type="http://schemas.openxmlformats.org/officeDocument/2006/relationships/notesMaster" Target="/ppt/notesMasters/notesMaster1.xml" Id="Rd12b360ccd2c4f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147e2f0144b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536d7708f4d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f90db05edb44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e33783dfd4f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c8b612c9846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e3380c24ac43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4DD8FB-4E37-4C7C-A821-1F0343A84D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C17D3A-C53F-440B-95F8-DF49C00E7A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E24FBE-E6C1-4F40-AF63-3D13F2329A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76CBAD-F83C-46BC-85FB-00849258DB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34EC06-E63F-4E46-A0A5-00A21D6F3E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1CDAE0-C0DA-426C-B1AC-F39C7B0357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85BC59-9C07-440C-B4E6-8727F2845D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31B38C-7D7B-43A0-95B9-7D7F423F02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5D45C9-9DB9-403D-AEB4-9B18F98016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53150F-3276-4849-B48C-E30D615A33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f9a92854d045b1" /><Relationship Type="http://schemas.openxmlformats.org/officeDocument/2006/relationships/slideLayout" Target="/ppt/slideLayouts/slideLayout1.xml" Id="Rc291787510ad427d" /><Relationship Type="http://schemas.openxmlformats.org/officeDocument/2006/relationships/slideLayout" Target="/ppt/slideLayouts/slideLayout2.xml" Id="R0aaaeabc1ece4dbe" /><Relationship Type="http://schemas.openxmlformats.org/officeDocument/2006/relationships/slideLayout" Target="/ppt/slideLayouts/slideLayout3.xml" Id="R783e2c2a4f184ddb" /><Relationship Type="http://schemas.openxmlformats.org/officeDocument/2006/relationships/slideLayout" Target="/ppt/slideLayouts/slideLayout4.xml" Id="R3d7d92c6c4654736" /><Relationship Type="http://schemas.openxmlformats.org/officeDocument/2006/relationships/slideLayout" Target="/ppt/slideLayouts/slideLayout5.xml" Id="Ra56c246af7264f49" /><Relationship Type="http://schemas.openxmlformats.org/officeDocument/2006/relationships/slideLayout" Target="/ppt/slideLayouts/slideLayout6.xml" Id="R0f805655b16d40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91787510ad427d"/>
    <p:sldLayoutId xmlns:r="http://schemas.openxmlformats.org/officeDocument/2006/relationships" id="2147483650" r:id="R0aaaeabc1ece4dbe"/>
    <p:sldLayoutId xmlns:r="http://schemas.openxmlformats.org/officeDocument/2006/relationships" id="2147483651" r:id="R783e2c2a4f184ddb"/>
    <p:sldLayoutId xmlns:r="http://schemas.openxmlformats.org/officeDocument/2006/relationships" id="2147483652" r:id="R3d7d92c6c4654736"/>
    <p:sldLayoutId xmlns:r="http://schemas.openxmlformats.org/officeDocument/2006/relationships" id="2147483653" r:id="Ra56c246af7264f49"/>
    <p:sldLayoutId xmlns:r="http://schemas.openxmlformats.org/officeDocument/2006/relationships" id="2147483654" r:id="R0f805655b16d40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f39b9232d449dc" /><Relationship Type="http://schemas.openxmlformats.org/officeDocument/2006/relationships/chart" Target="/ppt/slides/charts/chart1.xml" Id="R75c7878d2fb0404e" /><Relationship Type="http://schemas.openxmlformats.org/officeDocument/2006/relationships/chart" Target="/ppt/slides/charts/chart2.xml" Id="R62b734565ec547fa" /><Relationship Type="http://schemas.openxmlformats.org/officeDocument/2006/relationships/notesSlide" Target="/ppt/notesSlides/notesSlide1.xml" Id="R4f6b8261ecaa40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a4beadc05649d1" /><Relationship Type="http://schemas.openxmlformats.org/officeDocument/2006/relationships/chart" Target="/ppt/slides/charts/chart3.xml" Id="R247f957a79b04d39" /><Relationship Type="http://schemas.openxmlformats.org/officeDocument/2006/relationships/notesSlide" Target="/ppt/notesSlides/notesSlide2.xml" Id="R02cd406ff7c84dd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Функция потерь при обучении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22C38"/>
              </a:solidFill>
              <a:latin typeface="Times New Roman"/>
              <a:ea typeface="Times New Roman"/>
              <a:cs typeface="Times New Roman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Метрика по эпохам</c:v>
          </c:tx>
          <c:spPr>
            <a:ln xmlns:a="http://schemas.openxmlformats.org/drawingml/2006/main" w="23813">
              <a:solidFill>
                <a:srgbClr val="2467A6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2467A6"/>
              </a:solidFill>
            </c:spPr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0.000</c:formatCode>
                <c:ptCount val="20"/>
                <c:pt idx="0">
                  <c:v>0.005552</c:v>
                </c:pt>
                <c:pt idx="1">
                  <c:v>0.00241</c:v>
                </c:pt>
                <c:pt idx="2">
                  <c:v>0.009237</c:v>
                </c:pt>
                <c:pt idx="3">
                  <c:v>0.00326</c:v>
                </c:pt>
                <c:pt idx="4">
                  <c:v>0.002323</c:v>
                </c:pt>
                <c:pt idx="5">
                  <c:v>0.001774</c:v>
                </c:pt>
                <c:pt idx="6">
                  <c:v>0.001328</c:v>
                </c:pt>
                <c:pt idx="7">
                  <c:v>0.000871</c:v>
                </c:pt>
                <c:pt idx="8">
                  <c:v>0.001206</c:v>
                </c:pt>
                <c:pt idx="9">
                  <c:v>0.004558</c:v>
                </c:pt>
                <c:pt idx="10">
                  <c:v>0.001092</c:v>
                </c:pt>
                <c:pt idx="11">
                  <c:v>0.003142</c:v>
                </c:pt>
                <c:pt idx="12">
                  <c:v>0.001619</c:v>
                </c:pt>
                <c:pt idx="13">
                  <c:v>0.001099</c:v>
                </c:pt>
                <c:pt idx="14">
                  <c:v>0.000973</c:v>
                </c:pt>
                <c:pt idx="15">
                  <c:v>0.000976</c:v>
                </c:pt>
                <c:pt idx="16">
                  <c:v>0.001178</c:v>
                </c:pt>
                <c:pt idx="17">
                  <c:v>0.001012</c:v>
                </c:pt>
                <c:pt idx="18">
                  <c:v>0.002217</c:v>
                </c:pt>
                <c:pt idx="19">
                  <c:v>0.002233</c:v>
                </c:pt>
              </c:numCache>
            </c:numRef>
          </c:yVal>
        </c:ser>
        <c:ser>
          <c:idx val="1"/>
          <c:order val="1"/>
          <c:tx>
            <c:v>Проекция на ось эпох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19</c:v>
                </c:pt>
                <c:pt idx="1">
                  <c:v>19</c:v>
                </c:pt>
              </c:numCache>
            </c:numRef>
          </c:xVal>
          <c:yVal>
            <c:numRef>
              <c:f>'Chart Data'!$D$2:$D$3</c:f>
              <c:numCache>
                <c:formatCode>0.000</c:formatCode>
                <c:ptCount val="2"/>
                <c:pt idx="0">
                  <c:v>0</c:v>
                </c:pt>
                <c:pt idx="1">
                  <c:v>0.002217</c:v>
                </c:pt>
              </c:numCache>
            </c:numRef>
          </c:yVal>
        </c:ser>
        <c:ser>
          <c:idx val="2"/>
          <c:order val="2"/>
          <c:tx>
            <c:v>Проекция на ось метрики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19</c:v>
                </c:pt>
              </c:numCache>
            </c:numRef>
          </c:xVal>
          <c:yVal>
            <c:numRef>
              <c:f>'Chart Data'!$F$2:$F$3</c:f>
              <c:numCache>
                <c:formatCode>0.000</c:formatCode>
                <c:ptCount val="2"/>
                <c:pt idx="0">
                  <c:v>0.002217</c:v>
                </c:pt>
                <c:pt idx="1">
                  <c:v>0.002217</c:v>
                </c:pt>
              </c:numCache>
            </c:numRef>
          </c:yVal>
        </c:ser>
        <c:ser>
          <c:idx val="3"/>
          <c:order val="3"/>
          <c:tx>
            <c:v>19-я эпоха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0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D97720"/>
                        </a:solidFill>
                      </a:rPr>
                      <a:t>0,0022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numFmt formatCode="0.0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Data'!$H$2:$H$2</c:f>
              <c:numCache>
                <c:formatCode>0.000</c:formatCode>
                <c:ptCount val="1"/>
                <c:pt idx="0">
                  <c:v>0.002217</c:v>
                </c:pt>
              </c:numCache>
            </c:numRef>
          </c:yVal>
        </c:ser>
        <c:ser>
          <c:idx val="4"/>
          <c:order val="4"/>
          <c:tx>
            <c:v>Метка эпохи на оси</c:v>
          </c:tx>
          <c:spPr>
            <a:ln xmlns:a="http://schemas.openxmlformats.org/drawingml/2006/main" w="0">
              <a:noFill/>
            </a:ln>
          </c:spPr>
          <c:marker>
            <c:symbol val="triangle"/>
            <c:size val="5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solidFill>
                          <a:srgbClr val="D97720"/>
                        </a:solidFill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Data'!$J$2:$J$2</c:f>
              <c:numCache>
                <c:formatCode>0.000</c:formatCode>
                <c:ptCount val="1"/>
                <c:pt idx="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0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Функция потерь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majorUnit val="0.002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Средняя точность на валидации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22C38"/>
              </a:solidFill>
              <a:latin typeface="Times New Roman"/>
              <a:ea typeface="Times New Roman"/>
              <a:cs typeface="Times New Roman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Метрика по эпохам</c:v>
          </c:tx>
          <c:spPr>
            <a:ln xmlns:a="http://schemas.openxmlformats.org/drawingml/2006/main" w="23813">
              <a:solidFill>
                <a:srgbClr val="2467A6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2467A6"/>
              </a:solidFill>
            </c:spPr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0.0</c:formatCode>
                <c:ptCount val="20"/>
                <c:pt idx="0">
                  <c:v>98.972764</c:v>
                </c:pt>
                <c:pt idx="1">
                  <c:v>98.861859</c:v>
                </c:pt>
                <c:pt idx="2">
                  <c:v>99.57373</c:v>
                </c:pt>
                <c:pt idx="3">
                  <c:v>99.689363</c:v>
                </c:pt>
                <c:pt idx="4">
                  <c:v>99.276485</c:v>
                </c:pt>
                <c:pt idx="5">
                  <c:v>99.174207</c:v>
                </c:pt>
                <c:pt idx="6">
                  <c:v>99.55193</c:v>
                </c:pt>
                <c:pt idx="7">
                  <c:v>99.323224</c:v>
                </c:pt>
                <c:pt idx="8">
                  <c:v>99.462997</c:v>
                </c:pt>
                <c:pt idx="9">
                  <c:v>99.10293</c:v>
                </c:pt>
                <c:pt idx="10">
                  <c:v>99.325666</c:v>
                </c:pt>
                <c:pt idx="11">
                  <c:v>99.34298</c:v>
                </c:pt>
                <c:pt idx="12">
                  <c:v>99.213706</c:v>
                </c:pt>
                <c:pt idx="13">
                  <c:v>99.211031</c:v>
                </c:pt>
                <c:pt idx="14">
                  <c:v>99.315382</c:v>
                </c:pt>
                <c:pt idx="15">
                  <c:v>99.234098</c:v>
                </c:pt>
                <c:pt idx="16">
                  <c:v>99.280321</c:v>
                </c:pt>
                <c:pt idx="17">
                  <c:v>99.311447</c:v>
                </c:pt>
                <c:pt idx="18">
                  <c:v>99.245392</c:v>
                </c:pt>
                <c:pt idx="19">
                  <c:v>99.336899</c:v>
                </c:pt>
              </c:numCache>
            </c:numRef>
          </c:yVal>
        </c:ser>
        <c:ser>
          <c:idx val="1"/>
          <c:order val="1"/>
          <c:tx>
            <c:v>Проекция на ось эпох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19</c:v>
                </c:pt>
                <c:pt idx="1">
                  <c:v>19</c:v>
                </c:pt>
              </c:numCache>
            </c:numRef>
          </c:xVal>
          <c:yVal>
            <c:numRef>
              <c:f>'Chart Data'!$D$2:$D$3</c:f>
              <c:numCache>
                <c:formatCode>0.0</c:formatCode>
                <c:ptCount val="2"/>
                <c:pt idx="0">
                  <c:v>98.5</c:v>
                </c:pt>
                <c:pt idx="1">
                  <c:v>99.245392</c:v>
                </c:pt>
              </c:numCache>
            </c:numRef>
          </c:yVal>
        </c:ser>
        <c:ser>
          <c:idx val="2"/>
          <c:order val="2"/>
          <c:tx>
            <c:v>Проекция на ось метрики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19</c:v>
                </c:pt>
              </c:numCache>
            </c:numRef>
          </c:xVal>
          <c:yVal>
            <c:numRef>
              <c:f>'Chart Data'!$F$2:$F$3</c:f>
              <c:numCache>
                <c:formatCode>0.0</c:formatCode>
                <c:ptCount val="2"/>
                <c:pt idx="0">
                  <c:v>99.245392</c:v>
                </c:pt>
                <c:pt idx="1">
                  <c:v>99.245392</c:v>
                </c:pt>
              </c:numCache>
            </c:numRef>
          </c:yVal>
        </c:ser>
        <c:ser>
          <c:idx val="3"/>
          <c:order val="3"/>
          <c:tx>
            <c:v>19-я эпоха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0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D97720"/>
                        </a:solidFill>
                      </a:rPr>
                      <a:t>99,25 %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numFmt formatCode="0.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Data'!$H$2:$H$2</c:f>
              <c:numCache>
                <c:formatCode>0.0</c:formatCode>
                <c:ptCount val="1"/>
                <c:pt idx="0">
                  <c:v>99.245392</c:v>
                </c:pt>
              </c:numCache>
            </c:numRef>
          </c:yVal>
        </c:ser>
        <c:ser>
          <c:idx val="4"/>
          <c:order val="4"/>
          <c:tx>
            <c:v>Метка эпохи на оси</c:v>
          </c:tx>
          <c:spPr>
            <a:ln xmlns:a="http://schemas.openxmlformats.org/drawingml/2006/main" w="0">
              <a:noFill/>
            </a:ln>
          </c:spPr>
          <c:marker>
            <c:symbol val="triangle"/>
            <c:size val="5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solidFill>
                          <a:srgbClr val="D97720"/>
                        </a:solidFill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Data'!$J$2:$J$2</c:f>
              <c:numCache>
                <c:formatCode>0.0</c:formatCode>
                <c:ptCount val="1"/>
                <c:pt idx="0">
                  <c:v>98.5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98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AP,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Полнота обнаружения по эпохам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22C38"/>
              </a:solidFill>
              <a:latin typeface="Times New Roman"/>
              <a:ea typeface="Times New Roman"/>
              <a:cs typeface="Times New Roman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Метрика по эпохам</c:v>
          </c:tx>
          <c:spPr>
            <a:ln xmlns:a="http://schemas.openxmlformats.org/drawingml/2006/main" w="23813">
              <a:solidFill>
                <a:srgbClr val="2467A6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2467A6"/>
              </a:solidFill>
            </c:spPr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0</c:formatCode>
                <c:ptCount val="20"/>
                <c:pt idx="0">
                  <c:v>0</c:v>
                </c:pt>
                <c:pt idx="1">
                  <c:v>27.272727</c:v>
                </c:pt>
                <c:pt idx="2">
                  <c:v>45.454545</c:v>
                </c:pt>
                <c:pt idx="3">
                  <c:v>36.363636</c:v>
                </c:pt>
                <c:pt idx="4">
                  <c:v>27.272727</c:v>
                </c:pt>
                <c:pt idx="5">
                  <c:v>27.272727</c:v>
                </c:pt>
                <c:pt idx="6">
                  <c:v>45.454545</c:v>
                </c:pt>
                <c:pt idx="7">
                  <c:v>45.454545</c:v>
                </c:pt>
                <c:pt idx="8">
                  <c:v>72.727273</c:v>
                </c:pt>
                <c:pt idx="9">
                  <c:v>45.454545</c:v>
                </c:pt>
                <c:pt idx="10">
                  <c:v>54.545455</c:v>
                </c:pt>
                <c:pt idx="11">
                  <c:v>45.454545</c:v>
                </c:pt>
                <c:pt idx="12">
                  <c:v>27.272727</c:v>
                </c:pt>
                <c:pt idx="13">
                  <c:v>36.363636</c:v>
                </c:pt>
                <c:pt idx="14">
                  <c:v>45.454545</c:v>
                </c:pt>
                <c:pt idx="15">
                  <c:v>45.454545</c:v>
                </c:pt>
                <c:pt idx="16">
                  <c:v>54.545455</c:v>
                </c:pt>
                <c:pt idx="17">
                  <c:v>54.545455</c:v>
                </c:pt>
                <c:pt idx="18">
                  <c:v>54.545455</c:v>
                </c:pt>
                <c:pt idx="19">
                  <c:v>54.545455</c:v>
                </c:pt>
              </c:numCache>
            </c:numRef>
          </c:yVal>
        </c:ser>
        <c:ser>
          <c:idx val="1"/>
          <c:order val="1"/>
          <c:tx>
            <c:v>Проекция на ось эпох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19</c:v>
                </c:pt>
                <c:pt idx="1">
                  <c:v>19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54.545455</c:v>
                </c:pt>
              </c:numCache>
            </c:numRef>
          </c:yVal>
        </c:ser>
        <c:ser>
          <c:idx val="2"/>
          <c:order val="2"/>
          <c:tx>
            <c:v>Проекция на ось метрики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19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54.545455</c:v>
                </c:pt>
                <c:pt idx="1">
                  <c:v>54.545455</c:v>
                </c:pt>
              </c:numCache>
            </c:numRef>
          </c:yVal>
        </c:ser>
        <c:ser>
          <c:idx val="3"/>
          <c:order val="3"/>
          <c:tx>
            <c:v>19-я эпоха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0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D97720"/>
                        </a:solidFill>
                      </a:rPr>
                      <a:t>54,55 %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Data'!$H$2:$H$2</c:f>
              <c:numCache>
                <c:formatCode>0</c:formatCode>
                <c:ptCount val="1"/>
                <c:pt idx="0">
                  <c:v>54.545455</c:v>
                </c:pt>
              </c:numCache>
            </c:numRef>
          </c:yVal>
        </c:ser>
        <c:ser>
          <c:idx val="4"/>
          <c:order val="4"/>
          <c:tx>
            <c:v>Метка эпохи на оси</c:v>
          </c:tx>
          <c:spPr>
            <a:ln xmlns:a="http://schemas.openxmlformats.org/drawingml/2006/main" w="0">
              <a:noFill/>
            </a:ln>
          </c:spPr>
          <c:marker>
            <c:symbol val="triangle"/>
            <c:size val="5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solidFill>
                          <a:srgbClr val="D97720"/>
                        </a:solidFill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Data'!$J$2:$J$2</c:f>
              <c:numCache>
                <c:formatCode>0</c:formatCode>
                <c:ptCount val="1"/>
                <c:pt idx="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Полнота,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AE5E5-5A60-4B79-87B6-4AE04FE2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Результаты обучения и тестирования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822CB-779D-4A98-BA85-25DD879F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9625"/>
            <a:ext cx="628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Дообучение ResNet18 на общей выборке, 20 эпох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AF4C8-B019-46FB-8519-1E608398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87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13F08-2D26-415B-9FC2-AA45C01B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809625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rPr>
              <a:t>19-я эпоха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04D18-1795-4989-A09E-0817ADFF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7C4FF-D95D-43FD-921C-411C5C9F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674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07E46EB1-9268-4DBB-B009-53EF4176E6A3}"/>
              </a:ext>
            </a:extLst>
          </p:cNvPr>
          <p:cNvGraphicFramePr/>
          <p:nvPr/>
        </p:nvGraphicFramePr>
        <p:xfrm>
          <a:off xmlns:a="http://schemas.openxmlformats.org/drawingml/2006/main" x="381000" y="1304925"/>
          <a:ext xmlns:a="http://schemas.openxmlformats.org/drawingml/2006/main" cx="4048125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c7878d2fb0404e"/>
          </a:graphicData>
        </a:graphic>
      </p:graphicFrame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3DA19BDB-9E53-48CF-ADEF-CF22E56651CC}"/>
              </a:ext>
            </a:extLst>
          </p:cNvPr>
          <p:cNvGraphicFramePr/>
          <p:nvPr/>
        </p:nvGraphicFramePr>
        <p:xfrm>
          <a:off xmlns:a="http://schemas.openxmlformats.org/drawingml/2006/main" x="4714875" y="1304925"/>
          <a:ext xmlns:a="http://schemas.openxmlformats.org/drawingml/2006/main" cx="4048125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b734565ec547fa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5BDBD-3092-4785-B67A-3D9636A7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243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Результаты на тестовой выборке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F4366-022D-4922-9092-CCDAC1871491}"/>
              </a:ext>
            </a:extLst>
          </p:cNvPr>
          <p:cNvGraphicFramePr/>
          <p:nvPr/>
        </p:nvGraphicFramePr>
        <p:xfrm>
          <a:off xmlns:a="http://schemas.openxmlformats.org/drawingml/2006/main" x="381000" y="4562475"/>
          <a:ext xmlns:a="http://schemas.openxmlformats.org/drawingml/2006/main" cx="8382000" cy="876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  <a:gridCol w="1676400"/>
                <a:gridCol w="1676400"/>
              </a:tblGrid>
              <a:tr h="438150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Точность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(precision)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Полнота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(recall)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Мера F1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Доля верных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ответов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Средняя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точность AP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</a:tr>
              <a:tr h="438150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98,71 %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99,89 %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99,30 %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99,61 %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99,72 %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68694-1C6A-4C64-B79A-289C7334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834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rPr>
              <a:t>13 ошибок на 3 337 тестовых кадрах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EFB7F-8F2C-42DE-933A-3380216B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86475"/>
            <a:ext cx="822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Похожие кадры и использование теста при разработке могут завышать оценку.</a:t>
            </a:r>
          </a:p>
        </p:txBody>
      </p:sp>
    </p:spTree>
    <p:extLst>
      <p:ext uri="{BB962C8B-B14F-4D97-AF65-F5344CB8AC3E}">
        <p14:creationId xmlns:p14="http://schemas.microsoft.com/office/powerpoint/2010/main" val="1347557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49A0C-F99B-4F09-909C-E7622A45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Проверка на экспериментальном принтере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A839C-3776-4524-9FE5-038387E1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9625"/>
            <a:ext cx="628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Порог классификации 0,3. Выбор весов модели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AE494-E8EA-427D-8D19-D5A91DED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87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1BA88-EC2C-4E1D-9AAA-5D890A9E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809625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rPr>
              <a:t>19-я эпоха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F2AED-CBBA-42AD-B9EF-9777A2F7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312C3-4A65-421F-AF50-FFDB335E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674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03EBBFC7-1C4E-4E55-8A67-FB910146CAA3}"/>
              </a:ext>
            </a:extLst>
          </p:cNvPr>
          <p:cNvGraphicFramePr/>
          <p:nvPr/>
        </p:nvGraphicFramePr>
        <p:xfrm>
          <a:off xmlns:a="http://schemas.openxmlformats.org/drawingml/2006/main" x="381000" y="1333500"/>
          <a:ext xmlns:a="http://schemas.openxmlformats.org/drawingml/2006/main" cx="4143375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7f957a79b04d3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8A21C-2BF7-454E-B9C6-CC09B2AF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428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Сравнение эпох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7AD46-3762-46ED-9B8C-5E6D7E70CEE0}"/>
              </a:ext>
            </a:extLst>
          </p:cNvPr>
          <p:cNvGraphicFramePr/>
          <p:nvPr/>
        </p:nvGraphicFramePr>
        <p:xfrm>
          <a:off xmlns:a="http://schemas.openxmlformats.org/drawingml/2006/main" x="4762500" y="1838325"/>
          <a:ext xmlns:a="http://schemas.openxmlformats.org/drawingml/2006/main" cx="40005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38175"/>
                <a:gridCol w="1057275"/>
                <a:gridCol w="1257300"/>
                <a:gridCol w="1047750"/>
              </a:tblGrid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Эпоха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Полнота,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Ложные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тревоги, %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AP, %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</a:tr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72,73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7,03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75,12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54,55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0,00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92,31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1">
                          <a:solidFill>
                            <a:srgbClr val="9A4D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</a:p>
                  </a:txBody>
                  <a:tcPr marL="66675" marR="66675" marT="57150" marB="57150" anchor="ctr">
                    <a:solidFill>
                      <a:srgbClr val="FFF0DE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1">
                          <a:solidFill>
                            <a:srgbClr val="9A4D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54,55</a:t>
                      </a:r>
                    </a:p>
                  </a:txBody>
                  <a:tcPr marL="66675" marR="66675" marT="57150" marB="57150" anchor="ctr">
                    <a:solidFill>
                      <a:srgbClr val="FFF0DE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1">
                          <a:solidFill>
                            <a:srgbClr val="9A4D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0,00</a:t>
                      </a:r>
                    </a:p>
                  </a:txBody>
                  <a:tcPr marL="66675" marR="66675" marT="57150" marB="57150" anchor="ctr">
                    <a:solidFill>
                      <a:srgbClr val="FFF0DE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1">
                          <a:solidFill>
                            <a:srgbClr val="9A4D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94,63</a:t>
                      </a:r>
                    </a:p>
                  </a:txBody>
                  <a:tcPr marL="66675" marR="66675" marT="57150" marB="57150" anchor="ctr">
                    <a:solidFill>
                      <a:srgbClr val="FFF0DE"/>
                    </a:solidFill>
                  </a:tcPr>
                </a:tc>
              </a:tr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54,55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0,00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92,45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5160E-E1A9-427F-9DBC-5974CEF5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91025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539EE-5129-4587-B785-27653433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81525"/>
            <a:ext cx="1952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6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rPr>
              <a:t>6 из 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7B1F4-13C9-4E67-847D-DCCFF086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72000"/>
            <a:ext cx="6257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дефектных кадров обнаружены</a:t>
            </a:r>
          </a:p>
          <a:p xmlns:a="http://schemas.openxmlformats.org/drawingml/2006/main">
            <a:pPr algn="l">
              <a:def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5 кадров пропущены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1F685-6DE6-47CE-B0FF-AFB1B9E3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00675"/>
            <a:ext cx="836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Выбрана 19-я эпоха: среди эпох 18–20 при одинаковой полноте</a:t>
            </a:r>
          </a:p>
          <a:p xmlns:a="http://schemas.openxmlformats.org/drawingml/2006/main">
            <a:pPr algn="l">
              <a:def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и отсутствии ложных тревог получено наибольшее значение AP.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75D83-A7A5-4C4E-BE7E-A777E498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8267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Ложные тревоги допустимы в пределах 1 %. Проверка на 11 дефектных кадрах</a:t>
            </a:r>
          </a:p>
          <a:p xmlns:a="http://schemas.openxmlformats.org/drawingml/2006/main">
            <a:pPr algn="l">
              <a:def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предварительная. Требуется расширение независимой выборки.</a:t>
            </a:r>
          </a:p>
        </p:txBody>
      </p:sp>
    </p:spTree>
    <p:extLst>
      <p:ext uri="{BB962C8B-B14F-4D97-AF65-F5344CB8AC3E}">
        <p14:creationId xmlns:p14="http://schemas.microsoft.com/office/powerpoint/2010/main" val="467337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2026-10-09T08:02:44.1210000Z</dcterms:created>
  <dcterms:modified xsi:type="dcterms:W3CDTF">2026-10-09T08:02:44.1210000Z</dcterms:modified>
</coreProperties>
</file>