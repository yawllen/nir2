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7" r:id="rId2"/>
    <p:sldId id="258" r:id="rId3"/>
    <p:sldId id="256" r:id="rId4"/>
    <p:sldId id="275" r:id="rId5"/>
    <p:sldId id="273" r:id="rId6"/>
    <p:sldId id="276" r:id="rId7"/>
    <p:sldId id="270" r:id="rId8"/>
    <p:sldId id="271" r:id="rId9"/>
    <p:sldId id="272" r:id="rId10"/>
    <p:sldId id="274" r:id="rId11"/>
    <p:sldId id="266" r:id="rId12"/>
  </p:sldIdLst>
  <p:sldSz cx="9144000" cy="6858000" type="screen4x3"/>
  <p:notesSz cx="6858000" cy="9144000"/>
  <p:defaultTextStyle>
    <a:defPPr>
      <a:buNone/>
    </a:defPPr>
    <a:lvl1pPr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083E6E3-FA7D-4D7B-A595-EF9225AFEA82}" styleName="Светлый стиль 1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380" y="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r>
              <a:rPr lang="ru-RU" sz="1725" b="1" dirty="0">
                <a:solidFill>
                  <a:srgbClr val="222C38"/>
                </a:solidFill>
                <a:latin typeface="Times New Roman"/>
                <a:ea typeface="Times New Roman"/>
                <a:cs typeface="Times New Roman"/>
              </a:rPr>
              <a:t>Изменение ошибки при обучении</a:t>
            </a:r>
          </a:p>
        </c:rich>
      </c:tx>
      <c:layout>
        <c:manualLayout>
          <c:xMode val="edge"/>
          <c:yMode val="edge"/>
          <c:x val="0.23235300293345684"/>
          <c:y val="2.9090909090909091E-2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0.19704085224641038"/>
          <c:y val="0.23141818181818177"/>
          <c:w val="0.74844946734599349"/>
          <c:h val="0.50880839895013119"/>
        </c:manualLayout>
      </c:layout>
      <c:scatterChart>
        <c:scatterStyle val="lineMarker"/>
        <c:varyColors val="0"/>
        <c:ser>
          <c:idx val="0"/>
          <c:order val="0"/>
          <c:tx>
            <c:v>Метрика по эпохам</c:v>
          </c:tx>
          <c:spPr>
            <a:ln w="23813">
              <a:solidFill>
                <a:srgbClr val="2467A6"/>
              </a:solidFill>
              <a:prstDash val="solid"/>
            </a:ln>
          </c:spPr>
          <c:marker>
            <c:symbol val="circle"/>
            <c:size val="3"/>
            <c:spPr>
              <a:solidFill>
                <a:srgbClr val="2467A6"/>
              </a:solidFill>
            </c:spPr>
          </c:marker>
          <c:xVal>
            <c:numRef>
              <c:f>'Chart Data'!$A$2:$A$21</c:f>
              <c:numCache>
                <c:formatCode>General</c:formatCode>
                <c:ptCount val="2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</c:numCache>
            </c:numRef>
          </c:xVal>
          <c:yVal>
            <c:numRef>
              <c:f>'Chart Data'!$B$2:$B$21</c:f>
              <c:numCache>
                <c:formatCode>0.000</c:formatCode>
                <c:ptCount val="20"/>
                <c:pt idx="0">
                  <c:v>5.5519999999999996E-3</c:v>
                </c:pt>
                <c:pt idx="1">
                  <c:v>2.4099999999999998E-3</c:v>
                </c:pt>
                <c:pt idx="2">
                  <c:v>9.2370000000000004E-3</c:v>
                </c:pt>
                <c:pt idx="3">
                  <c:v>3.2599999999999999E-3</c:v>
                </c:pt>
                <c:pt idx="4">
                  <c:v>2.323E-3</c:v>
                </c:pt>
                <c:pt idx="5">
                  <c:v>1.774E-3</c:v>
                </c:pt>
                <c:pt idx="6">
                  <c:v>1.328E-3</c:v>
                </c:pt>
                <c:pt idx="7">
                  <c:v>8.7100000000000003E-4</c:v>
                </c:pt>
                <c:pt idx="8">
                  <c:v>1.206E-3</c:v>
                </c:pt>
                <c:pt idx="9">
                  <c:v>4.5580000000000004E-3</c:v>
                </c:pt>
                <c:pt idx="10">
                  <c:v>1.0920000000000001E-3</c:v>
                </c:pt>
                <c:pt idx="11">
                  <c:v>3.1419999999999998E-3</c:v>
                </c:pt>
                <c:pt idx="12">
                  <c:v>1.619E-3</c:v>
                </c:pt>
                <c:pt idx="13">
                  <c:v>1.0989999999999999E-3</c:v>
                </c:pt>
                <c:pt idx="14">
                  <c:v>9.7300000000000002E-4</c:v>
                </c:pt>
                <c:pt idx="15">
                  <c:v>9.7599999999999998E-4</c:v>
                </c:pt>
                <c:pt idx="16">
                  <c:v>1.178E-3</c:v>
                </c:pt>
                <c:pt idx="17">
                  <c:v>1.0120000000000001E-3</c:v>
                </c:pt>
                <c:pt idx="18">
                  <c:v>2.2169999999999998E-3</c:v>
                </c:pt>
                <c:pt idx="19">
                  <c:v>2.2330000000000002E-3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D653-4CD3-BA2E-BF2DD346C9DC}"/>
            </c:ext>
          </c:extLst>
        </c:ser>
        <c:ser>
          <c:idx val="1"/>
          <c:order val="1"/>
          <c:tx>
            <c:v>Проекция на ось эпох</c:v>
          </c:tx>
          <c:spPr>
            <a:ln w="14288">
              <a:solidFill>
                <a:srgbClr val="D97720"/>
              </a:solidFill>
              <a:prstDash val="dash"/>
            </a:ln>
          </c:spPr>
          <c:marker>
            <c:symbol val="none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19</c:v>
                </c:pt>
                <c:pt idx="1">
                  <c:v>19</c:v>
                </c:pt>
              </c:numCache>
            </c:numRef>
          </c:xVal>
          <c:yVal>
            <c:numRef>
              <c:f>'Chart Data'!$D$2:$D$3</c:f>
              <c:numCache>
                <c:formatCode>0.000</c:formatCode>
                <c:ptCount val="2"/>
                <c:pt idx="0">
                  <c:v>0</c:v>
                </c:pt>
                <c:pt idx="1">
                  <c:v>2.2169999999999998E-3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D653-4CD3-BA2E-BF2DD346C9DC}"/>
            </c:ext>
          </c:extLst>
        </c:ser>
        <c:ser>
          <c:idx val="2"/>
          <c:order val="2"/>
          <c:tx>
            <c:v>Проекция на ось метрики</c:v>
          </c:tx>
          <c:spPr>
            <a:ln w="14288">
              <a:solidFill>
                <a:srgbClr val="D97720"/>
              </a:solidFill>
              <a:prstDash val="dash"/>
            </a:ln>
          </c:spPr>
          <c:marker>
            <c:symbol val="none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0</c:v>
                </c:pt>
                <c:pt idx="1">
                  <c:v>19</c:v>
                </c:pt>
              </c:numCache>
            </c:numRef>
          </c:xVal>
          <c:yVal>
            <c:numRef>
              <c:f>'Chart Data'!$F$2:$F$3</c:f>
              <c:numCache>
                <c:formatCode>0.000</c:formatCode>
                <c:ptCount val="2"/>
                <c:pt idx="0">
                  <c:v>2.2169999999999998E-3</c:v>
                </c:pt>
                <c:pt idx="1">
                  <c:v>2.2169999999999998E-3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D653-4CD3-BA2E-BF2DD346C9DC}"/>
            </c:ext>
          </c:extLst>
        </c:ser>
        <c:ser>
          <c:idx val="3"/>
          <c:order val="3"/>
          <c:tx>
            <c:v>19-я эпоха</c:v>
          </c:tx>
          <c:spPr>
            <a:ln w="0">
              <a:noFill/>
            </a:ln>
          </c:spPr>
          <c:marker>
            <c:symbol val="diamond"/>
            <c:size val="10"/>
            <c:spPr>
              <a:solidFill>
                <a:srgbClr val="D97720"/>
              </a:solidFill>
            </c:spPr>
          </c:marker>
          <c:dLbls>
            <c:dLbl>
              <c:idx val="0"/>
              <c:layout>
                <c:manualLayout>
                  <c:x val="-5.2463053882970623E-2"/>
                  <c:y val="-0.17580606060606066"/>
                </c:manualLayout>
              </c:layout>
              <c:tx>
                <c:rich>
                  <a:bodyPr/>
                  <a:lstStyle/>
                  <a:p>
                    <a:r>
                      <a:rPr lang="en-US" sz="1350" b="1">
                        <a:solidFill>
                          <a:srgbClr val="D97720"/>
                        </a:solidFill>
                      </a:rPr>
                      <a:t>0,0022</a:t>
                    </a:r>
                  </a:p>
                </c:rich>
              </c:tx>
              <c:spPr/>
              <c:dLblPos val="r"/>
              <c:showLegendKey val="1"/>
              <c:showVal val="1"/>
              <c:showCatName val="1"/>
              <c:showSerName val="1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D653-4CD3-BA2E-BF2DD346C9DC}"/>
                </c:ext>
              </c:extLst>
            </c:dLbl>
            <c:numFmt formatCode="0.00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350" b="1">
                    <a:solidFill>
                      <a:srgbClr val="D97720"/>
                    </a:solidFill>
                  </a:defRPr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'Chart Data'!$G$2:$G$2</c:f>
              <c:numCache>
                <c:formatCode>General</c:formatCode>
                <c:ptCount val="1"/>
                <c:pt idx="0">
                  <c:v>19</c:v>
                </c:pt>
              </c:numCache>
            </c:numRef>
          </c:xVal>
          <c:yVal>
            <c:numRef>
              <c:f>'Chart Data'!$H$2:$H$2</c:f>
              <c:numCache>
                <c:formatCode>0.000</c:formatCode>
                <c:ptCount val="1"/>
                <c:pt idx="0">
                  <c:v>2.2169999999999998E-3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4-D653-4CD3-BA2E-BF2DD346C9DC}"/>
            </c:ext>
          </c:extLst>
        </c:ser>
        <c:ser>
          <c:idx val="4"/>
          <c:order val="4"/>
          <c:tx>
            <c:v>Метка эпохи на оси</c:v>
          </c:tx>
          <c:spPr>
            <a:ln w="0">
              <a:noFill/>
            </a:ln>
          </c:spPr>
          <c:marker>
            <c:symbol val="triangle"/>
            <c:size val="5"/>
            <c:spPr>
              <a:solidFill>
                <a:srgbClr val="D97720"/>
              </a:solidFill>
            </c:spPr>
          </c:marker>
          <c:dLbls>
            <c:dLbl>
              <c:idx val="0"/>
              <c:layout>
                <c:manualLayout>
                  <c:x val="-8.0549143121815658E-2"/>
                  <c:y val="7.3199904557384968E-2"/>
                </c:manualLayout>
              </c:layout>
              <c:tx>
                <c:rich>
                  <a:bodyPr/>
                  <a:lstStyle/>
                  <a:p>
                    <a:r>
                      <a:rPr lang="en-US" sz="1200" b="1" dirty="0">
                        <a:solidFill>
                          <a:srgbClr val="D97720"/>
                        </a:solidFill>
                      </a:rPr>
                      <a:t>19</a:t>
                    </a:r>
                  </a:p>
                </c:rich>
              </c:tx>
              <c:spPr/>
              <c:dLblPos val="r"/>
              <c:showLegendKey val="1"/>
              <c:showVal val="1"/>
              <c:showCatName val="1"/>
              <c:showSerName val="1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D653-4CD3-BA2E-BF2DD346C9D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200" b="1">
                    <a:solidFill>
                      <a:srgbClr val="D97720"/>
                    </a:solidFill>
                  </a:defRPr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'Chart Data'!$I$2:$I$2</c:f>
              <c:numCache>
                <c:formatCode>General</c:formatCode>
                <c:ptCount val="1"/>
                <c:pt idx="0">
                  <c:v>19</c:v>
                </c:pt>
              </c:numCache>
            </c:numRef>
          </c:xVal>
          <c:yVal>
            <c:numRef>
              <c:f>'Chart Data'!$J$2:$J$2</c:f>
              <c:numCache>
                <c:formatCode>0.000</c:formatCode>
                <c:ptCount val="1"/>
                <c:pt idx="0">
                  <c:v>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6-D653-4CD3-BA2E-BF2DD346C9D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0.01"/>
          <c:min val="0"/>
        </c:scaling>
        <c:delete val="0"/>
        <c:axPos val="l"/>
        <c:majorGridlines>
          <c:spPr>
            <a:ln w="6668">
              <a:solidFill>
                <a:srgbClr val="E3E7EB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lang="ru-RU" sz="1425" dirty="0">
                    <a:solidFill>
                      <a:srgbClr val="222C38"/>
                    </a:solidFill>
                    <a:latin typeface="Times New Roman"/>
                    <a:ea typeface="Times New Roman"/>
                    <a:cs typeface="Times New Roman"/>
                  </a:rPr>
                  <a:t>Функция потерь</a:t>
                </a:r>
              </a:p>
            </c:rich>
          </c:tx>
          <c:overlay val="0"/>
        </c:title>
        <c:numFmt formatCode="0.000" sourceLinked="1"/>
        <c:majorTickMark val="none"/>
        <c:minorTickMark val="none"/>
        <c:tickLblPos val="nextTo"/>
        <c:spPr>
          <a:ln w="9525">
            <a:solidFill>
              <a:srgbClr val="A4ABB3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222C38"/>
                </a:solidFill>
                <a:latin typeface="Times New Roman"/>
                <a:ea typeface="Times New Roman"/>
                <a:cs typeface="Times New Roman"/>
              </a:defRPr>
            </a:pPr>
            <a:endParaRPr lang="ru-RU"/>
          </a:p>
        </c:txPr>
        <c:crossAx val="48650112"/>
        <c:crosses val="autoZero"/>
        <c:crossBetween val="midCat"/>
        <c:majorUnit val="2E-3"/>
      </c:valAx>
      <c:valAx>
        <c:axId val="48650112"/>
        <c:scaling>
          <c:orientation val="minMax"/>
          <c:max val="20"/>
          <c:min val="0"/>
        </c:scaling>
        <c:delete val="0"/>
        <c:axPos val="b"/>
        <c:title>
          <c:tx>
            <c:rich>
              <a:bodyPr/>
              <a:lstStyle/>
              <a:p>
                <a:r>
                  <a:rPr lang="ru-RU" sz="1425">
                    <a:solidFill>
                      <a:srgbClr val="222C38"/>
                    </a:solidFill>
                    <a:latin typeface="Times New Roman"/>
                    <a:ea typeface="Times New Roman"/>
                    <a:cs typeface="Times New Roman"/>
                  </a:rPr>
                  <a:t>Эпоха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A4ABB3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222C38"/>
                </a:solidFill>
                <a:latin typeface="Times New Roman"/>
                <a:ea typeface="Times New Roman"/>
                <a:cs typeface="Times New Roman"/>
              </a:defRPr>
            </a:pPr>
            <a:endParaRPr lang="ru-RU"/>
          </a:p>
        </c:txPr>
        <c:crossAx val="48672768"/>
        <c:crosses val="autoZero"/>
        <c:crossBetween val="midCat"/>
        <c:majorUnit val="5"/>
      </c:valAx>
      <c:spPr>
        <a:solidFill>
          <a:srgbClr val="FFFFFF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r>
              <a:rPr lang="ru-RU" sz="1725" b="1" dirty="0">
                <a:solidFill>
                  <a:srgbClr val="222C38"/>
                </a:solidFill>
                <a:latin typeface="Times New Roman"/>
                <a:ea typeface="Times New Roman"/>
                <a:cs typeface="Times New Roman"/>
              </a:rPr>
              <a:t>Средняя точность на</a:t>
            </a:r>
            <a:r>
              <a:rPr lang="ru-RU" sz="1725" b="1" baseline="0" dirty="0">
                <a:solidFill>
                  <a:srgbClr val="222C38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ru-RU" sz="1725" b="1" dirty="0">
                <a:solidFill>
                  <a:srgbClr val="222C38"/>
                </a:solidFill>
                <a:latin typeface="Times New Roman"/>
                <a:ea typeface="Times New Roman"/>
                <a:cs typeface="Times New Roman"/>
              </a:rPr>
              <a:t>валидации</a:t>
            </a:r>
          </a:p>
        </c:rich>
      </c:tx>
      <c:layout>
        <c:manualLayout>
          <c:xMode val="edge"/>
          <c:yMode val="edge"/>
          <c:x val="0.27587438628994904"/>
          <c:y val="4.363636363636364E-2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0.17387234830940251"/>
          <c:y val="0.24596363636363636"/>
          <c:w val="0.77161797128300125"/>
          <c:h val="0.54759627773801001"/>
        </c:manualLayout>
      </c:layout>
      <c:scatterChart>
        <c:scatterStyle val="lineMarker"/>
        <c:varyColors val="0"/>
        <c:ser>
          <c:idx val="0"/>
          <c:order val="0"/>
          <c:tx>
            <c:v>Метрика по эпохам</c:v>
          </c:tx>
          <c:spPr>
            <a:ln w="23813">
              <a:solidFill>
                <a:srgbClr val="2467A6"/>
              </a:solidFill>
              <a:prstDash val="solid"/>
            </a:ln>
          </c:spPr>
          <c:marker>
            <c:symbol val="circle"/>
            <c:size val="3"/>
            <c:spPr>
              <a:solidFill>
                <a:srgbClr val="2467A6"/>
              </a:solidFill>
            </c:spPr>
          </c:marker>
          <c:xVal>
            <c:numRef>
              <c:f>'Chart Data'!$A$2:$A$21</c:f>
              <c:numCache>
                <c:formatCode>General</c:formatCode>
                <c:ptCount val="2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</c:numCache>
            </c:numRef>
          </c:xVal>
          <c:yVal>
            <c:numRef>
              <c:f>'Chart Data'!$B$2:$B$21</c:f>
              <c:numCache>
                <c:formatCode>0.0</c:formatCode>
                <c:ptCount val="20"/>
                <c:pt idx="0">
                  <c:v>98.972763999999998</c:v>
                </c:pt>
                <c:pt idx="1">
                  <c:v>98.861858999999995</c:v>
                </c:pt>
                <c:pt idx="2">
                  <c:v>99.573729999999998</c:v>
                </c:pt>
                <c:pt idx="3">
                  <c:v>99.689363</c:v>
                </c:pt>
                <c:pt idx="4">
                  <c:v>99.276484999999994</c:v>
                </c:pt>
                <c:pt idx="5">
                  <c:v>99.174206999999996</c:v>
                </c:pt>
                <c:pt idx="6">
                  <c:v>99.551929999999999</c:v>
                </c:pt>
                <c:pt idx="7">
                  <c:v>99.323223999999996</c:v>
                </c:pt>
                <c:pt idx="8">
                  <c:v>99.462997000000001</c:v>
                </c:pt>
                <c:pt idx="9">
                  <c:v>99.102930000000001</c:v>
                </c:pt>
                <c:pt idx="10">
                  <c:v>99.325665999999998</c:v>
                </c:pt>
                <c:pt idx="11">
                  <c:v>99.342979999999997</c:v>
                </c:pt>
                <c:pt idx="12">
                  <c:v>99.213706000000002</c:v>
                </c:pt>
                <c:pt idx="13">
                  <c:v>99.211031000000006</c:v>
                </c:pt>
                <c:pt idx="14">
                  <c:v>99.315382</c:v>
                </c:pt>
                <c:pt idx="15">
                  <c:v>99.234098000000003</c:v>
                </c:pt>
                <c:pt idx="16">
                  <c:v>99.280321000000001</c:v>
                </c:pt>
                <c:pt idx="17">
                  <c:v>99.311447000000001</c:v>
                </c:pt>
                <c:pt idx="18">
                  <c:v>99.245391999999995</c:v>
                </c:pt>
                <c:pt idx="19">
                  <c:v>99.336899000000003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59C9-4C6A-B03E-9517CB92D448}"/>
            </c:ext>
          </c:extLst>
        </c:ser>
        <c:ser>
          <c:idx val="1"/>
          <c:order val="1"/>
          <c:tx>
            <c:v>Проекция на ось эпох</c:v>
          </c:tx>
          <c:spPr>
            <a:ln w="14288">
              <a:solidFill>
                <a:srgbClr val="D97720"/>
              </a:solidFill>
              <a:prstDash val="dash"/>
            </a:ln>
          </c:spPr>
          <c:marker>
            <c:symbol val="none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19</c:v>
                </c:pt>
                <c:pt idx="1">
                  <c:v>19</c:v>
                </c:pt>
              </c:numCache>
            </c:numRef>
          </c:xVal>
          <c:yVal>
            <c:numRef>
              <c:f>'Chart Data'!$D$2:$D$3</c:f>
              <c:numCache>
                <c:formatCode>0.0</c:formatCode>
                <c:ptCount val="2"/>
                <c:pt idx="0">
                  <c:v>98.5</c:v>
                </c:pt>
                <c:pt idx="1">
                  <c:v>99.245391999999995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59C9-4C6A-B03E-9517CB92D448}"/>
            </c:ext>
          </c:extLst>
        </c:ser>
        <c:ser>
          <c:idx val="2"/>
          <c:order val="2"/>
          <c:tx>
            <c:v>Проекция на ось метрики</c:v>
          </c:tx>
          <c:spPr>
            <a:ln w="14288">
              <a:solidFill>
                <a:srgbClr val="D97720"/>
              </a:solidFill>
              <a:prstDash val="dash"/>
            </a:ln>
          </c:spPr>
          <c:marker>
            <c:symbol val="none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0</c:v>
                </c:pt>
                <c:pt idx="1">
                  <c:v>19</c:v>
                </c:pt>
              </c:numCache>
            </c:numRef>
          </c:xVal>
          <c:yVal>
            <c:numRef>
              <c:f>'Chart Data'!$F$2:$F$3</c:f>
              <c:numCache>
                <c:formatCode>0.0</c:formatCode>
                <c:ptCount val="2"/>
                <c:pt idx="0">
                  <c:v>99.245391999999995</c:v>
                </c:pt>
                <c:pt idx="1">
                  <c:v>99.245391999999995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59C9-4C6A-B03E-9517CB92D448}"/>
            </c:ext>
          </c:extLst>
        </c:ser>
        <c:ser>
          <c:idx val="3"/>
          <c:order val="3"/>
          <c:tx>
            <c:v>19-я эпоха</c:v>
          </c:tx>
          <c:spPr>
            <a:ln w="0">
              <a:noFill/>
            </a:ln>
          </c:spPr>
          <c:marker>
            <c:symbol val="diamond"/>
            <c:size val="10"/>
            <c:spPr>
              <a:solidFill>
                <a:srgbClr val="D97720"/>
              </a:solidFill>
            </c:spPr>
          </c:marker>
          <c:dLbls>
            <c:dLbl>
              <c:idx val="0"/>
              <c:layout>
                <c:manualLayout>
                  <c:x val="-1.1503135088658065E-16"/>
                  <c:y val="-0.1515636363636364"/>
                </c:manualLayout>
              </c:layout>
              <c:tx>
                <c:rich>
                  <a:bodyPr/>
                  <a:lstStyle/>
                  <a:p>
                    <a:r>
                      <a:rPr lang="en-US" sz="1350" b="1">
                        <a:solidFill>
                          <a:srgbClr val="D97720"/>
                        </a:solidFill>
                      </a:rPr>
                      <a:t>99,25 %</a:t>
                    </a:r>
                  </a:p>
                </c:rich>
              </c:tx>
              <c:spPr/>
              <c:dLblPos val="r"/>
              <c:showLegendKey val="1"/>
              <c:showVal val="1"/>
              <c:showCatName val="1"/>
              <c:showSerName val="1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59C9-4C6A-B03E-9517CB92D448}"/>
                </c:ext>
              </c:extLst>
            </c:dLbl>
            <c:numFmt formatCode="0.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350" b="1">
                    <a:solidFill>
                      <a:srgbClr val="D97720"/>
                    </a:solidFill>
                  </a:defRPr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'Chart Data'!$G$2:$G$2</c:f>
              <c:numCache>
                <c:formatCode>General</c:formatCode>
                <c:ptCount val="1"/>
                <c:pt idx="0">
                  <c:v>19</c:v>
                </c:pt>
              </c:numCache>
            </c:numRef>
          </c:xVal>
          <c:yVal>
            <c:numRef>
              <c:f>'Chart Data'!$H$2:$H$2</c:f>
              <c:numCache>
                <c:formatCode>0.0</c:formatCode>
                <c:ptCount val="1"/>
                <c:pt idx="0">
                  <c:v>99.245391999999995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4-59C9-4C6A-B03E-9517CB92D448}"/>
            </c:ext>
          </c:extLst>
        </c:ser>
        <c:ser>
          <c:idx val="4"/>
          <c:order val="4"/>
          <c:tx>
            <c:v>Метка эпохи на оси</c:v>
          </c:tx>
          <c:spPr>
            <a:ln w="0">
              <a:noFill/>
            </a:ln>
          </c:spPr>
          <c:marker>
            <c:symbol val="triangle"/>
            <c:size val="5"/>
            <c:spPr>
              <a:solidFill>
                <a:srgbClr val="D97720"/>
              </a:solidFill>
            </c:spPr>
          </c:marker>
          <c:dLbls>
            <c:dLbl>
              <c:idx val="0"/>
              <c:layout>
                <c:manualLayout>
                  <c:x val="-7.5294117647058942E-2"/>
                  <c:y val="7.2727272727272724E-2"/>
                </c:manualLayout>
              </c:layout>
              <c:tx>
                <c:rich>
                  <a:bodyPr/>
                  <a:lstStyle/>
                  <a:p>
                    <a:r>
                      <a:rPr lang="en-US" sz="1200" b="1" dirty="0">
                        <a:solidFill>
                          <a:srgbClr val="D97720"/>
                        </a:solidFill>
                      </a:rPr>
                      <a:t>19</a:t>
                    </a:r>
                  </a:p>
                </c:rich>
              </c:tx>
              <c:spPr/>
              <c:dLblPos val="r"/>
              <c:showLegendKey val="1"/>
              <c:showVal val="1"/>
              <c:showCatName val="1"/>
              <c:showSerName val="1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59C9-4C6A-B03E-9517CB92D44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200" b="1">
                    <a:solidFill>
                      <a:srgbClr val="D97720"/>
                    </a:solidFill>
                  </a:defRPr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'Chart Data'!$I$2:$I$2</c:f>
              <c:numCache>
                <c:formatCode>General</c:formatCode>
                <c:ptCount val="1"/>
                <c:pt idx="0">
                  <c:v>19</c:v>
                </c:pt>
              </c:numCache>
            </c:numRef>
          </c:xVal>
          <c:yVal>
            <c:numRef>
              <c:f>'Chart Data'!$J$2:$J$2</c:f>
              <c:numCache>
                <c:formatCode>0.0</c:formatCode>
                <c:ptCount val="1"/>
                <c:pt idx="0">
                  <c:v>98.5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6-59C9-4C6A-B03E-9517CB92D44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100"/>
          <c:min val="98.5"/>
        </c:scaling>
        <c:delete val="0"/>
        <c:axPos val="l"/>
        <c:majorGridlines>
          <c:spPr>
            <a:ln w="6668">
              <a:solidFill>
                <a:srgbClr val="E3E7EB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lang="en-US" sz="1425">
                    <a:solidFill>
                      <a:srgbClr val="222C38"/>
                    </a:solidFill>
                    <a:latin typeface="Times New Roman"/>
                    <a:ea typeface="Times New Roman"/>
                    <a:cs typeface="Times New Roman"/>
                  </a:rPr>
                  <a:t>AP, %</a:t>
                </a:r>
              </a:p>
            </c:rich>
          </c:tx>
          <c:overlay val="0"/>
        </c:title>
        <c:numFmt formatCode="0.0" sourceLinked="1"/>
        <c:majorTickMark val="none"/>
        <c:minorTickMark val="none"/>
        <c:tickLblPos val="nextTo"/>
        <c:spPr>
          <a:ln w="9525">
            <a:solidFill>
              <a:srgbClr val="A4ABB3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222C38"/>
                </a:solidFill>
                <a:latin typeface="Times New Roman"/>
                <a:ea typeface="Times New Roman"/>
                <a:cs typeface="Times New Roman"/>
              </a:defRPr>
            </a:pPr>
            <a:endParaRPr lang="ru-RU"/>
          </a:p>
        </c:txPr>
        <c:crossAx val="48650112"/>
        <c:crosses val="autoZero"/>
        <c:crossBetween val="midCat"/>
        <c:majorUnit val="0.5"/>
      </c:valAx>
      <c:valAx>
        <c:axId val="48650112"/>
        <c:scaling>
          <c:orientation val="minMax"/>
          <c:max val="20"/>
          <c:min val="0"/>
        </c:scaling>
        <c:delete val="0"/>
        <c:axPos val="b"/>
        <c:title>
          <c:tx>
            <c:rich>
              <a:bodyPr/>
              <a:lstStyle/>
              <a:p>
                <a:r>
                  <a:rPr lang="ru-RU" sz="1425">
                    <a:solidFill>
                      <a:srgbClr val="222C38"/>
                    </a:solidFill>
                    <a:latin typeface="Times New Roman"/>
                    <a:ea typeface="Times New Roman"/>
                    <a:cs typeface="Times New Roman"/>
                  </a:rPr>
                  <a:t>Эпоха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A4ABB3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222C38"/>
                </a:solidFill>
                <a:latin typeface="Times New Roman"/>
                <a:ea typeface="Times New Roman"/>
                <a:cs typeface="Times New Roman"/>
              </a:defRPr>
            </a:pPr>
            <a:endParaRPr lang="ru-RU"/>
          </a:p>
        </c:txPr>
        <c:crossAx val="48672768"/>
        <c:crosses val="autoZero"/>
        <c:crossBetween val="midCat"/>
        <c:majorUnit val="5"/>
      </c:valAx>
      <c:spPr>
        <a:solidFill>
          <a:srgbClr val="FFFFFF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6761524664754068"/>
          <c:y val="8.9895280510988052E-2"/>
          <c:w val="0.75341176343734506"/>
          <c:h val="0.5831234971081044"/>
        </c:manualLayout>
      </c:layout>
      <c:scatterChart>
        <c:scatterStyle val="lineMarker"/>
        <c:varyColors val="0"/>
        <c:ser>
          <c:idx val="0"/>
          <c:order val="0"/>
          <c:tx>
            <c:v>Метрика по эпохам</c:v>
          </c:tx>
          <c:spPr>
            <a:ln w="23813">
              <a:solidFill>
                <a:srgbClr val="2467A6"/>
              </a:solidFill>
              <a:prstDash val="solid"/>
            </a:ln>
          </c:spPr>
          <c:marker>
            <c:symbol val="circle"/>
            <c:size val="3"/>
            <c:spPr>
              <a:solidFill>
                <a:srgbClr val="2467A6"/>
              </a:solidFill>
            </c:spPr>
          </c:marker>
          <c:xVal>
            <c:numRef>
              <c:f>'Chart Data'!$A$2:$A$21</c:f>
              <c:numCache>
                <c:formatCode>General</c:formatCode>
                <c:ptCount val="2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</c:numCache>
            </c:numRef>
          </c:xVal>
          <c:yVal>
            <c:numRef>
              <c:f>'Chart Data'!$B$2:$B$21</c:f>
              <c:numCache>
                <c:formatCode>0</c:formatCode>
                <c:ptCount val="20"/>
                <c:pt idx="0">
                  <c:v>0</c:v>
                </c:pt>
                <c:pt idx="1">
                  <c:v>27.272727</c:v>
                </c:pt>
                <c:pt idx="2">
                  <c:v>45.454545000000003</c:v>
                </c:pt>
                <c:pt idx="3">
                  <c:v>36.363636</c:v>
                </c:pt>
                <c:pt idx="4">
                  <c:v>27.272727</c:v>
                </c:pt>
                <c:pt idx="5">
                  <c:v>27.272727</c:v>
                </c:pt>
                <c:pt idx="6">
                  <c:v>45.454545000000003</c:v>
                </c:pt>
                <c:pt idx="7">
                  <c:v>45.454545000000003</c:v>
                </c:pt>
                <c:pt idx="8">
                  <c:v>72.727272999999997</c:v>
                </c:pt>
                <c:pt idx="9">
                  <c:v>45.454545000000003</c:v>
                </c:pt>
                <c:pt idx="10">
                  <c:v>54.545454999999997</c:v>
                </c:pt>
                <c:pt idx="11">
                  <c:v>45.454545000000003</c:v>
                </c:pt>
                <c:pt idx="12">
                  <c:v>27.272727</c:v>
                </c:pt>
                <c:pt idx="13">
                  <c:v>36.363636</c:v>
                </c:pt>
                <c:pt idx="14">
                  <c:v>45.454545000000003</c:v>
                </c:pt>
                <c:pt idx="15">
                  <c:v>45.454545000000003</c:v>
                </c:pt>
                <c:pt idx="16">
                  <c:v>54.545454999999997</c:v>
                </c:pt>
                <c:pt idx="17">
                  <c:v>54.545454999999997</c:v>
                </c:pt>
                <c:pt idx="18">
                  <c:v>54.545454999999997</c:v>
                </c:pt>
                <c:pt idx="19">
                  <c:v>54.545454999999997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13B8-4E57-87F9-05333C771A69}"/>
            </c:ext>
          </c:extLst>
        </c:ser>
        <c:ser>
          <c:idx val="1"/>
          <c:order val="1"/>
          <c:tx>
            <c:v>Проекция на ось эпох</c:v>
          </c:tx>
          <c:spPr>
            <a:ln w="14288">
              <a:solidFill>
                <a:srgbClr val="D97720"/>
              </a:solidFill>
              <a:prstDash val="dash"/>
            </a:ln>
          </c:spPr>
          <c:marker>
            <c:symbol val="none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19</c:v>
                </c:pt>
                <c:pt idx="1">
                  <c:v>19</c:v>
                </c:pt>
              </c:numCache>
            </c:numRef>
          </c:xVal>
          <c:yVal>
            <c:numRef>
              <c:f>'Chart Data'!$D$2:$D$3</c:f>
              <c:numCache>
                <c:formatCode>0</c:formatCode>
                <c:ptCount val="2"/>
                <c:pt idx="0">
                  <c:v>0</c:v>
                </c:pt>
                <c:pt idx="1">
                  <c:v>54.545454999999997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13B8-4E57-87F9-05333C771A69}"/>
            </c:ext>
          </c:extLst>
        </c:ser>
        <c:ser>
          <c:idx val="2"/>
          <c:order val="2"/>
          <c:tx>
            <c:v>Проекция на ось метрики</c:v>
          </c:tx>
          <c:spPr>
            <a:ln w="14288">
              <a:solidFill>
                <a:srgbClr val="D97720"/>
              </a:solidFill>
              <a:prstDash val="dash"/>
            </a:ln>
          </c:spPr>
          <c:marker>
            <c:symbol val="none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0</c:v>
                </c:pt>
                <c:pt idx="1">
                  <c:v>19</c:v>
                </c:pt>
              </c:numCache>
            </c:numRef>
          </c:xVal>
          <c:yVal>
            <c:numRef>
              <c:f>'Chart Data'!$F$2:$F$3</c:f>
              <c:numCache>
                <c:formatCode>0</c:formatCode>
                <c:ptCount val="2"/>
                <c:pt idx="0">
                  <c:v>54.545454999999997</c:v>
                </c:pt>
                <c:pt idx="1">
                  <c:v>54.545454999999997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13B8-4E57-87F9-05333C771A69}"/>
            </c:ext>
          </c:extLst>
        </c:ser>
        <c:ser>
          <c:idx val="3"/>
          <c:order val="3"/>
          <c:tx>
            <c:v>19-я эпоха</c:v>
          </c:tx>
          <c:spPr>
            <a:ln w="0">
              <a:noFill/>
            </a:ln>
          </c:spPr>
          <c:marker>
            <c:symbol val="diamond"/>
            <c:size val="10"/>
            <c:spPr>
              <a:solidFill>
                <a:srgbClr val="D97720"/>
              </a:solidFill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sz="1350" b="1">
                        <a:solidFill>
                          <a:srgbClr val="D97720"/>
                        </a:solidFill>
                      </a:rPr>
                      <a:t>54,55 %</a:t>
                    </a:r>
                  </a:p>
                </c:rich>
              </c:tx>
              <c:spPr/>
              <c:dLblPos val="t"/>
              <c:showLegendKey val="1"/>
              <c:showVal val="1"/>
              <c:showCatName val="1"/>
              <c:showSerName val="1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13B8-4E57-87F9-05333C771A69}"/>
                </c:ext>
              </c:extLst>
            </c:dLbl>
            <c:numFmt formatCode="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350" b="1">
                    <a:solidFill>
                      <a:srgbClr val="D97720"/>
                    </a:solidFill>
                  </a:defRPr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'Chart Data'!$G$2:$G$2</c:f>
              <c:numCache>
                <c:formatCode>General</c:formatCode>
                <c:ptCount val="1"/>
                <c:pt idx="0">
                  <c:v>19</c:v>
                </c:pt>
              </c:numCache>
            </c:numRef>
          </c:xVal>
          <c:yVal>
            <c:numRef>
              <c:f>'Chart Data'!$H$2:$H$2</c:f>
              <c:numCache>
                <c:formatCode>0</c:formatCode>
                <c:ptCount val="1"/>
                <c:pt idx="0">
                  <c:v>54.545454999999997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4-13B8-4E57-87F9-05333C771A69}"/>
            </c:ext>
          </c:extLst>
        </c:ser>
        <c:ser>
          <c:idx val="4"/>
          <c:order val="4"/>
          <c:tx>
            <c:v>Метка эпохи на оси</c:v>
          </c:tx>
          <c:spPr>
            <a:ln w="0">
              <a:noFill/>
            </a:ln>
          </c:spPr>
          <c:marker>
            <c:symbol val="triangle"/>
            <c:size val="5"/>
            <c:spPr>
              <a:solidFill>
                <a:srgbClr val="D97720"/>
              </a:solidFill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sz="1200" b="1">
                        <a:solidFill>
                          <a:srgbClr val="D97720"/>
                        </a:solidFill>
                      </a:rPr>
                      <a:t>19</a:t>
                    </a:r>
                  </a:p>
                </c:rich>
              </c:tx>
              <c:spPr/>
              <c:dLblPos val="t"/>
              <c:showLegendKey val="1"/>
              <c:showVal val="1"/>
              <c:showCatName val="1"/>
              <c:showSerName val="1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13B8-4E57-87F9-05333C771A6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200" b="1">
                    <a:solidFill>
                      <a:srgbClr val="D97720"/>
                    </a:solidFill>
                  </a:defRPr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'Chart Data'!$I$2:$I$2</c:f>
              <c:numCache>
                <c:formatCode>General</c:formatCode>
                <c:ptCount val="1"/>
                <c:pt idx="0">
                  <c:v>19</c:v>
                </c:pt>
              </c:numCache>
            </c:numRef>
          </c:xVal>
          <c:yVal>
            <c:numRef>
              <c:f>'Chart Data'!$J$2:$J$2</c:f>
              <c:numCache>
                <c:formatCode>0</c:formatCode>
                <c:ptCount val="1"/>
                <c:pt idx="0">
                  <c:v>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6-13B8-4E57-87F9-05333C771A6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w="6668">
              <a:solidFill>
                <a:srgbClr val="E3E7EB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lang="ru-RU" sz="1425">
                    <a:solidFill>
                      <a:srgbClr val="222C38"/>
                    </a:solidFill>
                    <a:latin typeface="Times New Roman"/>
                    <a:ea typeface="Times New Roman"/>
                    <a:cs typeface="Times New Roman"/>
                  </a:rPr>
                  <a:t>Полнота, %</a:t>
                </a:r>
              </a:p>
            </c:rich>
          </c:tx>
          <c:overlay val="0"/>
        </c:title>
        <c:numFmt formatCode="0" sourceLinked="1"/>
        <c:majorTickMark val="none"/>
        <c:minorTickMark val="none"/>
        <c:tickLblPos val="nextTo"/>
        <c:spPr>
          <a:ln w="9525">
            <a:solidFill>
              <a:srgbClr val="A4ABB3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222C38"/>
                </a:solidFill>
                <a:latin typeface="Times New Roman"/>
                <a:ea typeface="Times New Roman"/>
                <a:cs typeface="Times New Roman"/>
              </a:defRPr>
            </a:pPr>
            <a:endParaRPr lang="ru-RU"/>
          </a:p>
        </c:txPr>
        <c:crossAx val="48650112"/>
        <c:crosses val="autoZero"/>
        <c:crossBetween val="midCat"/>
        <c:majorUnit val="25"/>
      </c:valAx>
      <c:valAx>
        <c:axId val="48650112"/>
        <c:scaling>
          <c:orientation val="minMax"/>
          <c:max val="20"/>
          <c:min val="0"/>
        </c:scaling>
        <c:delete val="0"/>
        <c:axPos val="b"/>
        <c:title>
          <c:tx>
            <c:rich>
              <a:bodyPr/>
              <a:lstStyle/>
              <a:p>
                <a:r>
                  <a:rPr lang="ru-RU" sz="1425">
                    <a:solidFill>
                      <a:srgbClr val="222C38"/>
                    </a:solidFill>
                    <a:latin typeface="Times New Roman"/>
                    <a:ea typeface="Times New Roman"/>
                    <a:cs typeface="Times New Roman"/>
                  </a:rPr>
                  <a:t>Эпоха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A4ABB3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222C38"/>
                </a:solidFill>
                <a:latin typeface="Times New Roman"/>
                <a:ea typeface="Times New Roman"/>
                <a:cs typeface="Times New Roman"/>
              </a:defRPr>
            </a:pPr>
            <a:endParaRPr lang="ru-RU"/>
          </a:p>
        </c:txPr>
        <c:crossAx val="48672768"/>
        <c:crosses val="autoZero"/>
        <c:crossBetween val="midCat"/>
        <c:majorUnit val="5"/>
      </c:valAx>
      <c:spPr>
        <a:solidFill>
          <a:srgbClr val="FFFFFF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Титульные сведения: C:/Users/Yawllen/Documents/GitHub/Nir2/Title.tex. Группа ИВТм-251 и научный руководитель А. С. Астахов уточнены пользователем. Визуальный шаблон: первый слайд C:/Users/Yawllen/Downloads/Eshenko_VKR.pptx.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448156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28071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BACC8-2C4D-334B-9042-96E69D47F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2BE1D05-A3F2-9A1C-96D7-51E72924A0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01E14AF7-2AA3-67C6-62C2-2ADB9EC803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D686308-0247-4379-103C-289F8CA0A1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7347D7-6652-406A-AA51-ABE302EA4CF8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44389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726DC-CE10-F03F-2142-18D5DEE97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BD27571-4120-1AD9-24AF-1F6C37D039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C020C72C-20DC-053F-06DA-226D6D644D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5F1735C-DD43-29D0-C068-51A4DFD826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7347D7-6652-406A-AA51-ABE302EA4CF8}" type="slidenum">
              <a:rPr lang="ru-RU" smtClean="0"/>
              <a:t>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798463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726DC-CE10-F03F-2142-18D5DEE97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BD27571-4120-1AD9-24AF-1F6C37D039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C020C72C-20DC-053F-06DA-226D6D644D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5F1735C-DD43-29D0-C068-51A4DFD826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7347D7-6652-406A-AA51-ABE302EA4CF8}" type="slidenum">
              <a:rPr lang="ru-RU" smtClean="0"/>
              <a:t>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402733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726DC-CE10-F03F-2142-18D5DEE97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BD27571-4120-1AD9-24AF-1F6C37D039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C020C72C-20DC-053F-06DA-226D6D644D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5F1735C-DD43-29D0-C068-51A4DFD826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7347D7-6652-406A-AA51-ABE302EA4CF8}" type="slidenum">
              <a:rPr lang="ru-RU" smtClean="0"/>
              <a:t>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798948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726DC-CE10-F03F-2142-18D5DEE97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BD27571-4120-1AD9-24AF-1F6C37D039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C020C72C-20DC-053F-06DA-226D6D644D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Порог 0,3 применялся при оценке модели, а 0,5 — при автоматической отмене печати. 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5F1735C-DD43-29D0-C068-51A4DFD826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7347D7-6652-406A-AA51-ABE302EA4CF8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59531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C388F-DEE8-4999-80DA-4B08D9C6AE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Образец заголовка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26C57B-B7B9-44ED-8C6F-DD39ABA58A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Образец подзаголовка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FE8F56-F9DD-4EBB-8D7D-653AD4D57F8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0FFA9E1-D308-41E7-A8C4-3E7207C0A6E1}" type="datetimeFigureOut">
              <a:t>09.10.2026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C080A1-B1C3-40DF-A5E5-D24C706F667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1F9F49-A4A0-4CDA-B3A7-871709CE7D9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6ED8A53-8D2F-4011-BE06-EDB0774336BA}" type="slidenum"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D0A74-FEAB-4613-88EF-54A0A6D46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Образец заголовка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2C022A-C158-40E5-B7EE-7ECD7BFAC8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51D32F-F627-436D-8334-BEAC64706DC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0FFA9E1-D308-41E7-A8C4-3E7207C0A6E1}" type="datetimeFigureOut">
              <a:t>09.10.2026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6CE828-67B2-4444-929F-5321B45AA52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A9A65A-E6E0-4F5F-AFDD-97A08A57B0E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6ED8A53-8D2F-4011-BE06-EDB0774336BA}" type="slidenum"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B6B0C-7344-4431-97A8-11EDF4BA2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Образец заголовка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B8E9C-3084-4625-8E03-F9FED502F5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DAAF5B-621A-4438-B4C6-6F2CA534112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0FFA9E1-D308-41E7-A8C4-3E7207C0A6E1}" type="datetimeFigureOut">
              <a:t>09.10.2026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94CF84-34C8-420C-9C94-37AC72D88D9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38660F-AB7F-403A-AA16-3575B45A308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6ED8A53-8D2F-4011-BE06-EDB0774336BA}" type="slidenum"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1C073-DA93-462D-92EF-EAB28C3BF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Образец заголовка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4DF1C2-8D54-44FD-B541-0BF158C772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1CA6C0-736D-4A89-97F5-B0013D6D71A4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E2AC1-B710-47D7-A39F-322CF1707C8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0FFA9E1-D308-41E7-A8C4-3E7207C0A6E1}" type="datetimeFigureOut">
              <a:t>09.10.2026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8DA8DB-42F1-4912-8081-4426A6F347C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B7B3AA-4994-402A-9168-DC2C25EF2EE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6ED8A53-8D2F-4011-BE06-EDB0774336BA}" type="slidenum"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C9060-334F-4364-A593-C6A5F1C90D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t>Образец заголовка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782AE4-D909-420E-A442-752611BD70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7E7F8D-A36A-4049-808E-063A552764E9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334DA7-E5A8-4668-BC62-EC8C60B4E2C1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68618A-04E8-4CCE-A9E4-4A649FDE1901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91C88F-9BDC-48E9-9C80-737529C09AD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0FFA9E1-D308-41E7-A8C4-3E7207C0A6E1}" type="datetimeFigureOut">
              <a:t>09.10.2026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C377B7-C9A0-47AD-8ED5-611704EEF9E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71D917-B3D4-44AE-B364-D7812D1A40F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6ED8A53-8D2F-4011-BE06-EDB0774336BA}" type="slidenum"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DD367-135D-4516-AC8A-A92E8201C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Образец заголовка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238541-2621-4C5F-AA05-B9D6C59A180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0FFA9E1-D308-41E7-A8C4-3E7207C0A6E1}" type="datetimeFigureOut">
              <a:t>09.10.2026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D53E81-B4C5-4C85-9FEC-B133C0F7240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103A86-A27B-4838-A9BE-FDFF85BBA18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6ED8A53-8D2F-4011-BE06-EDB0774336BA}" type="slidenum"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229F4D-0648-4B9E-8A6F-1B7EA1654CE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0FFA9E1-D308-41E7-A8C4-3E7207C0A6E1}" type="datetimeFigureOut">
              <a:t>09.10.2026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C727DE-4D07-4459-B460-69CA08CDA0B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97132C-A107-42A9-A593-E2F1BA9CB94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6ED8A53-8D2F-4011-BE06-EDB0774336BA}" type="slidenum"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C7406-F75E-40A2-9B5A-F27948D0E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Образец заголовка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967158-6170-4FC7-856A-8205BBAF3E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A558BE-EDBE-4F50-A862-6DBA416D173D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38FB7D-9228-41EB-BE6B-599554EA577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0FFA9E1-D308-41E7-A8C4-3E7207C0A6E1}" type="datetimeFigureOut">
              <a:t>09.10.2026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A4B719-B4B7-4F42-BD3F-01EC1441697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689AC8-8D43-44CB-AAB7-9AE138C6CE9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6ED8A53-8D2F-4011-BE06-EDB0774336BA}" type="slidenum"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19385-C566-4337-BE85-EE2C6C9D5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Образец заголовка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B96CEB-8A1B-447C-A05B-53A238D04E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t>Вставка рисунка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873D77-200D-4493-A725-400D2744AA4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B3FF7D-FDA6-4E12-99E3-388C062D83A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0FFA9E1-D308-41E7-A8C4-3E7207C0A6E1}" type="datetimeFigureOut">
              <a:t>09.10.2026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6E235E-A01B-4009-A5F5-6642D81957E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373340-F8F1-40F0-9881-4514E0D96EB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6ED8A53-8D2F-4011-BE06-EDB0774336BA}" type="slidenum"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B8FD7-CE2D-40A2-AB93-AC97CB944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Образец заголовка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EDC243-3A9A-42D3-A38A-95EFB40219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BA6133-9BFC-47CE-BAF1-E9AA5220563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0FFA9E1-D308-41E7-A8C4-3E7207C0A6E1}" type="datetimeFigureOut">
              <a:t>09.10.2026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F88FD5-1CC6-45E6-A6B3-31A633082CD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3C1CFA-A7E3-4580-94FF-ED73E79675B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6ED8A53-8D2F-4011-BE06-EDB0774336BA}" type="slidenum"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5C103D-EC12-4503-8554-224CFE9719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t>Образец заголовка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EC51D8-B839-44CA-A112-44746FCE1A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3B89CB-3176-482E-ADAC-8096540C4D2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0FFA9E1-D308-41E7-A8C4-3E7207C0A6E1}" type="datetimeFigureOut">
              <a:t>09.10.2026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20CCB3-9BD0-4474-8AE4-C8F1EB2E33D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EB7441-6A01-45BB-BF93-75993D6571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6ED8A53-8D2F-4011-BE06-EDB0774336BA}" type="slidenum"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24AF1C-5263-45DE-B0BF-4C7856D7D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Образец заголовка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8C9B1E-1B94-4341-9B43-62399FE44A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347B43-022E-43C0-9C4C-EDA69A2326C1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FFA9E1-D308-41E7-A8C4-3E7207C0A6E1}" type="datetimeFigureOut">
              <a:t>09.10.2026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476C5F-40E1-410B-BAA7-B63D1B24D54E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E494A4-AEEB-44DD-AC94-FA16A78739FC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ED8A53-8D2F-4011-BE06-EDB0774336BA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49197F-1F94-4487-96B4-5CC8E191D2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6126" y="1660941"/>
            <a:ext cx="7966787" cy="1467730"/>
          </a:xfrm>
        </p:spPr>
        <p:txBody>
          <a:bodyPr vert="horz" lIns="91440" tIns="45720" rIns="91440" bIns="45720" anchor="ctr">
            <a:noAutofit/>
          </a:bodyPr>
          <a:lstStyle>
            <a:defPPr algn="ctr">
              <a:defRPr sz="3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buNone/>
              <a:defRPr sz="3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6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Автоматическое</a:t>
            </a:r>
            <a:r>
              <a:rPr sz="36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</a:t>
            </a:r>
            <a:r>
              <a:rPr sz="36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выявление</a:t>
            </a:r>
            <a:endParaRPr sz="3600" b="1" dirty="0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</a:endParaRPr>
          </a:p>
          <a:p>
            <a:pPr algn="ctr">
              <a:buNone/>
              <a:defRPr sz="3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6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дефектов</a:t>
            </a:r>
            <a:r>
              <a:rPr sz="36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в </a:t>
            </a:r>
            <a:r>
              <a:rPr sz="36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процессе</a:t>
            </a:r>
            <a:r>
              <a:rPr sz="36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3D-печати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5F81F08-5D1E-4085-9EBA-0CC100597D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2393" y="4487371"/>
            <a:ext cx="7970520" cy="1749400"/>
          </a:xfrm>
        </p:spPr>
        <p:txBody>
          <a:bodyPr vert="horz" lIns="91440" tIns="45720" rIns="91440" bIns="45720" anchor="ctr">
            <a:noAutofit/>
          </a:bodyPr>
          <a:lstStyle>
            <a:def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just"/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Студент группы ИВТм-2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1:                                     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Ешенко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Даниил Ярославович</a:t>
            </a:r>
          </a:p>
          <a:p>
            <a:pPr algn="just"/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Руководитель практики:     к. ф.-м. н.,</a:t>
            </a:r>
            <a:r>
              <a:rPr lang="ru-RU" sz="18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доцент каф. ИСКM, Иванченко Г. С.</a:t>
            </a:r>
          </a:p>
          <a:p>
            <a:pPr algn="just"/>
            <a:r>
              <a:rPr lang="ru-RU" sz="18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Научный консультант:                          ст. преп. каф. ИСКМ, Астахов А.С.</a:t>
            </a:r>
            <a:endParaRPr lang="ru-RU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CF1438-5AC9-43E1-AF5B-1B0FBA2C3062}"/>
              </a:ext>
            </a:extLst>
          </p:cNvPr>
          <p:cNvSpPr>
            <a:spLocks noGrp="1"/>
          </p:cNvSpPr>
          <p:nvPr/>
        </p:nvSpPr>
        <p:spPr>
          <a:xfrm>
            <a:off x="714393" y="321974"/>
            <a:ext cx="7968520" cy="101566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buNone/>
            </a:pPr>
            <a:r>
              <a:rPr sz="2000" b="0" i="0" u="none" strike="noStrike" baseline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Волгоградский</a:t>
            </a:r>
            <a:r>
              <a:rPr sz="2000" b="0" i="0" u="none" strike="noStrike" baseline="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</a:t>
            </a:r>
            <a:r>
              <a:rPr sz="2000" b="0" i="0" u="none" strike="noStrike" baseline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государственный</a:t>
            </a:r>
            <a:r>
              <a:rPr sz="2000" b="0" i="0" u="none" strike="noStrike" baseline="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</a:t>
            </a:r>
            <a:r>
              <a:rPr sz="2000" b="0" i="0" u="none" strike="noStrike" baseline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университет</a:t>
            </a:r>
            <a:endParaRPr sz="2000" b="0" i="0" u="none" strike="noStrike" baseline="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</a:endParaRPr>
          </a:p>
          <a:p>
            <a:pPr algn="ctr">
              <a:buNone/>
            </a:pPr>
            <a:r>
              <a:rPr sz="2000" b="0" i="0" u="none" strike="noStrike" baseline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Институт</a:t>
            </a:r>
            <a:r>
              <a:rPr sz="2000" b="0" i="0" u="none" strike="noStrike" baseline="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</a:t>
            </a:r>
            <a:r>
              <a:rPr sz="2000" b="0" i="0" u="none" strike="noStrike" baseline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математики</a:t>
            </a:r>
            <a:r>
              <a:rPr sz="2000" b="0" i="0" u="none" strike="noStrike" baseline="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и </a:t>
            </a:r>
            <a:r>
              <a:rPr sz="2000" b="0" i="0" u="none" strike="noStrike" baseline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информационных</a:t>
            </a:r>
            <a:r>
              <a:rPr sz="2000" b="0" i="0" u="none" strike="noStrike" baseline="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</a:t>
            </a:r>
            <a:r>
              <a:rPr sz="2000" b="0" i="0" u="none" strike="noStrike" baseline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технологий</a:t>
            </a:r>
            <a:endParaRPr sz="2000" b="0" i="0" u="none" strike="noStrike" baseline="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</a:endParaRPr>
          </a:p>
          <a:p>
            <a:pPr algn="ctr">
              <a:buNone/>
            </a:pPr>
            <a:r>
              <a:rPr sz="2000" b="0" i="0" u="none" strike="noStrike" baseline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Кафедра</a:t>
            </a:r>
            <a:r>
              <a:rPr sz="2000" b="0" i="0" u="none" strike="noStrike" baseline="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</a:t>
            </a:r>
            <a:r>
              <a:rPr sz="2000" b="0" i="0" u="none" strike="noStrike" baseline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информационных</a:t>
            </a:r>
            <a:r>
              <a:rPr sz="2000" b="0" i="0" u="none" strike="noStrike" baseline="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</a:t>
            </a:r>
            <a:r>
              <a:rPr sz="2000" b="0" i="0" u="none" strike="noStrike" baseline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систем</a:t>
            </a:r>
            <a:r>
              <a:rPr sz="2000" b="0" i="0" u="none" strike="noStrike" baseline="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и </a:t>
            </a:r>
            <a:r>
              <a:rPr sz="2000" b="0" i="0" u="none" strike="noStrike" baseline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компьютерного</a:t>
            </a:r>
            <a:r>
              <a:rPr sz="2000" b="0" i="0" u="none" strike="noStrike" baseline="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</a:t>
            </a:r>
            <a:r>
              <a:rPr sz="2000" b="0" i="0" u="none" strike="noStrike" baseline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моделирования</a:t>
            </a:r>
            <a:endParaRPr sz="20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</a:endParaRP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EEB4BB57-FAB3-D4FF-BB40-FB880A2615B3}"/>
              </a:ext>
            </a:extLst>
          </p:cNvPr>
          <p:cNvSpPr>
            <a:spLocks noGrp="1"/>
          </p:cNvSpPr>
          <p:nvPr/>
        </p:nvSpPr>
        <p:spPr>
          <a:xfrm>
            <a:off x="711175" y="3377449"/>
            <a:ext cx="7971738" cy="1109922"/>
          </a:xfrm>
          <a:prstGeom prst="rect">
            <a:avLst/>
          </a:prstGeom>
        </p:spPr>
        <p:txBody>
          <a:bodyPr vert="horz" lIns="91440" tIns="45720" rIns="91440" bIns="45720" anchor="ctr">
            <a:noAutofit/>
          </a:bodyPr>
          <a:lstStyle>
            <a:defPPr algn="ctr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ctr">
              <a:lnSpc>
                <a:spcPct val="100000"/>
              </a:lnSpc>
              <a:buNone/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Научно-исследовательская работа по направлению</a:t>
            </a:r>
            <a:endParaRPr sz="2000">
              <a:latin typeface="Times New Roman" panose="02020603050405020304" pitchFamily="18" charset="0"/>
              <a:ea typeface="Calibri Light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buNone/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09.04.01 «Информатика и вычислительная техника»</a:t>
            </a:r>
            <a:endParaRPr sz="200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</a:endParaRPr>
          </a:p>
        </p:txBody>
      </p:sp>
      <p:sp>
        <p:nvSpPr>
          <p:cNvPr id="8" name="Подзаголовок 2">
            <a:extLst>
              <a:ext uri="{FF2B5EF4-FFF2-40B4-BE49-F238E27FC236}">
                <a16:creationId xmlns:a16="http://schemas.microsoft.com/office/drawing/2014/main" id="{EA943AF4-237A-8CA5-C20E-0B6C8CCD2DB0}"/>
              </a:ext>
            </a:extLst>
          </p:cNvPr>
          <p:cNvSpPr>
            <a:spLocks noGrp="1"/>
          </p:cNvSpPr>
          <p:nvPr/>
        </p:nvSpPr>
        <p:spPr>
          <a:xfrm>
            <a:off x="591820" y="6383842"/>
            <a:ext cx="7960360" cy="297180"/>
          </a:xfrm>
          <a:prstGeom prst="rect">
            <a:avLst/>
          </a:prstGeom>
        </p:spPr>
        <p:txBody>
          <a:bodyPr vert="horz" lIns="91440" tIns="45720" rIns="91440" bIns="45720" anchor="ctr">
            <a:noAutofit/>
          </a:bodyPr>
          <a:lstStyle>
            <a:defPPr algn="ctr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marL="0" indent="0" algn="ctr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Волгоград 2026</a:t>
            </a:r>
          </a:p>
        </p:txBody>
      </p:sp>
      <p:sp>
        <p:nvSpPr>
          <p:cNvPr id="10" name="Подзаголовок 2">
            <a:extLst>
              <a:ext uri="{FF2B5EF4-FFF2-40B4-BE49-F238E27FC236}">
                <a16:creationId xmlns:a16="http://schemas.microsoft.com/office/drawing/2014/main" id="{4D423A90-34D2-345E-BA07-2F7DEF1B1097}"/>
              </a:ext>
            </a:extLst>
          </p:cNvPr>
          <p:cNvSpPr txBox="1">
            <a:spLocks/>
          </p:cNvSpPr>
          <p:nvPr/>
        </p:nvSpPr>
        <p:spPr>
          <a:xfrm>
            <a:off x="722553" y="5168483"/>
            <a:ext cx="7960360" cy="109982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just"/>
            <a:endParaRPr lang="ru-RU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24434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3432" y="-5479"/>
            <a:ext cx="7877136" cy="758162"/>
          </a:xfrm>
        </p:spPr>
        <p:txBody>
          <a:bodyPr>
            <a:normAutofit/>
          </a:bodyPr>
          <a:lstStyle/>
          <a:p>
            <a:pPr algn="ctr"/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работы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44993" y="752683"/>
            <a:ext cx="8410511" cy="1170901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работы — разработка и испытание экспериментального 3D-принтера с системой обнаружения дефектов и механизмом автоматического реагирования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4087" y="1960801"/>
            <a:ext cx="7878196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задачи работы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4993" y="2607132"/>
            <a:ext cx="8330065" cy="378565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14630" indent="-214630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Изучение дефектов FDM-печати и выбор целевого дефекта для автоматического обнаружения.</a:t>
            </a:r>
          </a:p>
          <a:p>
            <a:pPr marL="214630" indent="-214630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Проектирование, сборка и отладка аппаратно-программного комплекса экспериментального 3D-принтера.</a:t>
            </a:r>
          </a:p>
          <a:p>
            <a:pPr marL="214630" indent="-214630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Сбор и подготовка данных для обучения нейросети и обучение модели обнаружения целевого дефекта.</a:t>
            </a:r>
          </a:p>
          <a:p>
            <a:pPr marL="214630" indent="-214630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внешней системы контроля печати с автоматическим обнаружением дефектов.</a:t>
            </a:r>
          </a:p>
          <a:p>
            <a:pPr marL="214630" indent="-214630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Тестирование работы системы контроля и 3D-принтера в процессе печати.</a:t>
            </a:r>
          </a:p>
        </p:txBody>
      </p:sp>
      <p:sp>
        <p:nvSpPr>
          <p:cNvPr id="6" name="Замещающий номер слайда 4">
            <a:extLst>
              <a:ext uri="{FF2B5EF4-FFF2-40B4-BE49-F238E27FC236}">
                <a16:creationId xmlns:a16="http://schemas.microsoft.com/office/drawing/2014/main" id="{C78DB24C-FC20-2FE0-98E7-F598D1843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8886" y="6493511"/>
            <a:ext cx="2057400" cy="365125"/>
          </a:xfrm>
        </p:spPr>
        <p:txBody>
          <a:bodyPr/>
          <a:lstStyle/>
          <a:p>
            <a:fld id="{D6ED8A53-8D2F-4011-BE06-EDB0774336BA}" type="slidenum">
              <a:rPr lang="ru-RU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endParaRPr lang="ru-RU" sz="2000">
              <a:solidFill>
                <a:schemeClr val="tx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99FE507C-2C48-A423-9756-13891072B7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33" t="13068" r="8466" b="3458"/>
          <a:stretch/>
        </p:blipFill>
        <p:spPr>
          <a:xfrm>
            <a:off x="5021065" y="3247173"/>
            <a:ext cx="3921040" cy="2555874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CC29E7-47AE-4C1B-A66A-06BAB8AB4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-116476"/>
            <a:ext cx="7886700" cy="712868"/>
          </a:xfrm>
        </p:spPr>
        <p:txBody>
          <a:bodyPr wrap="square" lIns="91440" tIns="45720" rIns="91440" bIns="45720">
            <a:noAutofit/>
          </a:bodyPr>
          <a:lstStyle>
            <a:defPPr algn="ctr">
              <a:defRPr sz="44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buNone/>
              <a:defRPr sz="44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0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В </a:t>
            </a:r>
            <a:r>
              <a:rPr sz="4000" b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чем</a:t>
            </a:r>
            <a:r>
              <a:rPr sz="40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4000" b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заключается</a:t>
            </a:r>
            <a:r>
              <a:rPr sz="40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4000" b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проблема</a:t>
            </a:r>
            <a:r>
              <a:rPr sz="40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:</a:t>
            </a:r>
            <a:endParaRPr sz="4000" dirty="0"/>
          </a:p>
        </p:txBody>
      </p:sp>
      <p:sp>
        <p:nvSpPr>
          <p:cNvPr id="5" name="Замещающий номер слайда 4">
            <a:extLst>
              <a:ext uri="{FF2B5EF4-FFF2-40B4-BE49-F238E27FC236}">
                <a16:creationId xmlns:a16="http://schemas.microsoft.com/office/drawing/2014/main" id="{7A7AC3B3-0D3D-46AF-A9AF-3FA15E2C3D9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088886" y="6493511"/>
            <a:ext cx="2057400" cy="365125"/>
          </a:xfrm>
        </p:spPr>
        <p:txBody>
          <a:bodyPr wrap="square" lIns="91440" tIns="45720" rIns="91440" bIns="45720">
            <a:noAutofit/>
          </a:bodyPr>
          <a:lstStyle>
            <a:defPPr algn="r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r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fld id="{D6ED8A53-8D2F-4011-BE06-EDB0774336BA}" type="slidenum"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</a:t>
            </a:fld>
            <a:endParaRPr sz="2000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A98C53-8330-9192-D210-4F5703BD6F05}"/>
              </a:ext>
            </a:extLst>
          </p:cNvPr>
          <p:cNvSpPr>
            <a:spLocks noGrp="1"/>
          </p:cNvSpPr>
          <p:nvPr/>
        </p:nvSpPr>
        <p:spPr>
          <a:xfrm>
            <a:off x="277897" y="597203"/>
            <a:ext cx="5948583" cy="2297417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def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ru-RU" sz="18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На фермах 3D-принтеров в процессе печати могут возникать сбои, вызванные различными факторами. Такие дефекты, как отлипание, расслоение или смещение слоёв, в конечном итоге могут привести к </a:t>
            </a:r>
            <a:r>
              <a:rPr lang="ru-RU" sz="18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критическому дефекту «спагетти»</a:t>
            </a:r>
            <a:r>
              <a:rPr lang="ru-RU" sz="18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при котором пластик начинает хаотично укладываться в воздухе. Такой дефект приводит к перерасходу материала, а в отдельных случаях может стать </a:t>
            </a:r>
            <a:r>
              <a:rPr lang="ru-RU" sz="18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причиной повреждения </a:t>
            </a:r>
            <a:r>
              <a:rPr lang="ru-RU" sz="18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самого 3D-принтера.</a:t>
            </a:r>
            <a:endParaRPr lang="ru-RU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3027D3F-6BC8-2110-F2D0-39287E8FAFD7}"/>
              </a:ext>
            </a:extLst>
          </p:cNvPr>
          <p:cNvSpPr>
            <a:spLocks noGrp="1"/>
          </p:cNvSpPr>
          <p:nvPr/>
        </p:nvSpPr>
        <p:spPr>
          <a:xfrm>
            <a:off x="6440105" y="2547592"/>
            <a:ext cx="2182057" cy="5791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Рис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 1 – </a:t>
            </a:r>
            <a:r>
              <a:rPr sz="1600" b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Дефект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600" b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типа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«</a:t>
            </a:r>
            <a:r>
              <a:rPr sz="1600" b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спагетти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»</a:t>
            </a:r>
          </a:p>
        </p:txBody>
      </p:sp>
      <p:pic>
        <p:nvPicPr>
          <p:cNvPr id="4" name="Рисунок 3" descr="Изображение выглядит как искусство, дизайн, соединитель, свет&#10;&#10;Содержимое, созданное ИИ, может быть неверным.">
            <a:extLst>
              <a:ext uri="{FF2B5EF4-FFF2-40B4-BE49-F238E27FC236}">
                <a16:creationId xmlns:a16="http://schemas.microsoft.com/office/drawing/2014/main" id="{AE67ED3C-CB37-618A-EEBF-9C9FF1AB5D4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291" t="18812" r="21153" b="24354"/>
          <a:stretch/>
        </p:blipFill>
        <p:spPr>
          <a:xfrm>
            <a:off x="6333293" y="704535"/>
            <a:ext cx="2288869" cy="1792981"/>
          </a:xfrm>
          <a:prstGeom prst="rect">
            <a:avLst/>
          </a:prstGeom>
          <a:ln w="28575">
            <a:noFill/>
          </a:ln>
        </p:spPr>
      </p:pic>
      <p:sp>
        <p:nvSpPr>
          <p:cNvPr id="6" name="TextBox 2">
            <a:extLst>
              <a:ext uri="{FF2B5EF4-FFF2-40B4-BE49-F238E27FC236}">
                <a16:creationId xmlns:a16="http://schemas.microsoft.com/office/drawing/2014/main" id="{452C65C1-2992-0840-D7B0-DF2AD9057D63}"/>
              </a:ext>
            </a:extLst>
          </p:cNvPr>
          <p:cNvSpPr>
            <a:spLocks noGrp="1"/>
          </p:cNvSpPr>
          <p:nvPr/>
        </p:nvSpPr>
        <p:spPr>
          <a:xfrm>
            <a:off x="277897" y="3017804"/>
            <a:ext cx="4637770" cy="2791593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def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ru-RU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Проблему удалось подтвердить на ферме волгоградской компании «Stereotech». По накопленной статистике принтеров с фермы, </a:t>
            </a:r>
            <a:r>
              <a:rPr lang="ru-RU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26,7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% </a:t>
            </a:r>
            <a:r>
              <a:rPr lang="ru-RU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заданий были </a:t>
            </a:r>
            <a:r>
              <a:rPr lang="ru-RU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отменены</a:t>
            </a:r>
            <a:r>
              <a:rPr lang="ru-RU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оператором вручную </a:t>
            </a:r>
            <a:r>
              <a:rPr lang="ru-RU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из-за различных сбоев печати</a:t>
            </a:r>
            <a:r>
              <a:rPr lang="ru-RU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 Статистика имеет погрешность, так как в часть успешных заданий входят печати, когда оператор не мог отменить задачу, хотя сбой был, а часть отмен не связаны с дефектами.</a:t>
            </a:r>
            <a:endParaRPr lang="ru-RU" dirty="0"/>
          </a:p>
        </p:txBody>
      </p:sp>
      <p:sp>
        <p:nvSpPr>
          <p:cNvPr id="12" name="TextBox 26">
            <a:extLst>
              <a:ext uri="{FF2B5EF4-FFF2-40B4-BE49-F238E27FC236}">
                <a16:creationId xmlns:a16="http://schemas.microsoft.com/office/drawing/2014/main" id="{DC9D2F2B-4F62-AFAE-5BC3-F6D246AAE8E4}"/>
              </a:ext>
            </a:extLst>
          </p:cNvPr>
          <p:cNvSpPr>
            <a:spLocks noGrp="1"/>
          </p:cNvSpPr>
          <p:nvPr/>
        </p:nvSpPr>
        <p:spPr>
          <a:xfrm>
            <a:off x="4868975" y="6014767"/>
            <a:ext cx="4073130" cy="5791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anchor="ctr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Рис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 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 – 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Диаграмма статистики печатей на ферме компании «</a:t>
            </a:r>
            <a:r>
              <a:rPr lang="en-US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Stereotech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»</a:t>
            </a:r>
            <a:endParaRPr sz="1600" b="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1" name="TextBox 2">
            <a:extLst>
              <a:ext uri="{FF2B5EF4-FFF2-40B4-BE49-F238E27FC236}">
                <a16:creationId xmlns:a16="http://schemas.microsoft.com/office/drawing/2014/main" id="{776FE2EE-EE34-7E14-84FE-9C2304D04340}"/>
              </a:ext>
            </a:extLst>
          </p:cNvPr>
          <p:cNvSpPr>
            <a:spLocks noGrp="1"/>
          </p:cNvSpPr>
          <p:nvPr/>
        </p:nvSpPr>
        <p:spPr>
          <a:xfrm>
            <a:off x="277897" y="5932581"/>
            <a:ext cx="4637770" cy="743492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def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ru-RU" b="1" dirty="0">
                <a:solidFill>
                  <a:srgbClr val="000000"/>
                </a:solidFill>
                <a:latin typeface="Times New Roman"/>
                <a:cs typeface="Times New Roman"/>
              </a:rPr>
              <a:t>Предлагаемое</a:t>
            </a:r>
            <a:r>
              <a:rPr lang="ru-RU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ru-RU" b="1" dirty="0">
                <a:solidFill>
                  <a:srgbClr val="000000"/>
                </a:solidFill>
                <a:latin typeface="Times New Roman"/>
                <a:cs typeface="Times New Roman"/>
              </a:rPr>
              <a:t>решение</a:t>
            </a:r>
            <a:r>
              <a:rPr lang="ru-RU" dirty="0">
                <a:solidFill>
                  <a:srgbClr val="000000"/>
                </a:solidFill>
                <a:latin typeface="Times New Roman"/>
                <a:cs typeface="Times New Roman"/>
              </a:rPr>
              <a:t>: мониторинг печати с помощью методов машинного зрения.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110505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6A209A-B3B7-9043-FC7E-DD693EE6A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8A91D6-F58A-86A8-231A-A5AC58545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8" y="0"/>
            <a:ext cx="7886700" cy="712868"/>
          </a:xfrm>
        </p:spPr>
        <p:txBody>
          <a:bodyPr>
            <a:normAutofit/>
          </a:bodyPr>
          <a:lstStyle/>
          <a:p>
            <a:pPr algn="ctr"/>
            <a:r>
              <a:rPr lang="ru-RU" sz="40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Подготовка к обучению нейросети</a:t>
            </a:r>
          </a:p>
        </p:txBody>
      </p:sp>
      <p:sp>
        <p:nvSpPr>
          <p:cNvPr id="5" name="Замещающий номер слайда 4">
            <a:extLst>
              <a:ext uri="{FF2B5EF4-FFF2-40B4-BE49-F238E27FC236}">
                <a16:creationId xmlns:a16="http://schemas.microsoft.com/office/drawing/2014/main" id="{425BE312-5EC5-E722-FD8E-916DFE636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8886" y="6493511"/>
            <a:ext cx="2057400" cy="365125"/>
          </a:xfrm>
        </p:spPr>
        <p:txBody>
          <a:bodyPr/>
          <a:lstStyle/>
          <a:p>
            <a:fld id="{D6ED8A53-8D2F-4011-BE06-EDB0774336BA}" type="slidenum">
              <a:rPr lang="ru-RU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endParaRPr lang="ru-RU" sz="2000">
              <a:solidFill>
                <a:schemeClr val="tx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33275A9-2422-EE65-68B7-2EFC7CB717FE}"/>
              </a:ext>
            </a:extLst>
          </p:cNvPr>
          <p:cNvSpPr txBox="1"/>
          <p:nvPr/>
        </p:nvSpPr>
        <p:spPr>
          <a:xfrm>
            <a:off x="444579" y="731952"/>
            <a:ext cx="3869672" cy="2585323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обнаружения «спагетти» выбрана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ResNet18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Она решает задачу как бинарную классификацию полного кадра: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есть дефект или нет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Локализация дефектов рамкой в прошлых работах показала низкую точность. Детекция объектов сохранена только для поиска детали на столе.</a:t>
            </a:r>
            <a:endParaRPr lang="ru-RU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ED866B5-82E1-33E1-5DF7-1DCBBD9DCDF8}"/>
              </a:ext>
            </a:extLst>
          </p:cNvPr>
          <p:cNvSpPr txBox="1"/>
          <p:nvPr/>
        </p:nvSpPr>
        <p:spPr>
          <a:xfrm>
            <a:off x="4571998" y="709017"/>
            <a:ext cx="4197892" cy="2585323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Датасет содержит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16 129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исходных кадров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без аугментаций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Обучающая выборка включает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9 787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кадров,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валидационная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3 005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кадров, тестовая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3 337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кадров. Их доли составляют 60,6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%, 18,7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% и 20,7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% соответственно. В обучающей выборке представлены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2 761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кадр со «спагетти» и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7 026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кадров без видимых признаков этого дефекта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8B6B692-286B-EE82-F648-38C45239ECF9}"/>
              </a:ext>
            </a:extLst>
          </p:cNvPr>
          <p:cNvSpPr txBox="1"/>
          <p:nvPr/>
        </p:nvSpPr>
        <p:spPr>
          <a:xfrm>
            <a:off x="480428" y="3410116"/>
            <a:ext cx="3869672" cy="3139321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каждой эпохе обучения сохранялся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баланс классов 50/50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модель получала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5 522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показа изображений, по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2 761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каждый класс. После аугментации обучающая выборка содержит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29 361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изображение: к каждому исходному кадру добавлены два варианта. Валидационная и тестовая выборки содержат только исходные изображения и не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аугментируются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" name="TextBox 26">
            <a:extLst>
              <a:ext uri="{FF2B5EF4-FFF2-40B4-BE49-F238E27FC236}">
                <a16:creationId xmlns:a16="http://schemas.microsoft.com/office/drawing/2014/main" id="{DAC2E642-4E22-B5B0-DB31-19292E122F11}"/>
              </a:ext>
            </a:extLst>
          </p:cNvPr>
          <p:cNvSpPr>
            <a:spLocks noGrp="1"/>
          </p:cNvSpPr>
          <p:nvPr/>
        </p:nvSpPr>
        <p:spPr>
          <a:xfrm>
            <a:off x="4634025" y="5970317"/>
            <a:ext cx="4073130" cy="5791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anchor="ctr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Рис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 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 – 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Диаграмма распределения исходных кадров по выборкам</a:t>
            </a:r>
            <a:endParaRPr sz="1600" b="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2B5EBF5-FBE6-336C-42E4-49A8C5D8A0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2102" y="3317275"/>
            <a:ext cx="3976794" cy="2630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2979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Заголовок">
            <a:extLst>
              <a:ext uri="{FF2B5EF4-FFF2-40B4-BE49-F238E27FC236}">
                <a16:creationId xmlns:a16="http://schemas.microsoft.com/office/drawing/2014/main" id="{ACC627F3-8399-4AA3-8201-0E3F6CF7F6EB}"/>
              </a:ext>
            </a:extLst>
          </p:cNvPr>
          <p:cNvSpPr>
            <a:spLocks noGrp="1"/>
          </p:cNvSpPr>
          <p:nvPr/>
        </p:nvSpPr>
        <p:spPr>
          <a:xfrm>
            <a:off x="571500" y="47625"/>
            <a:ext cx="8001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40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40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rPr dirty="0" err="1"/>
              <a:t>Результат</a:t>
            </a:r>
            <a:r>
              <a:rPr lang="ru-RU" dirty="0"/>
              <a:t>ы</a:t>
            </a:r>
            <a:r>
              <a:rPr dirty="0"/>
              <a:t> </a:t>
            </a:r>
            <a:r>
              <a:rPr dirty="0" err="1"/>
              <a:t>обучения</a:t>
            </a:r>
            <a:r>
              <a:rPr dirty="0"/>
              <a:t> </a:t>
            </a:r>
            <a:r>
              <a:rPr dirty="0" err="1"/>
              <a:t>нейросети</a:t>
            </a:r>
            <a:endParaRPr dirty="0"/>
          </a:p>
        </p:txBody>
      </p:sp>
      <p:sp>
        <p:nvSpPr>
          <p:cNvPr id="26" name="Метрики заголовок">
            <a:extLst>
              <a:ext uri="{FF2B5EF4-FFF2-40B4-BE49-F238E27FC236}">
                <a16:creationId xmlns:a16="http://schemas.microsoft.com/office/drawing/2014/main" id="{2ABDCA34-7708-4EFB-9DB6-0282CFE8F8DA}"/>
              </a:ext>
            </a:extLst>
          </p:cNvPr>
          <p:cNvSpPr>
            <a:spLocks noGrp="1"/>
          </p:cNvSpPr>
          <p:nvPr/>
        </p:nvSpPr>
        <p:spPr>
          <a:xfrm>
            <a:off x="472510" y="4371173"/>
            <a:ext cx="3343851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900" b="1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900" b="1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rPr dirty="0" err="1"/>
              <a:t>Итоговые</a:t>
            </a:r>
            <a:r>
              <a:rPr dirty="0"/>
              <a:t> </a:t>
            </a:r>
            <a:r>
              <a:rPr dirty="0" err="1"/>
              <a:t>показатели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тесте</a:t>
            </a:r>
            <a:endParaRPr dirty="0"/>
          </a:p>
        </p:txBody>
      </p:sp>
      <p:sp>
        <p:nvSpPr>
          <p:cNvPr id="27" name="Рамка метрик">
            <a:extLst>
              <a:ext uri="{FF2B5EF4-FFF2-40B4-BE49-F238E27FC236}">
                <a16:creationId xmlns:a16="http://schemas.microsoft.com/office/drawing/2014/main" id="{36DB5CFA-27E8-4EE9-8520-E1FAC8AFFE15}"/>
              </a:ext>
            </a:extLst>
          </p:cNvPr>
          <p:cNvSpPr>
            <a:spLocks noGrp="1"/>
          </p:cNvSpPr>
          <p:nvPr/>
        </p:nvSpPr>
        <p:spPr>
          <a:xfrm>
            <a:off x="162102" y="4737214"/>
            <a:ext cx="4409898" cy="1756297"/>
          </a:xfrm>
          <a:prstGeom prst="rect">
            <a:avLst/>
          </a:prstGeom>
          <a:noFill/>
          <a:ln w="9525">
            <a:solidFill>
              <a:srgbClr val="000000"/>
            </a:solidFill>
            <a:prstDash val="dash"/>
          </a:ln>
        </p:spPr>
      </p:sp>
      <p:sp>
        <p:nvSpPr>
          <p:cNvPr id="28" name="Метрика Точность">
            <a:extLst>
              <a:ext uri="{FF2B5EF4-FFF2-40B4-BE49-F238E27FC236}">
                <a16:creationId xmlns:a16="http://schemas.microsoft.com/office/drawing/2014/main" id="{26FDC1A2-178D-4D98-90FC-E7163E42A0B1}"/>
              </a:ext>
            </a:extLst>
          </p:cNvPr>
          <p:cNvSpPr>
            <a:spLocks noGrp="1"/>
          </p:cNvSpPr>
          <p:nvPr/>
        </p:nvSpPr>
        <p:spPr>
          <a:xfrm>
            <a:off x="266878" y="4870800"/>
            <a:ext cx="4103537" cy="30034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1" dirty="0" err="1"/>
              <a:t>Точность</a:t>
            </a:r>
            <a:r>
              <a:rPr sz="1600" b="1" dirty="0"/>
              <a:t> 98,71 %</a:t>
            </a:r>
            <a:r>
              <a:rPr sz="1600" dirty="0"/>
              <a:t> — </a:t>
            </a:r>
            <a:r>
              <a:rPr sz="1600" dirty="0" err="1"/>
              <a:t>верные</a:t>
            </a:r>
            <a:r>
              <a:rPr sz="1600" dirty="0"/>
              <a:t> </a:t>
            </a:r>
            <a:r>
              <a:rPr sz="1600" dirty="0" err="1"/>
              <a:t>срабатывания</a:t>
            </a:r>
            <a:r>
              <a:rPr lang="ru-RU" sz="1600" dirty="0"/>
              <a:t>.</a:t>
            </a:r>
            <a:endParaRPr sz="1600" dirty="0"/>
          </a:p>
        </p:txBody>
      </p:sp>
      <p:sp>
        <p:nvSpPr>
          <p:cNvPr id="29" name="Метрика Полнота">
            <a:extLst>
              <a:ext uri="{FF2B5EF4-FFF2-40B4-BE49-F238E27FC236}">
                <a16:creationId xmlns:a16="http://schemas.microsoft.com/office/drawing/2014/main" id="{4CA52852-A2C8-49D2-84B4-CF0FB350B92C}"/>
              </a:ext>
            </a:extLst>
          </p:cNvPr>
          <p:cNvSpPr>
            <a:spLocks noGrp="1"/>
          </p:cNvSpPr>
          <p:nvPr/>
        </p:nvSpPr>
        <p:spPr>
          <a:xfrm>
            <a:off x="266878" y="5118450"/>
            <a:ext cx="4103537" cy="30034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1" dirty="0" err="1"/>
              <a:t>Полнота</a:t>
            </a:r>
            <a:r>
              <a:rPr sz="1600" b="1" dirty="0"/>
              <a:t> 99,89 %</a:t>
            </a:r>
            <a:r>
              <a:rPr sz="1600" dirty="0"/>
              <a:t> — </a:t>
            </a:r>
            <a:r>
              <a:rPr sz="1600" dirty="0" err="1"/>
              <a:t>найденные</a:t>
            </a:r>
            <a:r>
              <a:rPr sz="1600" dirty="0"/>
              <a:t> </a:t>
            </a:r>
            <a:r>
              <a:rPr sz="1600" dirty="0" err="1"/>
              <a:t>дефекты</a:t>
            </a:r>
            <a:r>
              <a:rPr lang="ru-RU" sz="1600" dirty="0"/>
              <a:t>.</a:t>
            </a:r>
            <a:endParaRPr sz="1600" dirty="0"/>
          </a:p>
        </p:txBody>
      </p:sp>
      <p:sp>
        <p:nvSpPr>
          <p:cNvPr id="30" name="Метрика Мера F1">
            <a:extLst>
              <a:ext uri="{FF2B5EF4-FFF2-40B4-BE49-F238E27FC236}">
                <a16:creationId xmlns:a16="http://schemas.microsoft.com/office/drawing/2014/main" id="{04C94095-3D73-4A64-BD4D-09B5D8895873}"/>
              </a:ext>
            </a:extLst>
          </p:cNvPr>
          <p:cNvSpPr>
            <a:spLocks noGrp="1"/>
          </p:cNvSpPr>
          <p:nvPr/>
        </p:nvSpPr>
        <p:spPr>
          <a:xfrm>
            <a:off x="266878" y="5366101"/>
            <a:ext cx="4305122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1" dirty="0" err="1"/>
              <a:t>Мера</a:t>
            </a:r>
            <a:r>
              <a:rPr sz="1600" b="1" dirty="0"/>
              <a:t> F1 99,30 %</a:t>
            </a:r>
            <a:r>
              <a:rPr sz="1600" dirty="0"/>
              <a:t> — </a:t>
            </a:r>
            <a:r>
              <a:rPr sz="1600" dirty="0" err="1"/>
              <a:t>баланс</a:t>
            </a:r>
            <a:r>
              <a:rPr sz="1600" dirty="0"/>
              <a:t> </a:t>
            </a:r>
            <a:r>
              <a:rPr sz="1600" dirty="0" err="1"/>
              <a:t>точности</a:t>
            </a:r>
            <a:r>
              <a:rPr sz="1600" dirty="0"/>
              <a:t> и </a:t>
            </a:r>
            <a:r>
              <a:rPr sz="1600" dirty="0" err="1"/>
              <a:t>полноты</a:t>
            </a:r>
            <a:r>
              <a:rPr lang="ru-RU" sz="1600" dirty="0"/>
              <a:t>.</a:t>
            </a:r>
            <a:endParaRPr sz="1600" dirty="0"/>
          </a:p>
        </p:txBody>
      </p:sp>
      <p:sp>
        <p:nvSpPr>
          <p:cNvPr id="31" name="Метрика Верные ответы">
            <a:extLst>
              <a:ext uri="{FF2B5EF4-FFF2-40B4-BE49-F238E27FC236}">
                <a16:creationId xmlns:a16="http://schemas.microsoft.com/office/drawing/2014/main" id="{4A380A0F-53B4-448D-A4F2-EB3E8D1C4469}"/>
              </a:ext>
            </a:extLst>
          </p:cNvPr>
          <p:cNvSpPr>
            <a:spLocks noGrp="1"/>
          </p:cNvSpPr>
          <p:nvPr/>
        </p:nvSpPr>
        <p:spPr>
          <a:xfrm>
            <a:off x="266878" y="5613750"/>
            <a:ext cx="4249890" cy="30034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1" dirty="0" err="1"/>
              <a:t>Верные</a:t>
            </a:r>
            <a:r>
              <a:rPr sz="1600" b="1" dirty="0"/>
              <a:t> </a:t>
            </a:r>
            <a:r>
              <a:rPr sz="1600" b="1" dirty="0" err="1"/>
              <a:t>ответы</a:t>
            </a:r>
            <a:r>
              <a:rPr sz="1600" b="1" dirty="0"/>
              <a:t> 99,61 %</a:t>
            </a:r>
            <a:r>
              <a:rPr sz="1600" dirty="0"/>
              <a:t> — </a:t>
            </a:r>
            <a:r>
              <a:rPr sz="1600" dirty="0" err="1"/>
              <a:t>по</a:t>
            </a:r>
            <a:r>
              <a:rPr sz="1600" dirty="0"/>
              <a:t> </a:t>
            </a:r>
            <a:r>
              <a:rPr sz="1600" dirty="0" err="1"/>
              <a:t>обоим</a:t>
            </a:r>
            <a:r>
              <a:rPr sz="1600" dirty="0"/>
              <a:t> </a:t>
            </a:r>
            <a:r>
              <a:rPr sz="1600" dirty="0" err="1"/>
              <a:t>классам</a:t>
            </a:r>
            <a:r>
              <a:rPr lang="ru-RU" sz="1600" dirty="0"/>
              <a:t>.</a:t>
            </a:r>
            <a:endParaRPr sz="1600" dirty="0"/>
          </a:p>
        </p:txBody>
      </p:sp>
      <p:sp>
        <p:nvSpPr>
          <p:cNvPr id="32" name="Метрика Средняя точность">
            <a:extLst>
              <a:ext uri="{FF2B5EF4-FFF2-40B4-BE49-F238E27FC236}">
                <a16:creationId xmlns:a16="http://schemas.microsoft.com/office/drawing/2014/main" id="{B8181717-0F00-4305-A5FA-A8A494EA81AD}"/>
              </a:ext>
            </a:extLst>
          </p:cNvPr>
          <p:cNvSpPr>
            <a:spLocks noGrp="1"/>
          </p:cNvSpPr>
          <p:nvPr/>
        </p:nvSpPr>
        <p:spPr>
          <a:xfrm>
            <a:off x="266878" y="5861400"/>
            <a:ext cx="4249890" cy="30034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1" dirty="0" err="1"/>
              <a:t>Средняя</a:t>
            </a:r>
            <a:r>
              <a:rPr sz="1600" b="1" dirty="0"/>
              <a:t> </a:t>
            </a:r>
            <a:r>
              <a:rPr sz="1600" b="1" dirty="0" err="1"/>
              <a:t>точность</a:t>
            </a:r>
            <a:r>
              <a:rPr sz="1600" b="1" dirty="0"/>
              <a:t> 99,72 %</a:t>
            </a:r>
            <a:r>
              <a:rPr sz="1600" dirty="0"/>
              <a:t> — </a:t>
            </a:r>
            <a:r>
              <a:rPr sz="1600" dirty="0" err="1"/>
              <a:t>по</a:t>
            </a:r>
            <a:r>
              <a:rPr sz="1600" dirty="0"/>
              <a:t> </a:t>
            </a:r>
            <a:r>
              <a:rPr sz="1600" dirty="0" err="1"/>
              <a:t>разным</a:t>
            </a:r>
            <a:r>
              <a:rPr sz="1600" dirty="0"/>
              <a:t> </a:t>
            </a:r>
            <a:r>
              <a:rPr sz="1600" dirty="0" err="1"/>
              <a:t>порогам</a:t>
            </a:r>
            <a:r>
              <a:rPr lang="ru-RU" sz="1600" dirty="0"/>
              <a:t> классификации.</a:t>
            </a:r>
            <a:endParaRPr sz="1600" dirty="0"/>
          </a:p>
        </p:txBody>
      </p:sp>
      <p:sp>
        <p:nvSpPr>
          <p:cNvPr id="33" name="Почему высокие">
            <a:extLst>
              <a:ext uri="{FF2B5EF4-FFF2-40B4-BE49-F238E27FC236}">
                <a16:creationId xmlns:a16="http://schemas.microsoft.com/office/drawing/2014/main" id="{9531F666-EDA0-49C4-A7B2-939E026759F9}"/>
              </a:ext>
            </a:extLst>
          </p:cNvPr>
          <p:cNvSpPr>
            <a:spLocks noGrp="1"/>
          </p:cNvSpPr>
          <p:nvPr/>
        </p:nvSpPr>
        <p:spPr>
          <a:xfrm>
            <a:off x="4741135" y="4371173"/>
            <a:ext cx="40195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800" b="1">
                <a:solidFill>
                  <a:srgbClr val="7C4BB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defRPr sz="1800" b="1">
                <a:solidFill>
                  <a:srgbClr val="7C4BB1"/>
                </a:solidFill>
                <a:latin typeface="Times New Roman"/>
                <a:ea typeface="Times New Roman"/>
                <a:cs typeface="Times New Roman"/>
              </a:defRPr>
            </a:pP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понимать</a:t>
            </a:r>
            <a:r>
              <a:rPr dirty="0"/>
              <a:t> </a:t>
            </a:r>
            <a:r>
              <a:rPr dirty="0" err="1"/>
              <a:t>показатели</a:t>
            </a:r>
            <a:r>
              <a:rPr dirty="0"/>
              <a:t> </a:t>
            </a:r>
            <a:r>
              <a:rPr dirty="0" err="1"/>
              <a:t>около</a:t>
            </a:r>
            <a:r>
              <a:rPr dirty="0"/>
              <a:t> 99 %</a:t>
            </a:r>
          </a:p>
        </p:txBody>
      </p:sp>
      <p:sp>
        <p:nvSpPr>
          <p:cNvPr id="34" name="Объяснение">
            <a:extLst>
              <a:ext uri="{FF2B5EF4-FFF2-40B4-BE49-F238E27FC236}">
                <a16:creationId xmlns:a16="http://schemas.microsoft.com/office/drawing/2014/main" id="{3A0111E8-A102-45FD-8C56-82D6964C5D10}"/>
              </a:ext>
            </a:extLst>
          </p:cNvPr>
          <p:cNvSpPr>
            <a:spLocks noGrp="1"/>
          </p:cNvSpPr>
          <p:nvPr/>
        </p:nvSpPr>
        <p:spPr>
          <a:xfrm>
            <a:off x="4722085" y="4737214"/>
            <a:ext cx="4038600" cy="20046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45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defRPr sz="145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dirty="0" err="1"/>
              <a:t>Дообучались</a:t>
            </a:r>
            <a:r>
              <a:rPr sz="1600" dirty="0"/>
              <a:t> </a:t>
            </a:r>
            <a:r>
              <a:rPr sz="1600" dirty="0" err="1"/>
              <a:t>ранее</a:t>
            </a:r>
            <a:r>
              <a:rPr sz="1600" dirty="0"/>
              <a:t> </a:t>
            </a:r>
            <a:r>
              <a:rPr sz="1600" dirty="0" err="1"/>
              <a:t>полученные</a:t>
            </a:r>
            <a:r>
              <a:rPr sz="1600" dirty="0"/>
              <a:t> </a:t>
            </a:r>
            <a:r>
              <a:rPr sz="1600" dirty="0" err="1"/>
              <a:t>веса</a:t>
            </a:r>
            <a:r>
              <a:rPr sz="1600" dirty="0"/>
              <a:t>: </a:t>
            </a:r>
            <a:r>
              <a:rPr sz="1600" dirty="0" err="1"/>
              <a:t>средняя</a:t>
            </a:r>
            <a:r>
              <a:rPr sz="1600" dirty="0"/>
              <a:t> </a:t>
            </a:r>
            <a:r>
              <a:rPr sz="1600" dirty="0" err="1"/>
              <a:t>точность</a:t>
            </a:r>
            <a:r>
              <a:rPr sz="1600" dirty="0"/>
              <a:t> </a:t>
            </a:r>
            <a:r>
              <a:rPr sz="1600" dirty="0" err="1"/>
              <a:t>после</a:t>
            </a:r>
            <a:r>
              <a:rPr sz="1600" dirty="0"/>
              <a:t> </a:t>
            </a:r>
            <a:r>
              <a:rPr sz="1600" dirty="0" err="1"/>
              <a:t>первой</a:t>
            </a:r>
            <a:r>
              <a:rPr sz="1600" dirty="0"/>
              <a:t> </a:t>
            </a:r>
            <a:r>
              <a:rPr sz="1600" dirty="0" err="1"/>
              <a:t>эпохи</a:t>
            </a:r>
            <a:r>
              <a:rPr sz="1600" dirty="0"/>
              <a:t> — 98,97 %. </a:t>
            </a:r>
            <a:r>
              <a:rPr sz="1600" dirty="0" err="1"/>
              <a:t>На</a:t>
            </a:r>
            <a:r>
              <a:rPr sz="1600" dirty="0"/>
              <a:t> </a:t>
            </a:r>
            <a:r>
              <a:rPr sz="1600" dirty="0" err="1"/>
              <a:t>тесте</a:t>
            </a:r>
            <a:r>
              <a:rPr sz="1600" dirty="0"/>
              <a:t> 13 </a:t>
            </a:r>
            <a:r>
              <a:rPr sz="1600" dirty="0" err="1"/>
              <a:t>ошибок</a:t>
            </a:r>
            <a:r>
              <a:rPr sz="1600" dirty="0"/>
              <a:t> </a:t>
            </a:r>
            <a:r>
              <a:rPr sz="1600" dirty="0" err="1"/>
              <a:t>из</a:t>
            </a:r>
            <a:r>
              <a:rPr sz="1600" dirty="0"/>
              <a:t> 3 337 </a:t>
            </a:r>
            <a:r>
              <a:rPr sz="1600" dirty="0" err="1"/>
              <a:t>кадров</a:t>
            </a:r>
            <a:r>
              <a:rPr lang="ru-RU" sz="1600" dirty="0"/>
              <a:t>. Из них12 ложных тревог и 1 пропуск дефекта.</a:t>
            </a:r>
            <a:r>
              <a:rPr sz="1600" dirty="0"/>
              <a:t> </a:t>
            </a:r>
            <a:r>
              <a:rPr sz="1600" dirty="0" err="1"/>
              <a:t>Похожие</a:t>
            </a:r>
            <a:r>
              <a:rPr sz="1600" dirty="0"/>
              <a:t> </a:t>
            </a:r>
            <a:r>
              <a:rPr sz="1600" dirty="0" err="1"/>
              <a:t>кадры</a:t>
            </a:r>
            <a:r>
              <a:rPr sz="1600" dirty="0"/>
              <a:t> и </a:t>
            </a:r>
            <a:r>
              <a:rPr sz="1600" dirty="0" err="1"/>
              <a:t>использование</a:t>
            </a:r>
            <a:r>
              <a:rPr sz="1600" dirty="0"/>
              <a:t> </a:t>
            </a:r>
            <a:r>
              <a:rPr sz="1600" dirty="0" err="1"/>
              <a:t>теста</a:t>
            </a:r>
            <a:r>
              <a:rPr sz="1600" dirty="0"/>
              <a:t> </a:t>
            </a:r>
            <a:r>
              <a:rPr sz="1600" dirty="0" err="1"/>
              <a:t>при</a:t>
            </a:r>
            <a:r>
              <a:rPr sz="1600" dirty="0"/>
              <a:t> </a:t>
            </a:r>
            <a:r>
              <a:rPr sz="1600" dirty="0" err="1"/>
              <a:t>разработке</a:t>
            </a:r>
            <a:r>
              <a:rPr sz="1600" dirty="0"/>
              <a:t> </a:t>
            </a:r>
            <a:r>
              <a:rPr sz="1600" dirty="0" err="1"/>
              <a:t>могут</a:t>
            </a:r>
            <a:r>
              <a:rPr sz="1600" dirty="0"/>
              <a:t> </a:t>
            </a:r>
            <a:r>
              <a:rPr sz="1600" dirty="0" err="1"/>
              <a:t>завышать</a:t>
            </a:r>
            <a:r>
              <a:rPr sz="1600" dirty="0"/>
              <a:t> </a:t>
            </a:r>
            <a:r>
              <a:rPr sz="1600" dirty="0" err="1"/>
              <a:t>оценку</a:t>
            </a:r>
            <a:r>
              <a:rPr sz="1600" dirty="0"/>
              <a:t>.</a:t>
            </a:r>
            <a:r>
              <a:rPr lang="ru-RU" sz="1600" dirty="0"/>
              <a:t> </a:t>
            </a:r>
            <a:endParaRPr sz="1600" dirty="0"/>
          </a:p>
        </p:txBody>
      </p:sp>
      <p:sp>
        <p:nvSpPr>
          <p:cNvPr id="37" name="Замещающий номер слайда 4">
            <a:extLst>
              <a:ext uri="{FF2B5EF4-FFF2-40B4-BE49-F238E27FC236}">
                <a16:creationId xmlns:a16="http://schemas.microsoft.com/office/drawing/2014/main" id="{8B09F244-8048-DE70-CB19-F2C683D05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8886" y="6493511"/>
            <a:ext cx="2057400" cy="365125"/>
          </a:xfrm>
        </p:spPr>
        <p:txBody>
          <a:bodyPr/>
          <a:lstStyle/>
          <a:p>
            <a:fld id="{D6ED8A53-8D2F-4011-BE06-EDB0774336BA}" type="slidenum">
              <a:rPr lang="ru-RU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fld>
            <a:endParaRPr lang="ru-RU" sz="2000" dirty="0">
              <a:solidFill>
                <a:schemeClr val="tx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sp>
        <p:nvSpPr>
          <p:cNvPr id="9" name="TextBox 26">
            <a:extLst>
              <a:ext uri="{FF2B5EF4-FFF2-40B4-BE49-F238E27FC236}">
                <a16:creationId xmlns:a16="http://schemas.microsoft.com/office/drawing/2014/main" id="{9421BDD1-C01A-7EE5-9066-5FA2DDFD3E00}"/>
              </a:ext>
            </a:extLst>
          </p:cNvPr>
          <p:cNvSpPr>
            <a:spLocks noGrp="1"/>
          </p:cNvSpPr>
          <p:nvPr/>
        </p:nvSpPr>
        <p:spPr>
          <a:xfrm>
            <a:off x="750230" y="3411920"/>
            <a:ext cx="3338418" cy="5791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anchor="ctr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Рис. </a:t>
            </a:r>
            <a:r>
              <a:rPr lang="ru-RU" sz="1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 –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График динамики ошибки</a:t>
            </a:r>
            <a:endParaRPr sz="1600" b="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2" name="Рамка метрик">
            <a:extLst>
              <a:ext uri="{FF2B5EF4-FFF2-40B4-BE49-F238E27FC236}">
                <a16:creationId xmlns:a16="http://schemas.microsoft.com/office/drawing/2014/main" id="{4849804B-C736-13F2-0263-B39DAFE0FC02}"/>
              </a:ext>
            </a:extLst>
          </p:cNvPr>
          <p:cNvSpPr>
            <a:spLocks noGrp="1"/>
          </p:cNvSpPr>
          <p:nvPr/>
        </p:nvSpPr>
        <p:spPr>
          <a:xfrm>
            <a:off x="110849" y="808166"/>
            <a:ext cx="8927146" cy="3326147"/>
          </a:xfrm>
          <a:prstGeom prst="rect">
            <a:avLst/>
          </a:prstGeom>
          <a:noFill/>
          <a:ln w="9525">
            <a:solidFill>
              <a:srgbClr val="000000"/>
            </a:solidFill>
            <a:prstDash val="dash"/>
          </a:ln>
        </p:spPr>
      </p:sp>
      <p:graphicFrame>
        <p:nvGraphicFramePr>
          <p:cNvPr id="43" name="Chart">
            <a:extLst>
              <a:ext uri="{FF2B5EF4-FFF2-40B4-BE49-F238E27FC236}">
                <a16:creationId xmlns:a16="http://schemas.microsoft.com/office/drawing/2014/main" id="{178E6979-A339-20D1-AE0B-6A95D9E9CC0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41509776"/>
              </p:ext>
            </p:extLst>
          </p:nvPr>
        </p:nvGraphicFramePr>
        <p:xfrm>
          <a:off x="342988" y="924773"/>
          <a:ext cx="4048125" cy="2619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4" name="Chart">
            <a:extLst>
              <a:ext uri="{FF2B5EF4-FFF2-40B4-BE49-F238E27FC236}">
                <a16:creationId xmlns:a16="http://schemas.microsoft.com/office/drawing/2014/main" id="{B8269FAA-ACC6-23D2-4887-3040BDF14AA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13879468"/>
              </p:ext>
            </p:extLst>
          </p:nvPr>
        </p:nvGraphicFramePr>
        <p:xfrm>
          <a:off x="4726847" y="925231"/>
          <a:ext cx="4048125" cy="2619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0" name="TextBox 26">
            <a:extLst>
              <a:ext uri="{FF2B5EF4-FFF2-40B4-BE49-F238E27FC236}">
                <a16:creationId xmlns:a16="http://schemas.microsoft.com/office/drawing/2014/main" id="{0E35CABF-745A-F609-731F-571ED014DCF1}"/>
              </a:ext>
            </a:extLst>
          </p:cNvPr>
          <p:cNvSpPr>
            <a:spLocks noGrp="1"/>
          </p:cNvSpPr>
          <p:nvPr/>
        </p:nvSpPr>
        <p:spPr>
          <a:xfrm>
            <a:off x="4985025" y="3490603"/>
            <a:ext cx="4048126" cy="5791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anchor="ctr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Рис. 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5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 –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График средней точности на валидации</a:t>
            </a:r>
            <a:endParaRPr sz="1600" b="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254475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Заголовок выбора">
            <a:extLst>
              <a:ext uri="{FF2B5EF4-FFF2-40B4-BE49-F238E27FC236}">
                <a16:creationId xmlns:a16="http://schemas.microsoft.com/office/drawing/2014/main" id="{09540E61-7982-44DB-BD21-14200E57786D}"/>
              </a:ext>
            </a:extLst>
          </p:cNvPr>
          <p:cNvSpPr>
            <a:spLocks noGrp="1"/>
          </p:cNvSpPr>
          <p:nvPr/>
        </p:nvSpPr>
        <p:spPr>
          <a:xfrm>
            <a:off x="428625" y="-34817"/>
            <a:ext cx="8286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37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37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rPr dirty="0" err="1"/>
              <a:t>Почему</a:t>
            </a:r>
            <a:r>
              <a:rPr dirty="0"/>
              <a:t> </a:t>
            </a:r>
            <a:r>
              <a:rPr dirty="0" err="1"/>
              <a:t>выбраны</a:t>
            </a:r>
            <a:r>
              <a:rPr dirty="0"/>
              <a:t> </a:t>
            </a:r>
            <a:r>
              <a:rPr dirty="0" err="1"/>
              <a:t>веса</a:t>
            </a:r>
            <a:r>
              <a:rPr dirty="0"/>
              <a:t> 19-й </a:t>
            </a:r>
            <a:r>
              <a:rPr dirty="0" err="1"/>
              <a:t>эпохи</a:t>
            </a:r>
            <a:endParaRPr dirty="0"/>
          </a:p>
        </p:txBody>
      </p:sp>
      <p:sp>
        <p:nvSpPr>
          <p:cNvPr id="9" name="Таблица 0 0">
            <a:extLst>
              <a:ext uri="{FF2B5EF4-FFF2-40B4-BE49-F238E27FC236}">
                <a16:creationId xmlns:a16="http://schemas.microsoft.com/office/drawing/2014/main" id="{0134092E-AF35-4789-90B6-3D9321CA0609}"/>
              </a:ext>
            </a:extLst>
          </p:cNvPr>
          <p:cNvSpPr>
            <a:spLocks noGrp="1"/>
          </p:cNvSpPr>
          <p:nvPr/>
        </p:nvSpPr>
        <p:spPr>
          <a:xfrm>
            <a:off x="467153" y="4499906"/>
            <a:ext cx="714375" cy="314325"/>
          </a:xfrm>
          <a:prstGeom prst="rect">
            <a:avLst/>
          </a:prstGeom>
          <a:solidFill>
            <a:srgbClr val="E7EDF6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10" name="Текст 0 0">
            <a:extLst>
              <a:ext uri="{FF2B5EF4-FFF2-40B4-BE49-F238E27FC236}">
                <a16:creationId xmlns:a16="http://schemas.microsoft.com/office/drawing/2014/main" id="{91F2AA3B-219B-433C-8D8B-BAAE5BABD753}"/>
              </a:ext>
            </a:extLst>
          </p:cNvPr>
          <p:cNvSpPr>
            <a:spLocks noGrp="1"/>
          </p:cNvSpPr>
          <p:nvPr/>
        </p:nvSpPr>
        <p:spPr>
          <a:xfrm>
            <a:off x="505253" y="4566581"/>
            <a:ext cx="6381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300" b="1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300" b="1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rPr dirty="0" err="1"/>
              <a:t>Эпоха</a:t>
            </a:r>
            <a:endParaRPr dirty="0"/>
          </a:p>
        </p:txBody>
      </p:sp>
      <p:sp>
        <p:nvSpPr>
          <p:cNvPr id="11" name="Таблица 0 1">
            <a:extLst>
              <a:ext uri="{FF2B5EF4-FFF2-40B4-BE49-F238E27FC236}">
                <a16:creationId xmlns:a16="http://schemas.microsoft.com/office/drawing/2014/main" id="{AD719252-6C26-49E8-87BF-6F2667F7BE34}"/>
              </a:ext>
            </a:extLst>
          </p:cNvPr>
          <p:cNvSpPr>
            <a:spLocks noGrp="1"/>
          </p:cNvSpPr>
          <p:nvPr/>
        </p:nvSpPr>
        <p:spPr>
          <a:xfrm>
            <a:off x="1181528" y="4499906"/>
            <a:ext cx="1562100" cy="314325"/>
          </a:xfrm>
          <a:prstGeom prst="rect">
            <a:avLst/>
          </a:prstGeom>
          <a:solidFill>
            <a:srgbClr val="E7EDF6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12" name="Текст 0 1">
            <a:extLst>
              <a:ext uri="{FF2B5EF4-FFF2-40B4-BE49-F238E27FC236}">
                <a16:creationId xmlns:a16="http://schemas.microsoft.com/office/drawing/2014/main" id="{8187E781-42FC-428E-AF95-0786C89F3455}"/>
              </a:ext>
            </a:extLst>
          </p:cNvPr>
          <p:cNvSpPr>
            <a:spLocks noGrp="1"/>
          </p:cNvSpPr>
          <p:nvPr/>
        </p:nvSpPr>
        <p:spPr>
          <a:xfrm>
            <a:off x="1219628" y="4566581"/>
            <a:ext cx="14859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300" b="1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300" b="1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Полнота, %</a:t>
            </a:r>
          </a:p>
        </p:txBody>
      </p:sp>
      <p:sp>
        <p:nvSpPr>
          <p:cNvPr id="13" name="Таблица 0 2">
            <a:extLst>
              <a:ext uri="{FF2B5EF4-FFF2-40B4-BE49-F238E27FC236}">
                <a16:creationId xmlns:a16="http://schemas.microsoft.com/office/drawing/2014/main" id="{3F975863-DC00-4C9D-94A8-CDDFA5F39171}"/>
              </a:ext>
            </a:extLst>
          </p:cNvPr>
          <p:cNvSpPr>
            <a:spLocks noGrp="1"/>
          </p:cNvSpPr>
          <p:nvPr/>
        </p:nvSpPr>
        <p:spPr>
          <a:xfrm>
            <a:off x="2743628" y="4499906"/>
            <a:ext cx="1971675" cy="314325"/>
          </a:xfrm>
          <a:prstGeom prst="rect">
            <a:avLst/>
          </a:prstGeom>
          <a:solidFill>
            <a:srgbClr val="E7EDF6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14" name="Текст 0 2">
            <a:extLst>
              <a:ext uri="{FF2B5EF4-FFF2-40B4-BE49-F238E27FC236}">
                <a16:creationId xmlns:a16="http://schemas.microsoft.com/office/drawing/2014/main" id="{5A0C453D-AAA5-46AE-8C2B-3F2091B221FC}"/>
              </a:ext>
            </a:extLst>
          </p:cNvPr>
          <p:cNvSpPr>
            <a:spLocks noGrp="1"/>
          </p:cNvSpPr>
          <p:nvPr/>
        </p:nvSpPr>
        <p:spPr>
          <a:xfrm>
            <a:off x="2781728" y="4566581"/>
            <a:ext cx="18954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300" b="1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300" b="1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rPr dirty="0" err="1"/>
              <a:t>Ложные</a:t>
            </a:r>
            <a:r>
              <a:rPr dirty="0"/>
              <a:t> </a:t>
            </a:r>
            <a:r>
              <a:rPr dirty="0" err="1"/>
              <a:t>тревоги</a:t>
            </a:r>
            <a:r>
              <a:rPr dirty="0"/>
              <a:t>, %</a:t>
            </a:r>
          </a:p>
        </p:txBody>
      </p:sp>
      <p:sp>
        <p:nvSpPr>
          <p:cNvPr id="15" name="Таблица 0 3">
            <a:extLst>
              <a:ext uri="{FF2B5EF4-FFF2-40B4-BE49-F238E27FC236}">
                <a16:creationId xmlns:a16="http://schemas.microsoft.com/office/drawing/2014/main" id="{6EC8EDF5-C9BB-42E2-B2C2-4588A0350266}"/>
              </a:ext>
            </a:extLst>
          </p:cNvPr>
          <p:cNvSpPr>
            <a:spLocks noGrp="1"/>
          </p:cNvSpPr>
          <p:nvPr/>
        </p:nvSpPr>
        <p:spPr>
          <a:xfrm>
            <a:off x="4715303" y="4499906"/>
            <a:ext cx="1600200" cy="314325"/>
          </a:xfrm>
          <a:prstGeom prst="rect">
            <a:avLst/>
          </a:prstGeom>
          <a:solidFill>
            <a:srgbClr val="E7EDF6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16" name="Текст 0 3">
            <a:extLst>
              <a:ext uri="{FF2B5EF4-FFF2-40B4-BE49-F238E27FC236}">
                <a16:creationId xmlns:a16="http://schemas.microsoft.com/office/drawing/2014/main" id="{3D274A40-4420-46D3-ABD8-6D8514691AEE}"/>
              </a:ext>
            </a:extLst>
          </p:cNvPr>
          <p:cNvSpPr>
            <a:spLocks noGrp="1"/>
          </p:cNvSpPr>
          <p:nvPr/>
        </p:nvSpPr>
        <p:spPr>
          <a:xfrm>
            <a:off x="4753403" y="4566581"/>
            <a:ext cx="1524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300" b="1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300" b="1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rPr dirty="0" err="1"/>
              <a:t>Средняя</a:t>
            </a:r>
            <a:r>
              <a:rPr dirty="0"/>
              <a:t> </a:t>
            </a:r>
            <a:r>
              <a:rPr dirty="0" err="1"/>
              <a:t>точность</a:t>
            </a:r>
            <a:r>
              <a:rPr lang="ru-RU" dirty="0"/>
              <a:t> </a:t>
            </a:r>
            <a:r>
              <a:rPr lang="en-US" dirty="0"/>
              <a:t>AP, %</a:t>
            </a:r>
            <a:endParaRPr dirty="0"/>
          </a:p>
        </p:txBody>
      </p:sp>
      <p:sp>
        <p:nvSpPr>
          <p:cNvPr id="17" name="Таблица 0 4">
            <a:extLst>
              <a:ext uri="{FF2B5EF4-FFF2-40B4-BE49-F238E27FC236}">
                <a16:creationId xmlns:a16="http://schemas.microsoft.com/office/drawing/2014/main" id="{29DBF2EB-8C1F-42F7-AF00-A6754764DD54}"/>
              </a:ext>
            </a:extLst>
          </p:cNvPr>
          <p:cNvSpPr>
            <a:spLocks noGrp="1"/>
          </p:cNvSpPr>
          <p:nvPr/>
        </p:nvSpPr>
        <p:spPr>
          <a:xfrm>
            <a:off x="6315503" y="4499906"/>
            <a:ext cx="2381250" cy="314325"/>
          </a:xfrm>
          <a:prstGeom prst="rect">
            <a:avLst/>
          </a:prstGeom>
          <a:solidFill>
            <a:srgbClr val="E7EDF6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18" name="Текст 0 4">
            <a:extLst>
              <a:ext uri="{FF2B5EF4-FFF2-40B4-BE49-F238E27FC236}">
                <a16:creationId xmlns:a16="http://schemas.microsoft.com/office/drawing/2014/main" id="{080F0005-70C9-48D5-98B2-21D18AD159FB}"/>
              </a:ext>
            </a:extLst>
          </p:cNvPr>
          <p:cNvSpPr>
            <a:spLocks noGrp="1"/>
          </p:cNvSpPr>
          <p:nvPr/>
        </p:nvSpPr>
        <p:spPr>
          <a:xfrm>
            <a:off x="6353603" y="4566581"/>
            <a:ext cx="23050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300" b="1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300" b="1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Решение</a:t>
            </a:r>
          </a:p>
        </p:txBody>
      </p:sp>
      <p:sp>
        <p:nvSpPr>
          <p:cNvPr id="19" name="Таблица 1 0">
            <a:extLst>
              <a:ext uri="{FF2B5EF4-FFF2-40B4-BE49-F238E27FC236}">
                <a16:creationId xmlns:a16="http://schemas.microsoft.com/office/drawing/2014/main" id="{67DB66A9-CE9B-4255-98BB-4991B41D2046}"/>
              </a:ext>
            </a:extLst>
          </p:cNvPr>
          <p:cNvSpPr>
            <a:spLocks noGrp="1"/>
          </p:cNvSpPr>
          <p:nvPr/>
        </p:nvSpPr>
        <p:spPr>
          <a:xfrm>
            <a:off x="467153" y="4814231"/>
            <a:ext cx="714375" cy="314325"/>
          </a:xfrm>
          <a:prstGeom prst="rect">
            <a:avLst/>
          </a:prstGeom>
          <a:solidFill>
            <a:srgbClr val="FFF0DC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20" name="Текст 1 0">
            <a:extLst>
              <a:ext uri="{FF2B5EF4-FFF2-40B4-BE49-F238E27FC236}">
                <a16:creationId xmlns:a16="http://schemas.microsoft.com/office/drawing/2014/main" id="{971E9913-8059-4BBC-B20F-C0FA5F4ED301}"/>
              </a:ext>
            </a:extLst>
          </p:cNvPr>
          <p:cNvSpPr>
            <a:spLocks noGrp="1"/>
          </p:cNvSpPr>
          <p:nvPr/>
        </p:nvSpPr>
        <p:spPr>
          <a:xfrm>
            <a:off x="505253" y="4880906"/>
            <a:ext cx="6381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9</a:t>
            </a:r>
          </a:p>
        </p:txBody>
      </p:sp>
      <p:sp>
        <p:nvSpPr>
          <p:cNvPr id="21" name="Таблица 1 1">
            <a:extLst>
              <a:ext uri="{FF2B5EF4-FFF2-40B4-BE49-F238E27FC236}">
                <a16:creationId xmlns:a16="http://schemas.microsoft.com/office/drawing/2014/main" id="{2C91F6C8-8E4C-471E-BB9B-E737BCE3A7DA}"/>
              </a:ext>
            </a:extLst>
          </p:cNvPr>
          <p:cNvSpPr>
            <a:spLocks noGrp="1"/>
          </p:cNvSpPr>
          <p:nvPr/>
        </p:nvSpPr>
        <p:spPr>
          <a:xfrm>
            <a:off x="1181528" y="4814231"/>
            <a:ext cx="1562100" cy="314325"/>
          </a:xfrm>
          <a:prstGeom prst="rect">
            <a:avLst/>
          </a:prstGeom>
          <a:solidFill>
            <a:srgbClr val="FFF0DC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22" name="Текст 1 1">
            <a:extLst>
              <a:ext uri="{FF2B5EF4-FFF2-40B4-BE49-F238E27FC236}">
                <a16:creationId xmlns:a16="http://schemas.microsoft.com/office/drawing/2014/main" id="{72526D8D-90AE-4053-B5EE-930527D93F4B}"/>
              </a:ext>
            </a:extLst>
          </p:cNvPr>
          <p:cNvSpPr>
            <a:spLocks noGrp="1"/>
          </p:cNvSpPr>
          <p:nvPr/>
        </p:nvSpPr>
        <p:spPr>
          <a:xfrm>
            <a:off x="1219628" y="4880906"/>
            <a:ext cx="14859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72,73</a:t>
            </a:r>
          </a:p>
        </p:txBody>
      </p:sp>
      <p:sp>
        <p:nvSpPr>
          <p:cNvPr id="23" name="Таблица 1 2">
            <a:extLst>
              <a:ext uri="{FF2B5EF4-FFF2-40B4-BE49-F238E27FC236}">
                <a16:creationId xmlns:a16="http://schemas.microsoft.com/office/drawing/2014/main" id="{00303724-085C-4D6F-AFF4-1933C7AAA5B2}"/>
              </a:ext>
            </a:extLst>
          </p:cNvPr>
          <p:cNvSpPr>
            <a:spLocks noGrp="1"/>
          </p:cNvSpPr>
          <p:nvPr/>
        </p:nvSpPr>
        <p:spPr>
          <a:xfrm>
            <a:off x="2743628" y="4814231"/>
            <a:ext cx="1971675" cy="314325"/>
          </a:xfrm>
          <a:prstGeom prst="rect">
            <a:avLst/>
          </a:prstGeom>
          <a:solidFill>
            <a:srgbClr val="FFF0DC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24" name="Текст 1 2">
            <a:extLst>
              <a:ext uri="{FF2B5EF4-FFF2-40B4-BE49-F238E27FC236}">
                <a16:creationId xmlns:a16="http://schemas.microsoft.com/office/drawing/2014/main" id="{80FA16A8-F759-4519-8703-650F52C8D2DE}"/>
              </a:ext>
            </a:extLst>
          </p:cNvPr>
          <p:cNvSpPr>
            <a:spLocks noGrp="1"/>
          </p:cNvSpPr>
          <p:nvPr/>
        </p:nvSpPr>
        <p:spPr>
          <a:xfrm>
            <a:off x="2781728" y="4880906"/>
            <a:ext cx="18954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7,03</a:t>
            </a:r>
          </a:p>
        </p:txBody>
      </p:sp>
      <p:sp>
        <p:nvSpPr>
          <p:cNvPr id="25" name="Таблица 1 3">
            <a:extLst>
              <a:ext uri="{FF2B5EF4-FFF2-40B4-BE49-F238E27FC236}">
                <a16:creationId xmlns:a16="http://schemas.microsoft.com/office/drawing/2014/main" id="{A0600624-A7F0-40F0-86BB-4C25F247C8B7}"/>
              </a:ext>
            </a:extLst>
          </p:cNvPr>
          <p:cNvSpPr>
            <a:spLocks noGrp="1"/>
          </p:cNvSpPr>
          <p:nvPr/>
        </p:nvSpPr>
        <p:spPr>
          <a:xfrm>
            <a:off x="4715303" y="4814231"/>
            <a:ext cx="1600200" cy="314325"/>
          </a:xfrm>
          <a:prstGeom prst="rect">
            <a:avLst/>
          </a:prstGeom>
          <a:solidFill>
            <a:srgbClr val="FFF0DC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26" name="Текст 1 3">
            <a:extLst>
              <a:ext uri="{FF2B5EF4-FFF2-40B4-BE49-F238E27FC236}">
                <a16:creationId xmlns:a16="http://schemas.microsoft.com/office/drawing/2014/main" id="{2FC569A8-BF66-4C41-9E76-4661168A5B50}"/>
              </a:ext>
            </a:extLst>
          </p:cNvPr>
          <p:cNvSpPr>
            <a:spLocks noGrp="1"/>
          </p:cNvSpPr>
          <p:nvPr/>
        </p:nvSpPr>
        <p:spPr>
          <a:xfrm>
            <a:off x="4753403" y="4880906"/>
            <a:ext cx="1524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75,12 %</a:t>
            </a:r>
          </a:p>
        </p:txBody>
      </p:sp>
      <p:sp>
        <p:nvSpPr>
          <p:cNvPr id="27" name="Таблица 1 4">
            <a:extLst>
              <a:ext uri="{FF2B5EF4-FFF2-40B4-BE49-F238E27FC236}">
                <a16:creationId xmlns:a16="http://schemas.microsoft.com/office/drawing/2014/main" id="{EE0D11C1-72A8-4F3A-9F56-163B1BF5CCC2}"/>
              </a:ext>
            </a:extLst>
          </p:cNvPr>
          <p:cNvSpPr>
            <a:spLocks noGrp="1"/>
          </p:cNvSpPr>
          <p:nvPr/>
        </p:nvSpPr>
        <p:spPr>
          <a:xfrm>
            <a:off x="6315503" y="4814231"/>
            <a:ext cx="2381250" cy="314325"/>
          </a:xfrm>
          <a:prstGeom prst="rect">
            <a:avLst/>
          </a:prstGeom>
          <a:solidFill>
            <a:srgbClr val="FFF0DC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28" name="Текст 1 4">
            <a:extLst>
              <a:ext uri="{FF2B5EF4-FFF2-40B4-BE49-F238E27FC236}">
                <a16:creationId xmlns:a16="http://schemas.microsoft.com/office/drawing/2014/main" id="{3FA3A720-304B-4DFF-A1D1-4C815D9C24CB}"/>
              </a:ext>
            </a:extLst>
          </p:cNvPr>
          <p:cNvSpPr>
            <a:spLocks noGrp="1"/>
          </p:cNvSpPr>
          <p:nvPr/>
        </p:nvSpPr>
        <p:spPr>
          <a:xfrm>
            <a:off x="6353603" y="4880906"/>
            <a:ext cx="23050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rPr dirty="0" err="1"/>
              <a:t>Превышен</a:t>
            </a:r>
            <a:r>
              <a:rPr dirty="0"/>
              <a:t> </a:t>
            </a:r>
            <a:r>
              <a:rPr dirty="0" err="1"/>
              <a:t>предел</a:t>
            </a:r>
            <a:r>
              <a:rPr dirty="0"/>
              <a:t> </a:t>
            </a:r>
            <a:r>
              <a:rPr lang="ru-RU" dirty="0"/>
              <a:t>1 %</a:t>
            </a:r>
            <a:endParaRPr dirty="0"/>
          </a:p>
        </p:txBody>
      </p:sp>
      <p:sp>
        <p:nvSpPr>
          <p:cNvPr id="29" name="Таблица 2 0">
            <a:extLst>
              <a:ext uri="{FF2B5EF4-FFF2-40B4-BE49-F238E27FC236}">
                <a16:creationId xmlns:a16="http://schemas.microsoft.com/office/drawing/2014/main" id="{4A6B021C-3C1B-4209-BD25-752C1436599D}"/>
              </a:ext>
            </a:extLst>
          </p:cNvPr>
          <p:cNvSpPr>
            <a:spLocks noGrp="1"/>
          </p:cNvSpPr>
          <p:nvPr/>
        </p:nvSpPr>
        <p:spPr>
          <a:xfrm>
            <a:off x="467153" y="5128556"/>
            <a:ext cx="714375" cy="314325"/>
          </a:xfrm>
          <a:prstGeom prst="rect">
            <a:avLst/>
          </a:prstGeom>
          <a:solidFill>
            <a:srgbClr val="FFFFFF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30" name="Текст 2 0">
            <a:extLst>
              <a:ext uri="{FF2B5EF4-FFF2-40B4-BE49-F238E27FC236}">
                <a16:creationId xmlns:a16="http://schemas.microsoft.com/office/drawing/2014/main" id="{EFAF94D7-93FF-4D11-8D5C-6A6557BAB300}"/>
              </a:ext>
            </a:extLst>
          </p:cNvPr>
          <p:cNvSpPr>
            <a:spLocks noGrp="1"/>
          </p:cNvSpPr>
          <p:nvPr/>
        </p:nvSpPr>
        <p:spPr>
          <a:xfrm>
            <a:off x="505253" y="5195231"/>
            <a:ext cx="6381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18</a:t>
            </a:r>
          </a:p>
        </p:txBody>
      </p:sp>
      <p:sp>
        <p:nvSpPr>
          <p:cNvPr id="31" name="Таблица 2 1">
            <a:extLst>
              <a:ext uri="{FF2B5EF4-FFF2-40B4-BE49-F238E27FC236}">
                <a16:creationId xmlns:a16="http://schemas.microsoft.com/office/drawing/2014/main" id="{CEA3B073-880A-4724-8D6F-45F509E82AF4}"/>
              </a:ext>
            </a:extLst>
          </p:cNvPr>
          <p:cNvSpPr>
            <a:spLocks noGrp="1"/>
          </p:cNvSpPr>
          <p:nvPr/>
        </p:nvSpPr>
        <p:spPr>
          <a:xfrm>
            <a:off x="1181528" y="5128556"/>
            <a:ext cx="1562100" cy="314325"/>
          </a:xfrm>
          <a:prstGeom prst="rect">
            <a:avLst/>
          </a:prstGeom>
          <a:solidFill>
            <a:srgbClr val="FFFFFF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32" name="Текст 2 1">
            <a:extLst>
              <a:ext uri="{FF2B5EF4-FFF2-40B4-BE49-F238E27FC236}">
                <a16:creationId xmlns:a16="http://schemas.microsoft.com/office/drawing/2014/main" id="{7B8EF410-8BF5-4861-AB84-BBDB7D3E34AB}"/>
              </a:ext>
            </a:extLst>
          </p:cNvPr>
          <p:cNvSpPr>
            <a:spLocks noGrp="1"/>
          </p:cNvSpPr>
          <p:nvPr/>
        </p:nvSpPr>
        <p:spPr>
          <a:xfrm>
            <a:off x="1219628" y="5195231"/>
            <a:ext cx="14859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54,55</a:t>
            </a:r>
          </a:p>
        </p:txBody>
      </p:sp>
      <p:sp>
        <p:nvSpPr>
          <p:cNvPr id="33" name="Таблица 2 2">
            <a:extLst>
              <a:ext uri="{FF2B5EF4-FFF2-40B4-BE49-F238E27FC236}">
                <a16:creationId xmlns:a16="http://schemas.microsoft.com/office/drawing/2014/main" id="{3D50C02F-41D6-474A-95D0-E72A123CE082}"/>
              </a:ext>
            </a:extLst>
          </p:cNvPr>
          <p:cNvSpPr>
            <a:spLocks noGrp="1"/>
          </p:cNvSpPr>
          <p:nvPr/>
        </p:nvSpPr>
        <p:spPr>
          <a:xfrm>
            <a:off x="2743628" y="5128556"/>
            <a:ext cx="1971675" cy="314325"/>
          </a:xfrm>
          <a:prstGeom prst="rect">
            <a:avLst/>
          </a:prstGeom>
          <a:solidFill>
            <a:srgbClr val="FFFFFF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34" name="Текст 2 2">
            <a:extLst>
              <a:ext uri="{FF2B5EF4-FFF2-40B4-BE49-F238E27FC236}">
                <a16:creationId xmlns:a16="http://schemas.microsoft.com/office/drawing/2014/main" id="{921FF854-A2C4-47B8-AB8E-9E687708FD98}"/>
              </a:ext>
            </a:extLst>
          </p:cNvPr>
          <p:cNvSpPr>
            <a:spLocks noGrp="1"/>
          </p:cNvSpPr>
          <p:nvPr/>
        </p:nvSpPr>
        <p:spPr>
          <a:xfrm>
            <a:off x="2781728" y="5195231"/>
            <a:ext cx="18954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0,00</a:t>
            </a:r>
          </a:p>
        </p:txBody>
      </p:sp>
      <p:sp>
        <p:nvSpPr>
          <p:cNvPr id="35" name="Таблица 2 3">
            <a:extLst>
              <a:ext uri="{FF2B5EF4-FFF2-40B4-BE49-F238E27FC236}">
                <a16:creationId xmlns:a16="http://schemas.microsoft.com/office/drawing/2014/main" id="{B0A26545-E5DE-44D6-99D6-3109E78C14F0}"/>
              </a:ext>
            </a:extLst>
          </p:cNvPr>
          <p:cNvSpPr>
            <a:spLocks noGrp="1"/>
          </p:cNvSpPr>
          <p:nvPr/>
        </p:nvSpPr>
        <p:spPr>
          <a:xfrm>
            <a:off x="4715303" y="5128556"/>
            <a:ext cx="1600200" cy="314325"/>
          </a:xfrm>
          <a:prstGeom prst="rect">
            <a:avLst/>
          </a:prstGeom>
          <a:solidFill>
            <a:srgbClr val="FFFFFF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36" name="Текст 2 3">
            <a:extLst>
              <a:ext uri="{FF2B5EF4-FFF2-40B4-BE49-F238E27FC236}">
                <a16:creationId xmlns:a16="http://schemas.microsoft.com/office/drawing/2014/main" id="{AC4228AE-F361-4CAA-8DC6-1D54AF8DC6E3}"/>
              </a:ext>
            </a:extLst>
          </p:cNvPr>
          <p:cNvSpPr>
            <a:spLocks noGrp="1"/>
          </p:cNvSpPr>
          <p:nvPr/>
        </p:nvSpPr>
        <p:spPr>
          <a:xfrm>
            <a:off x="4753403" y="5195231"/>
            <a:ext cx="1524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92,31 %</a:t>
            </a:r>
          </a:p>
        </p:txBody>
      </p:sp>
      <p:sp>
        <p:nvSpPr>
          <p:cNvPr id="37" name="Таблица 2 4">
            <a:extLst>
              <a:ext uri="{FF2B5EF4-FFF2-40B4-BE49-F238E27FC236}">
                <a16:creationId xmlns:a16="http://schemas.microsoft.com/office/drawing/2014/main" id="{B50A96C4-F666-4CCE-933C-4BB5331312D2}"/>
              </a:ext>
            </a:extLst>
          </p:cNvPr>
          <p:cNvSpPr>
            <a:spLocks noGrp="1"/>
          </p:cNvSpPr>
          <p:nvPr/>
        </p:nvSpPr>
        <p:spPr>
          <a:xfrm>
            <a:off x="6315503" y="5128556"/>
            <a:ext cx="2381250" cy="314325"/>
          </a:xfrm>
          <a:prstGeom prst="rect">
            <a:avLst/>
          </a:prstGeom>
          <a:solidFill>
            <a:srgbClr val="FFFFFF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38" name="Текст 2 4">
            <a:extLst>
              <a:ext uri="{FF2B5EF4-FFF2-40B4-BE49-F238E27FC236}">
                <a16:creationId xmlns:a16="http://schemas.microsoft.com/office/drawing/2014/main" id="{EDE49BD4-0213-4BCC-A908-B7AE7DD98432}"/>
              </a:ext>
            </a:extLst>
          </p:cNvPr>
          <p:cNvSpPr>
            <a:spLocks noGrp="1"/>
          </p:cNvSpPr>
          <p:nvPr/>
        </p:nvSpPr>
        <p:spPr>
          <a:xfrm>
            <a:off x="6353603" y="5195231"/>
            <a:ext cx="23050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Средняя точность ниже</a:t>
            </a:r>
          </a:p>
        </p:txBody>
      </p:sp>
      <p:sp>
        <p:nvSpPr>
          <p:cNvPr id="39" name="Таблица 3 0">
            <a:extLst>
              <a:ext uri="{FF2B5EF4-FFF2-40B4-BE49-F238E27FC236}">
                <a16:creationId xmlns:a16="http://schemas.microsoft.com/office/drawing/2014/main" id="{2CB809CA-4159-44EA-BFCD-992F849323CB}"/>
              </a:ext>
            </a:extLst>
          </p:cNvPr>
          <p:cNvSpPr>
            <a:spLocks noGrp="1"/>
          </p:cNvSpPr>
          <p:nvPr/>
        </p:nvSpPr>
        <p:spPr>
          <a:xfrm>
            <a:off x="467153" y="5442881"/>
            <a:ext cx="714375" cy="314325"/>
          </a:xfrm>
          <a:prstGeom prst="rect">
            <a:avLst/>
          </a:prstGeom>
          <a:solidFill>
            <a:srgbClr val="D3EDDE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40" name="Текст 3 0">
            <a:extLst>
              <a:ext uri="{FF2B5EF4-FFF2-40B4-BE49-F238E27FC236}">
                <a16:creationId xmlns:a16="http://schemas.microsoft.com/office/drawing/2014/main" id="{1C08B1AC-2276-458B-8E94-52FD0317E6DB}"/>
              </a:ext>
            </a:extLst>
          </p:cNvPr>
          <p:cNvSpPr>
            <a:spLocks noGrp="1"/>
          </p:cNvSpPr>
          <p:nvPr/>
        </p:nvSpPr>
        <p:spPr>
          <a:xfrm>
            <a:off x="505253" y="5509556"/>
            <a:ext cx="6381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5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pPr>
            <a:r>
              <a:t>19</a:t>
            </a:r>
          </a:p>
        </p:txBody>
      </p:sp>
      <p:sp>
        <p:nvSpPr>
          <p:cNvPr id="41" name="Таблица 3 1">
            <a:extLst>
              <a:ext uri="{FF2B5EF4-FFF2-40B4-BE49-F238E27FC236}">
                <a16:creationId xmlns:a16="http://schemas.microsoft.com/office/drawing/2014/main" id="{747C173A-6741-45A5-AC0E-BEF0D3721EB9}"/>
              </a:ext>
            </a:extLst>
          </p:cNvPr>
          <p:cNvSpPr>
            <a:spLocks noGrp="1"/>
          </p:cNvSpPr>
          <p:nvPr/>
        </p:nvSpPr>
        <p:spPr>
          <a:xfrm>
            <a:off x="1181528" y="5442881"/>
            <a:ext cx="1562100" cy="314325"/>
          </a:xfrm>
          <a:prstGeom prst="rect">
            <a:avLst/>
          </a:prstGeom>
          <a:solidFill>
            <a:srgbClr val="D3EDDE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42" name="Текст 3 1">
            <a:extLst>
              <a:ext uri="{FF2B5EF4-FFF2-40B4-BE49-F238E27FC236}">
                <a16:creationId xmlns:a16="http://schemas.microsoft.com/office/drawing/2014/main" id="{FAD1F012-E55E-4FB8-A892-0A9895E3D2C2}"/>
              </a:ext>
            </a:extLst>
          </p:cNvPr>
          <p:cNvSpPr>
            <a:spLocks noGrp="1"/>
          </p:cNvSpPr>
          <p:nvPr/>
        </p:nvSpPr>
        <p:spPr>
          <a:xfrm>
            <a:off x="1219628" y="5509556"/>
            <a:ext cx="14859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5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pPr>
            <a:r>
              <a:t>54,55</a:t>
            </a:r>
          </a:p>
        </p:txBody>
      </p:sp>
      <p:sp>
        <p:nvSpPr>
          <p:cNvPr id="43" name="Таблица 3 2">
            <a:extLst>
              <a:ext uri="{FF2B5EF4-FFF2-40B4-BE49-F238E27FC236}">
                <a16:creationId xmlns:a16="http://schemas.microsoft.com/office/drawing/2014/main" id="{28AADCFB-C2A8-4BEE-8D1B-8DB02F0CC38C}"/>
              </a:ext>
            </a:extLst>
          </p:cNvPr>
          <p:cNvSpPr>
            <a:spLocks noGrp="1"/>
          </p:cNvSpPr>
          <p:nvPr/>
        </p:nvSpPr>
        <p:spPr>
          <a:xfrm>
            <a:off x="2743628" y="5442881"/>
            <a:ext cx="1971675" cy="314325"/>
          </a:xfrm>
          <a:prstGeom prst="rect">
            <a:avLst/>
          </a:prstGeom>
          <a:solidFill>
            <a:srgbClr val="D3EDDE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44" name="Текст 3 2">
            <a:extLst>
              <a:ext uri="{FF2B5EF4-FFF2-40B4-BE49-F238E27FC236}">
                <a16:creationId xmlns:a16="http://schemas.microsoft.com/office/drawing/2014/main" id="{1BC4B4D7-4FB9-4524-A560-CC2A856078CD}"/>
              </a:ext>
            </a:extLst>
          </p:cNvPr>
          <p:cNvSpPr>
            <a:spLocks noGrp="1"/>
          </p:cNvSpPr>
          <p:nvPr/>
        </p:nvSpPr>
        <p:spPr>
          <a:xfrm>
            <a:off x="2781728" y="5509556"/>
            <a:ext cx="18954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5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pPr>
            <a:r>
              <a:t>0,00</a:t>
            </a:r>
          </a:p>
        </p:txBody>
      </p:sp>
      <p:sp>
        <p:nvSpPr>
          <p:cNvPr id="45" name="Таблица 3 3">
            <a:extLst>
              <a:ext uri="{FF2B5EF4-FFF2-40B4-BE49-F238E27FC236}">
                <a16:creationId xmlns:a16="http://schemas.microsoft.com/office/drawing/2014/main" id="{D9A54C87-A3E5-4D6C-8ED8-87CD2CB6BA6F}"/>
              </a:ext>
            </a:extLst>
          </p:cNvPr>
          <p:cNvSpPr>
            <a:spLocks noGrp="1"/>
          </p:cNvSpPr>
          <p:nvPr/>
        </p:nvSpPr>
        <p:spPr>
          <a:xfrm>
            <a:off x="4715303" y="5442881"/>
            <a:ext cx="1600200" cy="314325"/>
          </a:xfrm>
          <a:prstGeom prst="rect">
            <a:avLst/>
          </a:prstGeom>
          <a:solidFill>
            <a:srgbClr val="D3EDDE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46" name="Текст 3 3">
            <a:extLst>
              <a:ext uri="{FF2B5EF4-FFF2-40B4-BE49-F238E27FC236}">
                <a16:creationId xmlns:a16="http://schemas.microsoft.com/office/drawing/2014/main" id="{9DFB7934-E395-4C9E-B698-E4703D6E3A3C}"/>
              </a:ext>
            </a:extLst>
          </p:cNvPr>
          <p:cNvSpPr>
            <a:spLocks noGrp="1"/>
          </p:cNvSpPr>
          <p:nvPr/>
        </p:nvSpPr>
        <p:spPr>
          <a:xfrm>
            <a:off x="4753403" y="5509556"/>
            <a:ext cx="1524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5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pPr>
            <a:r>
              <a:t>94,63 %</a:t>
            </a:r>
          </a:p>
        </p:txBody>
      </p:sp>
      <p:sp>
        <p:nvSpPr>
          <p:cNvPr id="47" name="Таблица 3 4">
            <a:extLst>
              <a:ext uri="{FF2B5EF4-FFF2-40B4-BE49-F238E27FC236}">
                <a16:creationId xmlns:a16="http://schemas.microsoft.com/office/drawing/2014/main" id="{239B04DD-58EB-40CD-AC38-45F0490173EC}"/>
              </a:ext>
            </a:extLst>
          </p:cNvPr>
          <p:cNvSpPr>
            <a:spLocks noGrp="1"/>
          </p:cNvSpPr>
          <p:nvPr/>
        </p:nvSpPr>
        <p:spPr>
          <a:xfrm>
            <a:off x="6315503" y="5442881"/>
            <a:ext cx="2381250" cy="314325"/>
          </a:xfrm>
          <a:prstGeom prst="rect">
            <a:avLst/>
          </a:prstGeom>
          <a:solidFill>
            <a:srgbClr val="D3EDDE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48" name="Текст 3 4">
            <a:extLst>
              <a:ext uri="{FF2B5EF4-FFF2-40B4-BE49-F238E27FC236}">
                <a16:creationId xmlns:a16="http://schemas.microsoft.com/office/drawing/2014/main" id="{9FCDAC01-D398-4F5F-B1BA-57CFC4201671}"/>
              </a:ext>
            </a:extLst>
          </p:cNvPr>
          <p:cNvSpPr>
            <a:spLocks noGrp="1"/>
          </p:cNvSpPr>
          <p:nvPr/>
        </p:nvSpPr>
        <p:spPr>
          <a:xfrm>
            <a:off x="6353603" y="5509556"/>
            <a:ext cx="23050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5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pPr>
            <a:r>
              <a:t>Выбрана</a:t>
            </a:r>
          </a:p>
        </p:txBody>
      </p:sp>
      <p:sp>
        <p:nvSpPr>
          <p:cNvPr id="49" name="Таблица 4 0">
            <a:extLst>
              <a:ext uri="{FF2B5EF4-FFF2-40B4-BE49-F238E27FC236}">
                <a16:creationId xmlns:a16="http://schemas.microsoft.com/office/drawing/2014/main" id="{6E12636E-3A76-4EAA-854D-6E92C08BA536}"/>
              </a:ext>
            </a:extLst>
          </p:cNvPr>
          <p:cNvSpPr>
            <a:spLocks noGrp="1"/>
          </p:cNvSpPr>
          <p:nvPr/>
        </p:nvSpPr>
        <p:spPr>
          <a:xfrm>
            <a:off x="467153" y="5757206"/>
            <a:ext cx="714375" cy="314325"/>
          </a:xfrm>
          <a:prstGeom prst="rect">
            <a:avLst/>
          </a:prstGeom>
          <a:solidFill>
            <a:srgbClr val="FFFFFF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50" name="Текст 4 0">
            <a:extLst>
              <a:ext uri="{FF2B5EF4-FFF2-40B4-BE49-F238E27FC236}">
                <a16:creationId xmlns:a16="http://schemas.microsoft.com/office/drawing/2014/main" id="{1838496D-6BF3-4BF2-B52E-62EA9D112A41}"/>
              </a:ext>
            </a:extLst>
          </p:cNvPr>
          <p:cNvSpPr>
            <a:spLocks noGrp="1"/>
          </p:cNvSpPr>
          <p:nvPr/>
        </p:nvSpPr>
        <p:spPr>
          <a:xfrm>
            <a:off x="505253" y="5823881"/>
            <a:ext cx="6381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20</a:t>
            </a:r>
          </a:p>
        </p:txBody>
      </p:sp>
      <p:sp>
        <p:nvSpPr>
          <p:cNvPr id="51" name="Таблица 4 1">
            <a:extLst>
              <a:ext uri="{FF2B5EF4-FFF2-40B4-BE49-F238E27FC236}">
                <a16:creationId xmlns:a16="http://schemas.microsoft.com/office/drawing/2014/main" id="{4C31146C-7A68-40BB-910F-A65094FB7E31}"/>
              </a:ext>
            </a:extLst>
          </p:cNvPr>
          <p:cNvSpPr>
            <a:spLocks noGrp="1"/>
          </p:cNvSpPr>
          <p:nvPr/>
        </p:nvSpPr>
        <p:spPr>
          <a:xfrm>
            <a:off x="1181528" y="5757206"/>
            <a:ext cx="1562100" cy="314325"/>
          </a:xfrm>
          <a:prstGeom prst="rect">
            <a:avLst/>
          </a:prstGeom>
          <a:solidFill>
            <a:srgbClr val="FFFFFF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52" name="Текст 4 1">
            <a:extLst>
              <a:ext uri="{FF2B5EF4-FFF2-40B4-BE49-F238E27FC236}">
                <a16:creationId xmlns:a16="http://schemas.microsoft.com/office/drawing/2014/main" id="{8BC48706-93D1-4028-A289-8E7BF1E91A39}"/>
              </a:ext>
            </a:extLst>
          </p:cNvPr>
          <p:cNvSpPr>
            <a:spLocks noGrp="1"/>
          </p:cNvSpPr>
          <p:nvPr/>
        </p:nvSpPr>
        <p:spPr>
          <a:xfrm>
            <a:off x="1219628" y="5823881"/>
            <a:ext cx="14859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54,55</a:t>
            </a:r>
          </a:p>
        </p:txBody>
      </p:sp>
      <p:sp>
        <p:nvSpPr>
          <p:cNvPr id="53" name="Таблица 4 2">
            <a:extLst>
              <a:ext uri="{FF2B5EF4-FFF2-40B4-BE49-F238E27FC236}">
                <a16:creationId xmlns:a16="http://schemas.microsoft.com/office/drawing/2014/main" id="{46CB48B5-B984-4924-A653-69DE8975EF09}"/>
              </a:ext>
            </a:extLst>
          </p:cNvPr>
          <p:cNvSpPr>
            <a:spLocks noGrp="1"/>
          </p:cNvSpPr>
          <p:nvPr/>
        </p:nvSpPr>
        <p:spPr>
          <a:xfrm>
            <a:off x="2743628" y="5757206"/>
            <a:ext cx="1971675" cy="314325"/>
          </a:xfrm>
          <a:prstGeom prst="rect">
            <a:avLst/>
          </a:prstGeom>
          <a:solidFill>
            <a:srgbClr val="FFFFFF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54" name="Текст 4 2">
            <a:extLst>
              <a:ext uri="{FF2B5EF4-FFF2-40B4-BE49-F238E27FC236}">
                <a16:creationId xmlns:a16="http://schemas.microsoft.com/office/drawing/2014/main" id="{53A66576-9EC9-431A-92B4-55D6F6FA0CCA}"/>
              </a:ext>
            </a:extLst>
          </p:cNvPr>
          <p:cNvSpPr>
            <a:spLocks noGrp="1"/>
          </p:cNvSpPr>
          <p:nvPr/>
        </p:nvSpPr>
        <p:spPr>
          <a:xfrm>
            <a:off x="2781728" y="5823881"/>
            <a:ext cx="18954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0,00</a:t>
            </a:r>
          </a:p>
        </p:txBody>
      </p:sp>
      <p:sp>
        <p:nvSpPr>
          <p:cNvPr id="55" name="Таблица 4 3">
            <a:extLst>
              <a:ext uri="{FF2B5EF4-FFF2-40B4-BE49-F238E27FC236}">
                <a16:creationId xmlns:a16="http://schemas.microsoft.com/office/drawing/2014/main" id="{C35A4F93-A9B7-413B-9534-E4886398933B}"/>
              </a:ext>
            </a:extLst>
          </p:cNvPr>
          <p:cNvSpPr>
            <a:spLocks noGrp="1"/>
          </p:cNvSpPr>
          <p:nvPr/>
        </p:nvSpPr>
        <p:spPr>
          <a:xfrm>
            <a:off x="4715303" y="5757206"/>
            <a:ext cx="1600200" cy="314325"/>
          </a:xfrm>
          <a:prstGeom prst="rect">
            <a:avLst/>
          </a:prstGeom>
          <a:solidFill>
            <a:srgbClr val="FFFFFF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56" name="Текст 4 3">
            <a:extLst>
              <a:ext uri="{FF2B5EF4-FFF2-40B4-BE49-F238E27FC236}">
                <a16:creationId xmlns:a16="http://schemas.microsoft.com/office/drawing/2014/main" id="{29AA6B9F-FF16-462F-A2C2-0F6FC2FC0CDA}"/>
              </a:ext>
            </a:extLst>
          </p:cNvPr>
          <p:cNvSpPr>
            <a:spLocks noGrp="1"/>
          </p:cNvSpPr>
          <p:nvPr/>
        </p:nvSpPr>
        <p:spPr>
          <a:xfrm>
            <a:off x="4753403" y="5823881"/>
            <a:ext cx="1524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92,45 %</a:t>
            </a:r>
          </a:p>
        </p:txBody>
      </p:sp>
      <p:sp>
        <p:nvSpPr>
          <p:cNvPr id="57" name="Таблица 4 4">
            <a:extLst>
              <a:ext uri="{FF2B5EF4-FFF2-40B4-BE49-F238E27FC236}">
                <a16:creationId xmlns:a16="http://schemas.microsoft.com/office/drawing/2014/main" id="{E02512CD-2A53-4C09-9D3E-C3488EC60E99}"/>
              </a:ext>
            </a:extLst>
          </p:cNvPr>
          <p:cNvSpPr>
            <a:spLocks noGrp="1"/>
          </p:cNvSpPr>
          <p:nvPr/>
        </p:nvSpPr>
        <p:spPr>
          <a:xfrm>
            <a:off x="6315503" y="5757206"/>
            <a:ext cx="2381250" cy="314325"/>
          </a:xfrm>
          <a:prstGeom prst="rect">
            <a:avLst/>
          </a:prstGeom>
          <a:solidFill>
            <a:srgbClr val="FFFFFF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58" name="Текст 4 4">
            <a:extLst>
              <a:ext uri="{FF2B5EF4-FFF2-40B4-BE49-F238E27FC236}">
                <a16:creationId xmlns:a16="http://schemas.microsoft.com/office/drawing/2014/main" id="{F6FA1B50-31AE-4A4E-B537-7678EC2B0102}"/>
              </a:ext>
            </a:extLst>
          </p:cNvPr>
          <p:cNvSpPr>
            <a:spLocks noGrp="1"/>
          </p:cNvSpPr>
          <p:nvPr/>
        </p:nvSpPr>
        <p:spPr>
          <a:xfrm>
            <a:off x="6353603" y="5823881"/>
            <a:ext cx="23050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rPr dirty="0" err="1"/>
              <a:t>Средняя</a:t>
            </a:r>
            <a:r>
              <a:rPr dirty="0"/>
              <a:t> </a:t>
            </a:r>
            <a:r>
              <a:rPr dirty="0" err="1"/>
              <a:t>точность</a:t>
            </a:r>
            <a:r>
              <a:rPr dirty="0"/>
              <a:t> </a:t>
            </a:r>
            <a:r>
              <a:rPr dirty="0" err="1"/>
              <a:t>ниже</a:t>
            </a:r>
            <a:endParaRPr dirty="0"/>
          </a:p>
        </p:txBody>
      </p:sp>
      <p:grpSp>
        <p:nvGrpSpPr>
          <p:cNvPr id="92" name="Группа 91">
            <a:extLst>
              <a:ext uri="{FF2B5EF4-FFF2-40B4-BE49-F238E27FC236}">
                <a16:creationId xmlns:a16="http://schemas.microsoft.com/office/drawing/2014/main" id="{F979C0AB-E155-8DAC-0420-F089087EB055}"/>
              </a:ext>
            </a:extLst>
          </p:cNvPr>
          <p:cNvGrpSpPr/>
          <p:nvPr/>
        </p:nvGrpSpPr>
        <p:grpSpPr>
          <a:xfrm>
            <a:off x="4455145" y="813637"/>
            <a:ext cx="4448175" cy="1551568"/>
            <a:chOff x="4034989" y="713360"/>
            <a:chExt cx="5010150" cy="1752602"/>
          </a:xfrm>
        </p:grpSpPr>
        <p:sp>
          <p:nvSpPr>
            <p:cNvPr id="67" name="Кадры">
              <a:extLst>
                <a:ext uri="{FF2B5EF4-FFF2-40B4-BE49-F238E27FC236}">
                  <a16:creationId xmlns:a16="http://schemas.microsoft.com/office/drawing/2014/main" id="{D854EC31-D4A7-C993-795A-9ABA693B1678}"/>
                </a:ext>
              </a:extLst>
            </p:cNvPr>
            <p:cNvSpPr/>
            <p:nvPr/>
          </p:nvSpPr>
          <p:spPr>
            <a:xfrm>
              <a:off x="4034989" y="713360"/>
              <a:ext cx="5010150" cy="333374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tIns="0" rIns="0" bIns="0" anchor="t">
              <a:noAutofit/>
            </a:bodyPr>
            <a:lstStyle>
              <a:defPPr algn="ctr">
                <a:defRPr sz="2175" b="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ctr">
                <a:defRPr sz="2175" b="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dirty="0"/>
                <a:t>11 </a:t>
              </a:r>
              <a:r>
                <a:rPr dirty="0" err="1"/>
                <a:t>кадров</a:t>
              </a:r>
              <a:r>
                <a:rPr dirty="0"/>
                <a:t> с </a:t>
              </a:r>
              <a:r>
                <a:rPr dirty="0" err="1"/>
                <a:t>дефектом</a:t>
              </a:r>
              <a:endParaRPr dirty="0"/>
            </a:p>
          </p:txBody>
        </p:sp>
        <p:sp>
          <p:nvSpPr>
            <p:cNvPr id="68" name="Кадр 1">
              <a:extLst>
                <a:ext uri="{FF2B5EF4-FFF2-40B4-BE49-F238E27FC236}">
                  <a16:creationId xmlns:a16="http://schemas.microsoft.com/office/drawing/2014/main" id="{E7E775D0-CA44-BED6-396C-6C9431622107}"/>
                </a:ext>
              </a:extLst>
            </p:cNvPr>
            <p:cNvSpPr/>
            <p:nvPr/>
          </p:nvSpPr>
          <p:spPr>
            <a:xfrm>
              <a:off x="4092139" y="1275334"/>
              <a:ext cx="390525" cy="676274"/>
            </a:xfrm>
            <a:prstGeom prst="rect">
              <a:avLst/>
            </a:prstGeom>
            <a:solidFill>
              <a:srgbClr val="CCEBDC"/>
            </a:solidFill>
            <a:ln w="0">
              <a:noFill/>
              <a:prstDash val="solid"/>
            </a:ln>
          </p:spPr>
        </p:sp>
        <p:sp>
          <p:nvSpPr>
            <p:cNvPr id="69" name="Номер кадра 1">
              <a:extLst>
                <a:ext uri="{FF2B5EF4-FFF2-40B4-BE49-F238E27FC236}">
                  <a16:creationId xmlns:a16="http://schemas.microsoft.com/office/drawing/2014/main" id="{3C4773E7-E902-83E8-C21F-C173A261A9A4}"/>
                </a:ext>
              </a:extLst>
            </p:cNvPr>
            <p:cNvSpPr/>
            <p:nvPr/>
          </p:nvSpPr>
          <p:spPr>
            <a:xfrm>
              <a:off x="4092139" y="1465833"/>
              <a:ext cx="390525" cy="285749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tIns="0" rIns="0" bIns="0" anchor="t">
              <a:noAutofit/>
            </a:bodyPr>
            <a:lstStyle>
              <a:defPPr algn="ctr">
                <a:defRPr sz="1800" b="1">
                  <a:solidFill>
                    <a:srgbClr val="176749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ctr">
                <a:defRPr sz="1800" b="1">
                  <a:solidFill>
                    <a:srgbClr val="176749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t>1</a:t>
              </a:r>
            </a:p>
          </p:txBody>
        </p:sp>
        <p:sp>
          <p:nvSpPr>
            <p:cNvPr id="70" name="Кадр 2">
              <a:extLst>
                <a:ext uri="{FF2B5EF4-FFF2-40B4-BE49-F238E27FC236}">
                  <a16:creationId xmlns:a16="http://schemas.microsoft.com/office/drawing/2014/main" id="{97C6ABB5-0D39-4C9B-0082-2E3002CDDFAA}"/>
                </a:ext>
              </a:extLst>
            </p:cNvPr>
            <p:cNvSpPr/>
            <p:nvPr/>
          </p:nvSpPr>
          <p:spPr>
            <a:xfrm>
              <a:off x="4539813" y="1275334"/>
              <a:ext cx="390525" cy="676274"/>
            </a:xfrm>
            <a:prstGeom prst="rect">
              <a:avLst/>
            </a:prstGeom>
            <a:solidFill>
              <a:srgbClr val="CCEBDC"/>
            </a:solidFill>
            <a:ln w="0">
              <a:noFill/>
              <a:prstDash val="solid"/>
            </a:ln>
          </p:spPr>
        </p:sp>
        <p:sp>
          <p:nvSpPr>
            <p:cNvPr id="71" name="Номер кадра 2">
              <a:extLst>
                <a:ext uri="{FF2B5EF4-FFF2-40B4-BE49-F238E27FC236}">
                  <a16:creationId xmlns:a16="http://schemas.microsoft.com/office/drawing/2014/main" id="{F703FB5D-E9FC-9616-D636-C35C89653EAF}"/>
                </a:ext>
              </a:extLst>
            </p:cNvPr>
            <p:cNvSpPr/>
            <p:nvPr/>
          </p:nvSpPr>
          <p:spPr>
            <a:xfrm>
              <a:off x="4539813" y="1465833"/>
              <a:ext cx="390525" cy="285749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tIns="0" rIns="0" bIns="0" anchor="t">
              <a:noAutofit/>
            </a:bodyPr>
            <a:lstStyle>
              <a:defPPr algn="ctr">
                <a:defRPr sz="1800" b="1">
                  <a:solidFill>
                    <a:srgbClr val="176749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ctr">
                <a:defRPr sz="1800" b="1">
                  <a:solidFill>
                    <a:srgbClr val="176749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t>2</a:t>
              </a:r>
            </a:p>
          </p:txBody>
        </p:sp>
        <p:sp>
          <p:nvSpPr>
            <p:cNvPr id="72" name="Кадр 3">
              <a:extLst>
                <a:ext uri="{FF2B5EF4-FFF2-40B4-BE49-F238E27FC236}">
                  <a16:creationId xmlns:a16="http://schemas.microsoft.com/office/drawing/2014/main" id="{FC4BC355-8AC9-62E6-48D5-F2C3670DA21B}"/>
                </a:ext>
              </a:extLst>
            </p:cNvPr>
            <p:cNvSpPr/>
            <p:nvPr/>
          </p:nvSpPr>
          <p:spPr>
            <a:xfrm>
              <a:off x="4987489" y="1275334"/>
              <a:ext cx="390525" cy="676274"/>
            </a:xfrm>
            <a:prstGeom prst="rect">
              <a:avLst/>
            </a:prstGeom>
            <a:solidFill>
              <a:srgbClr val="CCEBDC"/>
            </a:solidFill>
            <a:ln w="0">
              <a:noFill/>
              <a:prstDash val="solid"/>
            </a:ln>
          </p:spPr>
        </p:sp>
        <p:sp>
          <p:nvSpPr>
            <p:cNvPr id="73" name="Номер кадра 3">
              <a:extLst>
                <a:ext uri="{FF2B5EF4-FFF2-40B4-BE49-F238E27FC236}">
                  <a16:creationId xmlns:a16="http://schemas.microsoft.com/office/drawing/2014/main" id="{581D493A-DC31-BE56-C8D7-E75292075A9A}"/>
                </a:ext>
              </a:extLst>
            </p:cNvPr>
            <p:cNvSpPr/>
            <p:nvPr/>
          </p:nvSpPr>
          <p:spPr>
            <a:xfrm>
              <a:off x="4987489" y="1465833"/>
              <a:ext cx="390525" cy="285749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tIns="0" rIns="0" bIns="0" anchor="t">
              <a:noAutofit/>
            </a:bodyPr>
            <a:lstStyle>
              <a:defPPr algn="ctr">
                <a:defRPr sz="1800" b="1">
                  <a:solidFill>
                    <a:srgbClr val="176749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ctr">
                <a:defRPr sz="1800" b="1">
                  <a:solidFill>
                    <a:srgbClr val="176749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t>3</a:t>
              </a:r>
            </a:p>
          </p:txBody>
        </p:sp>
        <p:sp>
          <p:nvSpPr>
            <p:cNvPr id="74" name="Кадр 4">
              <a:extLst>
                <a:ext uri="{FF2B5EF4-FFF2-40B4-BE49-F238E27FC236}">
                  <a16:creationId xmlns:a16="http://schemas.microsoft.com/office/drawing/2014/main" id="{5E408D96-E8B8-5BF5-9BD2-E1E539F30746}"/>
                </a:ext>
              </a:extLst>
            </p:cNvPr>
            <p:cNvSpPr/>
            <p:nvPr/>
          </p:nvSpPr>
          <p:spPr>
            <a:xfrm>
              <a:off x="5435163" y="1275334"/>
              <a:ext cx="390525" cy="676274"/>
            </a:xfrm>
            <a:prstGeom prst="rect">
              <a:avLst/>
            </a:prstGeom>
            <a:solidFill>
              <a:srgbClr val="CCEBDC"/>
            </a:solidFill>
            <a:ln w="0">
              <a:noFill/>
              <a:prstDash val="solid"/>
            </a:ln>
          </p:spPr>
        </p:sp>
        <p:sp>
          <p:nvSpPr>
            <p:cNvPr id="75" name="Номер кадра 4">
              <a:extLst>
                <a:ext uri="{FF2B5EF4-FFF2-40B4-BE49-F238E27FC236}">
                  <a16:creationId xmlns:a16="http://schemas.microsoft.com/office/drawing/2014/main" id="{1E47E8F5-6F4A-040F-151A-75CBF001DD1F}"/>
                </a:ext>
              </a:extLst>
            </p:cNvPr>
            <p:cNvSpPr/>
            <p:nvPr/>
          </p:nvSpPr>
          <p:spPr>
            <a:xfrm>
              <a:off x="5435163" y="1465833"/>
              <a:ext cx="390525" cy="285749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tIns="0" rIns="0" bIns="0" anchor="t">
              <a:noAutofit/>
            </a:bodyPr>
            <a:lstStyle>
              <a:defPPr algn="ctr">
                <a:defRPr sz="1800" b="1">
                  <a:solidFill>
                    <a:srgbClr val="176749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ctr">
                <a:defRPr sz="1800" b="1">
                  <a:solidFill>
                    <a:srgbClr val="176749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t>4</a:t>
              </a:r>
            </a:p>
          </p:txBody>
        </p:sp>
        <p:sp>
          <p:nvSpPr>
            <p:cNvPr id="76" name="Кадр 5">
              <a:extLst>
                <a:ext uri="{FF2B5EF4-FFF2-40B4-BE49-F238E27FC236}">
                  <a16:creationId xmlns:a16="http://schemas.microsoft.com/office/drawing/2014/main" id="{787283B0-A7EC-CF45-9B2B-2B66718F61AA}"/>
                </a:ext>
              </a:extLst>
            </p:cNvPr>
            <p:cNvSpPr/>
            <p:nvPr/>
          </p:nvSpPr>
          <p:spPr>
            <a:xfrm>
              <a:off x="5882839" y="1275334"/>
              <a:ext cx="390525" cy="676274"/>
            </a:xfrm>
            <a:prstGeom prst="rect">
              <a:avLst/>
            </a:prstGeom>
            <a:solidFill>
              <a:srgbClr val="CCEBDC"/>
            </a:solidFill>
            <a:ln w="0">
              <a:noFill/>
              <a:prstDash val="solid"/>
            </a:ln>
          </p:spPr>
        </p:sp>
        <p:sp>
          <p:nvSpPr>
            <p:cNvPr id="77" name="Номер кадра 5">
              <a:extLst>
                <a:ext uri="{FF2B5EF4-FFF2-40B4-BE49-F238E27FC236}">
                  <a16:creationId xmlns:a16="http://schemas.microsoft.com/office/drawing/2014/main" id="{68EF944C-DB03-B167-9C3F-D0AB0FB4744C}"/>
                </a:ext>
              </a:extLst>
            </p:cNvPr>
            <p:cNvSpPr/>
            <p:nvPr/>
          </p:nvSpPr>
          <p:spPr>
            <a:xfrm>
              <a:off x="5882839" y="1465833"/>
              <a:ext cx="390525" cy="285749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tIns="0" rIns="0" bIns="0" anchor="t">
              <a:noAutofit/>
            </a:bodyPr>
            <a:lstStyle>
              <a:defPPr algn="ctr">
                <a:defRPr sz="1800" b="1">
                  <a:solidFill>
                    <a:srgbClr val="176749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ctr">
                <a:defRPr sz="1800" b="1">
                  <a:solidFill>
                    <a:srgbClr val="176749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t>5</a:t>
              </a:r>
            </a:p>
          </p:txBody>
        </p:sp>
        <p:sp>
          <p:nvSpPr>
            <p:cNvPr id="78" name="Кадр 6">
              <a:extLst>
                <a:ext uri="{FF2B5EF4-FFF2-40B4-BE49-F238E27FC236}">
                  <a16:creationId xmlns:a16="http://schemas.microsoft.com/office/drawing/2014/main" id="{10C5F3F8-095C-EC9B-9093-A497CBE255A9}"/>
                </a:ext>
              </a:extLst>
            </p:cNvPr>
            <p:cNvSpPr/>
            <p:nvPr/>
          </p:nvSpPr>
          <p:spPr>
            <a:xfrm>
              <a:off x="6330513" y="1275334"/>
              <a:ext cx="390525" cy="676274"/>
            </a:xfrm>
            <a:prstGeom prst="rect">
              <a:avLst/>
            </a:prstGeom>
            <a:solidFill>
              <a:srgbClr val="CCEBDC"/>
            </a:solidFill>
            <a:ln w="0">
              <a:noFill/>
              <a:prstDash val="solid"/>
            </a:ln>
          </p:spPr>
        </p:sp>
        <p:sp>
          <p:nvSpPr>
            <p:cNvPr id="79" name="Номер кадра 6">
              <a:extLst>
                <a:ext uri="{FF2B5EF4-FFF2-40B4-BE49-F238E27FC236}">
                  <a16:creationId xmlns:a16="http://schemas.microsoft.com/office/drawing/2014/main" id="{7EF5732B-5E18-BB22-B514-684258BEBD72}"/>
                </a:ext>
              </a:extLst>
            </p:cNvPr>
            <p:cNvSpPr/>
            <p:nvPr/>
          </p:nvSpPr>
          <p:spPr>
            <a:xfrm>
              <a:off x="6330513" y="1465833"/>
              <a:ext cx="390525" cy="285749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tIns="0" rIns="0" bIns="0" anchor="t">
              <a:noAutofit/>
            </a:bodyPr>
            <a:lstStyle>
              <a:defPPr algn="ctr">
                <a:defRPr sz="1800" b="1">
                  <a:solidFill>
                    <a:srgbClr val="176749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ctr">
                <a:defRPr sz="1800" b="1">
                  <a:solidFill>
                    <a:srgbClr val="176749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t>6</a:t>
              </a:r>
            </a:p>
          </p:txBody>
        </p:sp>
        <p:sp>
          <p:nvSpPr>
            <p:cNvPr id="80" name="Кадр 7">
              <a:extLst>
                <a:ext uri="{FF2B5EF4-FFF2-40B4-BE49-F238E27FC236}">
                  <a16:creationId xmlns:a16="http://schemas.microsoft.com/office/drawing/2014/main" id="{E34D0820-6E18-9B24-B5B0-2A02ECA03976}"/>
                </a:ext>
              </a:extLst>
            </p:cNvPr>
            <p:cNvSpPr/>
            <p:nvPr/>
          </p:nvSpPr>
          <p:spPr>
            <a:xfrm>
              <a:off x="6778189" y="1275334"/>
              <a:ext cx="390525" cy="676274"/>
            </a:xfrm>
            <a:prstGeom prst="rect">
              <a:avLst/>
            </a:prstGeom>
            <a:solidFill>
              <a:srgbClr val="FFDDDD"/>
            </a:solidFill>
            <a:ln w="0">
              <a:noFill/>
              <a:prstDash val="solid"/>
            </a:ln>
          </p:spPr>
        </p:sp>
        <p:sp>
          <p:nvSpPr>
            <p:cNvPr id="81" name="Номер кадра 7">
              <a:extLst>
                <a:ext uri="{FF2B5EF4-FFF2-40B4-BE49-F238E27FC236}">
                  <a16:creationId xmlns:a16="http://schemas.microsoft.com/office/drawing/2014/main" id="{9F715AC6-6411-5D96-C4D7-32B648DC12E6}"/>
                </a:ext>
              </a:extLst>
            </p:cNvPr>
            <p:cNvSpPr/>
            <p:nvPr/>
          </p:nvSpPr>
          <p:spPr>
            <a:xfrm>
              <a:off x="6778189" y="1465833"/>
              <a:ext cx="390525" cy="285749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tIns="0" rIns="0" bIns="0" anchor="t">
              <a:noAutofit/>
            </a:bodyPr>
            <a:lstStyle>
              <a:defPPr algn="ctr">
                <a:defRPr sz="1800" b="1">
                  <a:solidFill>
                    <a:srgbClr val="A52B37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ctr">
                <a:defRPr sz="1800" b="1">
                  <a:solidFill>
                    <a:srgbClr val="A52B3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dirty="0"/>
                <a:t>7</a:t>
              </a:r>
            </a:p>
          </p:txBody>
        </p:sp>
        <p:sp>
          <p:nvSpPr>
            <p:cNvPr id="82" name="Кадр 8">
              <a:extLst>
                <a:ext uri="{FF2B5EF4-FFF2-40B4-BE49-F238E27FC236}">
                  <a16:creationId xmlns:a16="http://schemas.microsoft.com/office/drawing/2014/main" id="{980D9BBF-079A-540E-4E60-28A6D93B2B3B}"/>
                </a:ext>
              </a:extLst>
            </p:cNvPr>
            <p:cNvSpPr/>
            <p:nvPr/>
          </p:nvSpPr>
          <p:spPr>
            <a:xfrm>
              <a:off x="7225863" y="1275334"/>
              <a:ext cx="390525" cy="676274"/>
            </a:xfrm>
            <a:prstGeom prst="rect">
              <a:avLst/>
            </a:prstGeom>
            <a:solidFill>
              <a:srgbClr val="FFDDDD"/>
            </a:solidFill>
            <a:ln w="0">
              <a:noFill/>
              <a:prstDash val="solid"/>
            </a:ln>
          </p:spPr>
        </p:sp>
        <p:sp>
          <p:nvSpPr>
            <p:cNvPr id="83" name="Номер кадра 8">
              <a:extLst>
                <a:ext uri="{FF2B5EF4-FFF2-40B4-BE49-F238E27FC236}">
                  <a16:creationId xmlns:a16="http://schemas.microsoft.com/office/drawing/2014/main" id="{A3E755A8-B4C3-048E-D635-B40B015E9B38}"/>
                </a:ext>
              </a:extLst>
            </p:cNvPr>
            <p:cNvSpPr/>
            <p:nvPr/>
          </p:nvSpPr>
          <p:spPr>
            <a:xfrm>
              <a:off x="7225863" y="1465833"/>
              <a:ext cx="390525" cy="285749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tIns="0" rIns="0" bIns="0" anchor="t">
              <a:noAutofit/>
            </a:bodyPr>
            <a:lstStyle>
              <a:defPPr algn="ctr">
                <a:defRPr sz="1800" b="1">
                  <a:solidFill>
                    <a:srgbClr val="A52B37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ctr">
                <a:defRPr sz="1800" b="1">
                  <a:solidFill>
                    <a:srgbClr val="A52B3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t>8</a:t>
              </a:r>
            </a:p>
          </p:txBody>
        </p:sp>
        <p:sp>
          <p:nvSpPr>
            <p:cNvPr id="84" name="Кадр 9">
              <a:extLst>
                <a:ext uri="{FF2B5EF4-FFF2-40B4-BE49-F238E27FC236}">
                  <a16:creationId xmlns:a16="http://schemas.microsoft.com/office/drawing/2014/main" id="{54A97DAF-B0AC-438C-1ADD-1970B9203A6D}"/>
                </a:ext>
              </a:extLst>
            </p:cNvPr>
            <p:cNvSpPr/>
            <p:nvPr/>
          </p:nvSpPr>
          <p:spPr>
            <a:xfrm>
              <a:off x="7673539" y="1275334"/>
              <a:ext cx="390525" cy="676274"/>
            </a:xfrm>
            <a:prstGeom prst="rect">
              <a:avLst/>
            </a:prstGeom>
            <a:solidFill>
              <a:srgbClr val="FFDDDD"/>
            </a:solidFill>
            <a:ln w="0">
              <a:noFill/>
              <a:prstDash val="solid"/>
            </a:ln>
          </p:spPr>
        </p:sp>
        <p:sp>
          <p:nvSpPr>
            <p:cNvPr id="85" name="Номер кадра 9">
              <a:extLst>
                <a:ext uri="{FF2B5EF4-FFF2-40B4-BE49-F238E27FC236}">
                  <a16:creationId xmlns:a16="http://schemas.microsoft.com/office/drawing/2014/main" id="{B6BA569D-6415-1869-900E-4BB8B4D97BE4}"/>
                </a:ext>
              </a:extLst>
            </p:cNvPr>
            <p:cNvSpPr/>
            <p:nvPr/>
          </p:nvSpPr>
          <p:spPr>
            <a:xfrm>
              <a:off x="7673539" y="1465833"/>
              <a:ext cx="390525" cy="285749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tIns="0" rIns="0" bIns="0" anchor="t">
              <a:noAutofit/>
            </a:bodyPr>
            <a:lstStyle>
              <a:defPPr algn="ctr">
                <a:defRPr sz="1800" b="1">
                  <a:solidFill>
                    <a:srgbClr val="A52B37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ctr">
                <a:defRPr sz="1800" b="1">
                  <a:solidFill>
                    <a:srgbClr val="A52B3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t>9</a:t>
              </a:r>
            </a:p>
          </p:txBody>
        </p:sp>
        <p:sp>
          <p:nvSpPr>
            <p:cNvPr id="86" name="Кадр 10">
              <a:extLst>
                <a:ext uri="{FF2B5EF4-FFF2-40B4-BE49-F238E27FC236}">
                  <a16:creationId xmlns:a16="http://schemas.microsoft.com/office/drawing/2014/main" id="{0E8F2F98-17A0-C3CB-D855-217405DF24F5}"/>
                </a:ext>
              </a:extLst>
            </p:cNvPr>
            <p:cNvSpPr/>
            <p:nvPr/>
          </p:nvSpPr>
          <p:spPr>
            <a:xfrm>
              <a:off x="8121213" y="1275334"/>
              <a:ext cx="390525" cy="676274"/>
            </a:xfrm>
            <a:prstGeom prst="rect">
              <a:avLst/>
            </a:prstGeom>
            <a:solidFill>
              <a:srgbClr val="FFDDDD"/>
            </a:solidFill>
            <a:ln w="0">
              <a:noFill/>
              <a:prstDash val="solid"/>
            </a:ln>
          </p:spPr>
        </p:sp>
        <p:sp>
          <p:nvSpPr>
            <p:cNvPr id="87" name="Номер кадра 10">
              <a:extLst>
                <a:ext uri="{FF2B5EF4-FFF2-40B4-BE49-F238E27FC236}">
                  <a16:creationId xmlns:a16="http://schemas.microsoft.com/office/drawing/2014/main" id="{745204F6-E121-F77D-6F6D-C35E27799856}"/>
                </a:ext>
              </a:extLst>
            </p:cNvPr>
            <p:cNvSpPr/>
            <p:nvPr/>
          </p:nvSpPr>
          <p:spPr>
            <a:xfrm>
              <a:off x="8121213" y="1465833"/>
              <a:ext cx="390525" cy="285749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tIns="0" rIns="0" bIns="0" anchor="t">
              <a:noAutofit/>
            </a:bodyPr>
            <a:lstStyle>
              <a:defPPr algn="ctr">
                <a:defRPr sz="1800" b="1">
                  <a:solidFill>
                    <a:srgbClr val="A52B37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ctr">
                <a:defRPr sz="1800" b="1">
                  <a:solidFill>
                    <a:srgbClr val="A52B3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t>10</a:t>
              </a:r>
            </a:p>
          </p:txBody>
        </p:sp>
        <p:sp>
          <p:nvSpPr>
            <p:cNvPr id="88" name="Кадр 11">
              <a:extLst>
                <a:ext uri="{FF2B5EF4-FFF2-40B4-BE49-F238E27FC236}">
                  <a16:creationId xmlns:a16="http://schemas.microsoft.com/office/drawing/2014/main" id="{25F5A303-C06D-9CAD-952C-0F702411D510}"/>
                </a:ext>
              </a:extLst>
            </p:cNvPr>
            <p:cNvSpPr/>
            <p:nvPr/>
          </p:nvSpPr>
          <p:spPr>
            <a:xfrm>
              <a:off x="8568889" y="1275335"/>
              <a:ext cx="390525" cy="676274"/>
            </a:xfrm>
            <a:prstGeom prst="rect">
              <a:avLst/>
            </a:prstGeom>
            <a:solidFill>
              <a:srgbClr val="FFDDDD"/>
            </a:solidFill>
            <a:ln w="0">
              <a:noFill/>
              <a:prstDash val="solid"/>
            </a:ln>
          </p:spPr>
        </p:sp>
        <p:sp>
          <p:nvSpPr>
            <p:cNvPr id="89" name="Номер кадра 11">
              <a:extLst>
                <a:ext uri="{FF2B5EF4-FFF2-40B4-BE49-F238E27FC236}">
                  <a16:creationId xmlns:a16="http://schemas.microsoft.com/office/drawing/2014/main" id="{45D713F0-96AE-213D-2CA6-DDDAD47C4F2B}"/>
                </a:ext>
              </a:extLst>
            </p:cNvPr>
            <p:cNvSpPr/>
            <p:nvPr/>
          </p:nvSpPr>
          <p:spPr>
            <a:xfrm>
              <a:off x="8568889" y="1465834"/>
              <a:ext cx="390525" cy="285749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tIns="0" rIns="0" bIns="0" anchor="t">
              <a:noAutofit/>
            </a:bodyPr>
            <a:lstStyle>
              <a:defPPr algn="ctr">
                <a:defRPr sz="1800" b="1">
                  <a:solidFill>
                    <a:srgbClr val="A52B37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ctr">
                <a:defRPr sz="1800" b="1">
                  <a:solidFill>
                    <a:srgbClr val="A52B3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t>11</a:t>
              </a:r>
            </a:p>
          </p:txBody>
        </p:sp>
        <p:sp>
          <p:nvSpPr>
            <p:cNvPr id="90" name="Найденные">
              <a:extLst>
                <a:ext uri="{FF2B5EF4-FFF2-40B4-BE49-F238E27FC236}">
                  <a16:creationId xmlns:a16="http://schemas.microsoft.com/office/drawing/2014/main" id="{E5EF48EC-D6B1-F813-A229-DACF4E014461}"/>
                </a:ext>
              </a:extLst>
            </p:cNvPr>
            <p:cNvSpPr/>
            <p:nvPr/>
          </p:nvSpPr>
          <p:spPr>
            <a:xfrm>
              <a:off x="4092139" y="2123060"/>
              <a:ext cx="2667000" cy="342899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tIns="0" rIns="0" bIns="0" anchor="t">
              <a:noAutofit/>
            </a:bodyPr>
            <a:lstStyle>
              <a:defPPr algn="ctr">
                <a:defRPr sz="2100" b="1">
                  <a:solidFill>
                    <a:srgbClr val="176749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ctr">
                <a:defRPr sz="2100" b="1">
                  <a:solidFill>
                    <a:srgbClr val="176749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dirty="0"/>
                <a:t>6 </a:t>
              </a:r>
              <a:r>
                <a:rPr dirty="0" err="1"/>
                <a:t>обнаружены</a:t>
              </a:r>
              <a:endParaRPr dirty="0"/>
            </a:p>
          </p:txBody>
        </p:sp>
        <p:sp>
          <p:nvSpPr>
            <p:cNvPr id="91" name="Пропущенные">
              <a:extLst>
                <a:ext uri="{FF2B5EF4-FFF2-40B4-BE49-F238E27FC236}">
                  <a16:creationId xmlns:a16="http://schemas.microsoft.com/office/drawing/2014/main" id="{E3CEC1CC-766C-2BFF-78C5-DD58F444E17E}"/>
                </a:ext>
              </a:extLst>
            </p:cNvPr>
            <p:cNvSpPr/>
            <p:nvPr/>
          </p:nvSpPr>
          <p:spPr>
            <a:xfrm>
              <a:off x="6778189" y="2123063"/>
              <a:ext cx="2228850" cy="342899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tIns="0" rIns="0" bIns="0" anchor="t">
              <a:noAutofit/>
            </a:bodyPr>
            <a:lstStyle>
              <a:defPPr algn="ctr">
                <a:defRPr sz="2100" b="1">
                  <a:solidFill>
                    <a:srgbClr val="A52B37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ctr">
                <a:defRPr sz="2100" b="1">
                  <a:solidFill>
                    <a:srgbClr val="A52B3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t>5 пропущены</a:t>
              </a:r>
            </a:p>
          </p:txBody>
        </p:sp>
      </p:grpSp>
      <p:sp>
        <p:nvSpPr>
          <p:cNvPr id="95" name="Замещающий номер слайда 4">
            <a:extLst>
              <a:ext uri="{FF2B5EF4-FFF2-40B4-BE49-F238E27FC236}">
                <a16:creationId xmlns:a16="http://schemas.microsoft.com/office/drawing/2014/main" id="{10512021-E502-B520-C12E-2B34F9FE5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8886" y="6493511"/>
            <a:ext cx="2057400" cy="365125"/>
          </a:xfrm>
        </p:spPr>
        <p:txBody>
          <a:bodyPr/>
          <a:lstStyle/>
          <a:p>
            <a:fld id="{D6ED8A53-8D2F-4011-BE06-EDB0774336BA}" type="slidenum">
              <a:rPr lang="ru-RU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fld>
            <a:endParaRPr lang="ru-RU" sz="2000">
              <a:solidFill>
                <a:schemeClr val="tx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sp>
        <p:nvSpPr>
          <p:cNvPr id="97" name="Ограничение текст">
            <a:extLst>
              <a:ext uri="{FF2B5EF4-FFF2-40B4-BE49-F238E27FC236}">
                <a16:creationId xmlns:a16="http://schemas.microsoft.com/office/drawing/2014/main" id="{2C18C0CD-F8B8-A17D-FD7D-68D281A259A5}"/>
              </a:ext>
            </a:extLst>
          </p:cNvPr>
          <p:cNvSpPr>
            <a:spLocks noGrp="1"/>
          </p:cNvSpPr>
          <p:nvPr/>
        </p:nvSpPr>
        <p:spPr>
          <a:xfrm>
            <a:off x="301232" y="3463469"/>
            <a:ext cx="8698531" cy="96939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ru-RU" dirty="0"/>
              <a:t>19-я эпоха: 6 из 11 дефектных кадров, ни одной ложной тревоги. При этом 11 положительных кадров — ограниченная выборка для выбора эпохи, поэтому результаты считать предварительными.</a:t>
            </a:r>
          </a:p>
        </p:txBody>
      </p:sp>
      <p:sp>
        <p:nvSpPr>
          <p:cNvPr id="63" name="Рамка метрик">
            <a:extLst>
              <a:ext uri="{FF2B5EF4-FFF2-40B4-BE49-F238E27FC236}">
                <a16:creationId xmlns:a16="http://schemas.microsoft.com/office/drawing/2014/main" id="{00C2583A-D86D-B9BC-311F-ABFFB5908C45}"/>
              </a:ext>
            </a:extLst>
          </p:cNvPr>
          <p:cNvSpPr>
            <a:spLocks noGrp="1"/>
          </p:cNvSpPr>
          <p:nvPr/>
        </p:nvSpPr>
        <p:spPr>
          <a:xfrm>
            <a:off x="257751" y="733922"/>
            <a:ext cx="4080662" cy="2458908"/>
          </a:xfrm>
          <a:prstGeom prst="rect">
            <a:avLst/>
          </a:prstGeom>
          <a:noFill/>
          <a:ln w="9525">
            <a:solidFill>
              <a:srgbClr val="000000"/>
            </a:solidFill>
            <a:prstDash val="dash"/>
          </a:ln>
        </p:spPr>
      </p:sp>
      <p:sp>
        <p:nvSpPr>
          <p:cNvPr id="64" name="TextBox 26">
            <a:extLst>
              <a:ext uri="{FF2B5EF4-FFF2-40B4-BE49-F238E27FC236}">
                <a16:creationId xmlns:a16="http://schemas.microsoft.com/office/drawing/2014/main" id="{E5AE6F82-05AA-B04E-C75F-CA3C43F00AB1}"/>
              </a:ext>
            </a:extLst>
          </p:cNvPr>
          <p:cNvSpPr>
            <a:spLocks noGrp="1"/>
          </p:cNvSpPr>
          <p:nvPr/>
        </p:nvSpPr>
        <p:spPr>
          <a:xfrm>
            <a:off x="4795744" y="2671941"/>
            <a:ext cx="3851900" cy="5791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anchor="ctr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Рис. 7 – Валидация на кадрах экспериментального принтера, порог 0,3</a:t>
            </a:r>
          </a:p>
          <a:p>
            <a: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endParaRPr lang="ru-RU" sz="1600" b="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5" name="Рамка метрик">
            <a:extLst>
              <a:ext uri="{FF2B5EF4-FFF2-40B4-BE49-F238E27FC236}">
                <a16:creationId xmlns:a16="http://schemas.microsoft.com/office/drawing/2014/main" id="{81E619AA-4943-44FB-0E86-CF47A228BA29}"/>
              </a:ext>
            </a:extLst>
          </p:cNvPr>
          <p:cNvSpPr>
            <a:spLocks noGrp="1"/>
          </p:cNvSpPr>
          <p:nvPr/>
        </p:nvSpPr>
        <p:spPr>
          <a:xfrm>
            <a:off x="4424714" y="736651"/>
            <a:ext cx="4531568" cy="2458908"/>
          </a:xfrm>
          <a:prstGeom prst="rect">
            <a:avLst/>
          </a:prstGeom>
          <a:noFill/>
          <a:ln w="9525">
            <a:solidFill>
              <a:srgbClr val="000000"/>
            </a:solidFill>
            <a:prstDash val="dash"/>
          </a:ln>
        </p:spPr>
      </p:sp>
      <p:sp>
        <p:nvSpPr>
          <p:cNvPr id="94" name="TextBox 26">
            <a:extLst>
              <a:ext uri="{FF2B5EF4-FFF2-40B4-BE49-F238E27FC236}">
                <a16:creationId xmlns:a16="http://schemas.microsoft.com/office/drawing/2014/main" id="{08969695-7810-A572-C74A-2570DA82B13E}"/>
              </a:ext>
            </a:extLst>
          </p:cNvPr>
          <p:cNvSpPr>
            <a:spLocks noGrp="1"/>
          </p:cNvSpPr>
          <p:nvPr/>
        </p:nvSpPr>
        <p:spPr>
          <a:xfrm>
            <a:off x="2259358" y="6084814"/>
            <a:ext cx="4625283" cy="5791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anchor="ctr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Рис. 8 – Сравнение показателей на разных эпохах </a:t>
            </a:r>
          </a:p>
        </p:txBody>
      </p:sp>
      <p:sp>
        <p:nvSpPr>
          <p:cNvPr id="99" name="TextBox 26">
            <a:extLst>
              <a:ext uri="{FF2B5EF4-FFF2-40B4-BE49-F238E27FC236}">
                <a16:creationId xmlns:a16="http://schemas.microsoft.com/office/drawing/2014/main" id="{BFF1BAB3-0354-BB3B-6204-3E1F7FC84E8E}"/>
              </a:ext>
            </a:extLst>
          </p:cNvPr>
          <p:cNvSpPr>
            <a:spLocks noGrp="1"/>
          </p:cNvSpPr>
          <p:nvPr/>
        </p:nvSpPr>
        <p:spPr>
          <a:xfrm>
            <a:off x="496356" y="2641653"/>
            <a:ext cx="3597112" cy="5791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anchor="ctr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Рис. 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6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 –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График полноты обнаружения</a:t>
            </a:r>
            <a:endParaRPr sz="1600" b="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graphicFrame>
        <p:nvGraphicFramePr>
          <p:cNvPr id="100" name="Chart">
            <a:extLst>
              <a:ext uri="{FF2B5EF4-FFF2-40B4-BE49-F238E27FC236}">
                <a16:creationId xmlns:a16="http://schemas.microsoft.com/office/drawing/2014/main" id="{5225F5A0-B3D3-997B-4F72-3F9DE4E2736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77692867"/>
              </p:ext>
            </p:extLst>
          </p:nvPr>
        </p:nvGraphicFramePr>
        <p:xfrm>
          <a:off x="301232" y="763036"/>
          <a:ext cx="3970060" cy="20809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1143416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A4193-2A96-4292-27DF-7C8F10ED5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1B51DD-8424-3898-F322-045B44C92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9098"/>
            <a:ext cx="7886700" cy="712868"/>
          </a:xfrm>
        </p:spPr>
        <p:txBody>
          <a:bodyPr>
            <a:normAutofit/>
          </a:bodyPr>
          <a:lstStyle/>
          <a:p>
            <a:pPr algn="ctr"/>
            <a:r>
              <a:rPr lang="ru-RU" sz="4000" dirty="0">
                <a:latin typeface="Times New Roman"/>
                <a:ea typeface="Calibri"/>
                <a:cs typeface="Times New Roman"/>
              </a:rPr>
              <a:t>Обработка на сервере</a:t>
            </a:r>
          </a:p>
        </p:txBody>
      </p:sp>
      <p:sp>
        <p:nvSpPr>
          <p:cNvPr id="4" name="Текстовое поле 3">
            <a:extLst>
              <a:ext uri="{FF2B5EF4-FFF2-40B4-BE49-F238E27FC236}">
                <a16:creationId xmlns:a16="http://schemas.microsoft.com/office/drawing/2014/main" id="{5E8559DA-50BE-07AC-B0EB-3414FBFB6481}"/>
              </a:ext>
            </a:extLst>
          </p:cNvPr>
          <p:cNvSpPr txBox="1"/>
          <p:nvPr/>
        </p:nvSpPr>
        <p:spPr>
          <a:xfrm>
            <a:off x="3775710" y="564070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altLang="en-US" dirty="0"/>
          </a:p>
        </p:txBody>
      </p:sp>
      <p:sp>
        <p:nvSpPr>
          <p:cNvPr id="5" name="Замещающий номер слайда 4">
            <a:extLst>
              <a:ext uri="{FF2B5EF4-FFF2-40B4-BE49-F238E27FC236}">
                <a16:creationId xmlns:a16="http://schemas.microsoft.com/office/drawing/2014/main" id="{28EFF76E-32CA-AB56-A1FE-FC86064D6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8886" y="6493511"/>
            <a:ext cx="2057400" cy="365125"/>
          </a:xfrm>
        </p:spPr>
        <p:txBody>
          <a:bodyPr/>
          <a:lstStyle/>
          <a:p>
            <a:fld id="{D6ED8A53-8D2F-4011-BE06-EDB0774336BA}" type="slidenum">
              <a:rPr lang="ru-RU" sz="2000" dirty="0" smtClean="0">
                <a:solidFill>
                  <a:schemeClr val="tx1"/>
                </a:solidFill>
                <a:latin typeface="Times New Roman"/>
                <a:cs typeface="Times New Roman"/>
              </a:rPr>
              <a:t>7</a:t>
            </a:fld>
            <a:endParaRPr lang="ru-RU" sz="2000" dirty="0">
              <a:solidFill>
                <a:schemeClr val="tx1"/>
              </a:solidFill>
              <a:latin typeface="Times New Roman"/>
              <a:ea typeface="Calibri"/>
              <a:cs typeface="Times New Roman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DAB50E-3BD8-57A2-B047-497A3FD50648}"/>
              </a:ext>
            </a:extLst>
          </p:cNvPr>
          <p:cNvSpPr txBox="1"/>
          <p:nvPr/>
        </p:nvSpPr>
        <p:spPr>
          <a:xfrm>
            <a:off x="186213" y="875407"/>
            <a:ext cx="2920514" cy="1477328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dirty="0">
                <a:latin typeface="Times New Roman"/>
                <a:ea typeface="+mn-lt"/>
                <a:cs typeface="+mn-lt"/>
              </a:rPr>
              <a:t>Роль сервера:</a:t>
            </a:r>
            <a:endParaRPr lang="ru-RU" dirty="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ru-RU" b="1" dirty="0">
                <a:latin typeface="Times New Roman"/>
                <a:ea typeface="+mn-lt"/>
                <a:cs typeface="+mn-lt"/>
              </a:rPr>
              <a:t>Централизованная </a:t>
            </a:r>
            <a:r>
              <a:rPr lang="ru-RU" dirty="0">
                <a:latin typeface="Times New Roman"/>
                <a:ea typeface="+mn-lt"/>
                <a:cs typeface="+mn-lt"/>
              </a:rPr>
              <a:t>обработка запросов.</a:t>
            </a:r>
            <a:endParaRPr lang="ru-RU" dirty="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ru-RU" dirty="0">
                <a:latin typeface="Times New Roman"/>
                <a:ea typeface="+mn-lt"/>
                <a:cs typeface="+mn-lt"/>
              </a:rPr>
              <a:t>Выполнение </a:t>
            </a:r>
            <a:r>
              <a:rPr lang="ru-RU" b="1" dirty="0">
                <a:latin typeface="Times New Roman"/>
                <a:ea typeface="+mn-lt"/>
                <a:cs typeface="+mn-lt"/>
              </a:rPr>
              <a:t>ресурсоёмких </a:t>
            </a:r>
            <a:r>
              <a:rPr lang="ru-RU" dirty="0">
                <a:latin typeface="Times New Roman"/>
                <a:ea typeface="+mn-lt"/>
                <a:cs typeface="+mn-lt"/>
              </a:rPr>
              <a:t>задач.</a:t>
            </a:r>
            <a:endParaRPr lang="ru-RU" dirty="0">
              <a:latin typeface="Times New Roman"/>
              <a:cs typeface="Times New Roman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A035444-9EBE-0F23-C21B-B713FDEC75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02968" y="875407"/>
            <a:ext cx="5639137" cy="509357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77D804C-EAD2-5379-2030-7517770A46AB}"/>
              </a:ext>
            </a:extLst>
          </p:cNvPr>
          <p:cNvSpPr txBox="1"/>
          <p:nvPr/>
        </p:nvSpPr>
        <p:spPr>
          <a:xfrm>
            <a:off x="186213" y="2593566"/>
            <a:ext cx="2920514" cy="3416320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Сервер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получает кадр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 камеры и идентификаторы сессии. Затем кадр анализируется нейросетью, которая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определяет наличие «спагетти»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Сервер возвращает признак дефекта и числовую оценку модели вместе с исходными идентификаторами, связывающими результат с конкретным кадром</a:t>
            </a:r>
          </a:p>
        </p:txBody>
      </p:sp>
      <p:sp>
        <p:nvSpPr>
          <p:cNvPr id="3" name="TextBox 26">
            <a:extLst>
              <a:ext uri="{FF2B5EF4-FFF2-40B4-BE49-F238E27FC236}">
                <a16:creationId xmlns:a16="http://schemas.microsoft.com/office/drawing/2014/main" id="{B2494F24-8111-2CAC-A358-3AE7239D4D1C}"/>
              </a:ext>
            </a:extLst>
          </p:cNvPr>
          <p:cNvSpPr>
            <a:spLocks noGrp="1"/>
          </p:cNvSpPr>
          <p:nvPr/>
        </p:nvSpPr>
        <p:spPr>
          <a:xfrm>
            <a:off x="4085971" y="6009005"/>
            <a:ext cx="4073130" cy="5791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anchor="ctr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Рис. 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9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 –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Блок-схема серверной обработки кадров и определения дефектов FDM-печати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657255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A4193-2A96-4292-27DF-7C8F10ED5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1B51DD-8424-3898-F322-045B44C92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9098"/>
            <a:ext cx="7886700" cy="712868"/>
          </a:xfrm>
        </p:spPr>
        <p:txBody>
          <a:bodyPr>
            <a:normAutofit/>
          </a:bodyPr>
          <a:lstStyle/>
          <a:p>
            <a:pPr algn="ctr"/>
            <a:r>
              <a:rPr lang="ru-RU" sz="4000" dirty="0">
                <a:latin typeface="Times New Roman"/>
                <a:ea typeface="Calibri"/>
                <a:cs typeface="Times New Roman"/>
              </a:rPr>
              <a:t>Обработка на принтере</a:t>
            </a:r>
          </a:p>
        </p:txBody>
      </p:sp>
      <p:sp>
        <p:nvSpPr>
          <p:cNvPr id="4" name="Текстовое поле 3">
            <a:extLst>
              <a:ext uri="{FF2B5EF4-FFF2-40B4-BE49-F238E27FC236}">
                <a16:creationId xmlns:a16="http://schemas.microsoft.com/office/drawing/2014/main" id="{5E8559DA-50BE-07AC-B0EB-3414FBFB6481}"/>
              </a:ext>
            </a:extLst>
          </p:cNvPr>
          <p:cNvSpPr txBox="1"/>
          <p:nvPr/>
        </p:nvSpPr>
        <p:spPr>
          <a:xfrm>
            <a:off x="3775710" y="564070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altLang="en-US" dirty="0"/>
          </a:p>
        </p:txBody>
      </p:sp>
      <p:sp>
        <p:nvSpPr>
          <p:cNvPr id="5" name="Замещающий номер слайда 4">
            <a:extLst>
              <a:ext uri="{FF2B5EF4-FFF2-40B4-BE49-F238E27FC236}">
                <a16:creationId xmlns:a16="http://schemas.microsoft.com/office/drawing/2014/main" id="{28EFF76E-32CA-AB56-A1FE-FC86064D6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8886" y="6493511"/>
            <a:ext cx="2057400" cy="365125"/>
          </a:xfrm>
        </p:spPr>
        <p:txBody>
          <a:bodyPr/>
          <a:lstStyle/>
          <a:p>
            <a:fld id="{D6ED8A53-8D2F-4011-BE06-EDB0774336BA}" type="slidenum">
              <a:rPr lang="ru-RU" sz="2000" dirty="0" smtClean="0">
                <a:solidFill>
                  <a:schemeClr val="tx1"/>
                </a:solidFill>
                <a:latin typeface="Times New Roman"/>
                <a:cs typeface="Times New Roman"/>
              </a:rPr>
              <a:t>8</a:t>
            </a:fld>
            <a:endParaRPr lang="ru-RU" sz="2000" dirty="0">
              <a:solidFill>
                <a:schemeClr val="tx1"/>
              </a:solidFill>
              <a:latin typeface="Times New Roman"/>
              <a:ea typeface="Calibri"/>
              <a:cs typeface="Times New Roman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A035444-9EBE-0F23-C21B-B713FDEC75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06727" y="875407"/>
            <a:ext cx="5905217" cy="529535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77D804C-EAD2-5379-2030-7517770A46AB}"/>
              </a:ext>
            </a:extLst>
          </p:cNvPr>
          <p:cNvSpPr txBox="1"/>
          <p:nvPr/>
        </p:nvSpPr>
        <p:spPr>
          <a:xfrm>
            <a:off x="132056" y="1152406"/>
            <a:ext cx="2917990" cy="4801314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Локальный модуль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проверяет принадлежность результата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текущей печатной сессии и учитывает последовательные срабатывания. Отрицательный или неопределённый результат сбрасывает счётчик.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После трёх последовательных обнаружений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«спагетти» повторно проверяется активность сессии и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формируется команда отмены печати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" name="TextBox 26">
            <a:extLst>
              <a:ext uri="{FF2B5EF4-FFF2-40B4-BE49-F238E27FC236}">
                <a16:creationId xmlns:a16="http://schemas.microsoft.com/office/drawing/2014/main" id="{E5B04886-22A1-2CCD-9C65-F1ADEC0EB19F}"/>
              </a:ext>
            </a:extLst>
          </p:cNvPr>
          <p:cNvSpPr>
            <a:spLocks noGrp="1"/>
          </p:cNvSpPr>
          <p:nvPr/>
        </p:nvSpPr>
        <p:spPr>
          <a:xfrm>
            <a:off x="3723995" y="6170765"/>
            <a:ext cx="4670679" cy="5791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anchor="ctr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Рис. 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10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 – 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Блок-схема проверки результатов обнаружения дефекта и отмены FDM-печати</a:t>
            </a:r>
            <a:endParaRPr sz="1600" b="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663945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A4193-2A96-4292-27DF-7C8F10ED5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1B51DD-8424-3898-F322-045B44C92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64546"/>
            <a:ext cx="9144000" cy="712868"/>
          </a:xfrm>
        </p:spPr>
        <p:txBody>
          <a:bodyPr>
            <a:normAutofit/>
          </a:bodyPr>
          <a:lstStyle/>
          <a:p>
            <a:pPr algn="ctr"/>
            <a:r>
              <a:rPr lang="ru-RU" sz="3200" dirty="0">
                <a:latin typeface="Times New Roman"/>
                <a:ea typeface="Calibri"/>
                <a:cs typeface="Times New Roman"/>
              </a:rPr>
              <a:t>Схема коммутации компонентов 3</a:t>
            </a:r>
            <a:r>
              <a:rPr lang="en-US" sz="3200" dirty="0">
                <a:latin typeface="Times New Roman"/>
                <a:ea typeface="Calibri"/>
                <a:cs typeface="Times New Roman"/>
              </a:rPr>
              <a:t>D-</a:t>
            </a:r>
            <a:r>
              <a:rPr lang="ru-RU" sz="3200" dirty="0">
                <a:latin typeface="Times New Roman"/>
                <a:ea typeface="Calibri"/>
                <a:cs typeface="Times New Roman"/>
              </a:rPr>
              <a:t>принтера</a:t>
            </a:r>
          </a:p>
        </p:txBody>
      </p:sp>
      <p:sp>
        <p:nvSpPr>
          <p:cNvPr id="4" name="Текстовое поле 3">
            <a:extLst>
              <a:ext uri="{FF2B5EF4-FFF2-40B4-BE49-F238E27FC236}">
                <a16:creationId xmlns:a16="http://schemas.microsoft.com/office/drawing/2014/main" id="{5E8559DA-50BE-07AC-B0EB-3414FBFB6481}"/>
              </a:ext>
            </a:extLst>
          </p:cNvPr>
          <p:cNvSpPr txBox="1"/>
          <p:nvPr/>
        </p:nvSpPr>
        <p:spPr>
          <a:xfrm>
            <a:off x="3775710" y="564070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altLang="en-US" dirty="0"/>
          </a:p>
        </p:txBody>
      </p:sp>
      <p:sp>
        <p:nvSpPr>
          <p:cNvPr id="5" name="Замещающий номер слайда 4">
            <a:extLst>
              <a:ext uri="{FF2B5EF4-FFF2-40B4-BE49-F238E27FC236}">
                <a16:creationId xmlns:a16="http://schemas.microsoft.com/office/drawing/2014/main" id="{28EFF76E-32CA-AB56-A1FE-FC86064D6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8886" y="6493511"/>
            <a:ext cx="2057400" cy="365125"/>
          </a:xfrm>
        </p:spPr>
        <p:txBody>
          <a:bodyPr/>
          <a:lstStyle/>
          <a:p>
            <a:fld id="{D6ED8A53-8D2F-4011-BE06-EDB0774336BA}" type="slidenum">
              <a:rPr lang="ru-RU" sz="2000" dirty="0" smtClean="0">
                <a:solidFill>
                  <a:schemeClr val="tx1"/>
                </a:solidFill>
                <a:latin typeface="Times New Roman"/>
                <a:cs typeface="Times New Roman"/>
              </a:rPr>
              <a:t>9</a:t>
            </a:fld>
            <a:endParaRPr lang="ru-RU" sz="2000" dirty="0">
              <a:solidFill>
                <a:schemeClr val="tx1"/>
              </a:solidFill>
              <a:latin typeface="Times New Roman"/>
              <a:ea typeface="Calibri"/>
              <a:cs typeface="Times New Roman"/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4E875F94-D2E7-0E2D-5267-8B670B1C8A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1681" y="603944"/>
            <a:ext cx="8440637" cy="370864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71BDEBA-A42A-8680-F3A2-087C760E6CFE}"/>
              </a:ext>
            </a:extLst>
          </p:cNvPr>
          <p:cNvSpPr txBox="1"/>
          <p:nvPr/>
        </p:nvSpPr>
        <p:spPr>
          <a:xfrm>
            <a:off x="254001" y="4734036"/>
            <a:ext cx="8487517" cy="2031325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электрической части разрабатываемого 3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D-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принтера выбрана плата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MKS Robin Nano V1.2 (7)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драйверы TMC2209. Плата управляет двигателями (5), нагревателями (1, 2) и вентиляторами, а также получает сигналы с датчиков (6).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Raspberry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3B (10)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обеспечивает подключение камеры (9), сенсорного экрана (8) и обменивается данными с управляющей платой по UART. Блок питания (3) обеспечивает силовые узлы напряжением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 В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а DC-DC-преобразователь (4) понижает его до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 В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для Raspberry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подключённой периферии.</a:t>
            </a:r>
          </a:p>
        </p:txBody>
      </p:sp>
      <p:sp>
        <p:nvSpPr>
          <p:cNvPr id="16" name="TextBox 26">
            <a:extLst>
              <a:ext uri="{FF2B5EF4-FFF2-40B4-BE49-F238E27FC236}">
                <a16:creationId xmlns:a16="http://schemas.microsoft.com/office/drawing/2014/main" id="{6C4BDD25-6E44-8F04-93A8-3BDF96080B11}"/>
              </a:ext>
            </a:extLst>
          </p:cNvPr>
          <p:cNvSpPr>
            <a:spLocks noGrp="1"/>
          </p:cNvSpPr>
          <p:nvPr/>
        </p:nvSpPr>
        <p:spPr>
          <a:xfrm>
            <a:off x="1313146" y="4181848"/>
            <a:ext cx="6517706" cy="5791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anchor="ctr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Рис. </a:t>
            </a:r>
            <a:r>
              <a:rPr lang="ru-RU" sz="1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11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 – Схема электрической коммутации компонентов 3D-принтера </a:t>
            </a:r>
          </a:p>
        </p:txBody>
      </p:sp>
    </p:spTree>
    <p:extLst>
      <p:ext uri="{BB962C8B-B14F-4D97-AF65-F5344CB8AC3E}">
        <p14:creationId xmlns:p14="http://schemas.microsoft.com/office/powerpoint/2010/main" val="1283765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A4193-2A96-4292-27DF-7C8F10ED5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1B51DD-8424-3898-F322-045B44C92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-64546"/>
            <a:ext cx="7886700" cy="712868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>
                <a:latin typeface="Times New Roman"/>
                <a:ea typeface="Calibri"/>
                <a:cs typeface="Times New Roman"/>
              </a:rPr>
              <a:t>Тестирование на реальной печати</a:t>
            </a:r>
          </a:p>
        </p:txBody>
      </p:sp>
      <p:sp>
        <p:nvSpPr>
          <p:cNvPr id="4" name="Текстовое поле 3">
            <a:extLst>
              <a:ext uri="{FF2B5EF4-FFF2-40B4-BE49-F238E27FC236}">
                <a16:creationId xmlns:a16="http://schemas.microsoft.com/office/drawing/2014/main" id="{5E8559DA-50BE-07AC-B0EB-3414FBFB6481}"/>
              </a:ext>
            </a:extLst>
          </p:cNvPr>
          <p:cNvSpPr txBox="1"/>
          <p:nvPr/>
        </p:nvSpPr>
        <p:spPr>
          <a:xfrm>
            <a:off x="3775710" y="564070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altLang="en-US" dirty="0"/>
          </a:p>
        </p:txBody>
      </p:sp>
      <p:sp>
        <p:nvSpPr>
          <p:cNvPr id="5" name="Замещающий номер слайда 4">
            <a:extLst>
              <a:ext uri="{FF2B5EF4-FFF2-40B4-BE49-F238E27FC236}">
                <a16:creationId xmlns:a16="http://schemas.microsoft.com/office/drawing/2014/main" id="{28EFF76E-32CA-AB56-A1FE-FC86064D6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8886" y="6493511"/>
            <a:ext cx="2057400" cy="365125"/>
          </a:xfrm>
        </p:spPr>
        <p:txBody>
          <a:bodyPr/>
          <a:lstStyle/>
          <a:p>
            <a:fld id="{D6ED8A53-8D2F-4011-BE06-EDB0774336BA}" type="slidenum">
              <a:rPr lang="ru-RU" sz="2000" dirty="0" smtClean="0">
                <a:solidFill>
                  <a:schemeClr val="tx1"/>
                </a:solidFill>
                <a:latin typeface="Times New Roman"/>
                <a:cs typeface="Times New Roman"/>
              </a:rPr>
              <a:t>10</a:t>
            </a:fld>
            <a:endParaRPr lang="ru-RU" sz="2000" dirty="0">
              <a:solidFill>
                <a:schemeClr val="tx1"/>
              </a:solidFill>
              <a:latin typeface="Times New Roman"/>
              <a:ea typeface="Calibri"/>
              <a:cs typeface="Times New Roman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71BDEBA-A42A-8680-F3A2-087C760E6CFE}"/>
              </a:ext>
            </a:extLst>
          </p:cNvPr>
          <p:cNvSpPr txBox="1"/>
          <p:nvPr/>
        </p:nvSpPr>
        <p:spPr>
          <a:xfrm>
            <a:off x="203200" y="4078032"/>
            <a:ext cx="3882390" cy="2585323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процессе печати после запуска контролируемого сбоя модель постепенно увеличивала оценку обнаружения «спагетти». 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Через 3 мин 21 с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система контроля получила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уверенных последовательных обнаружения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принтер отменил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задание с выводом соответствующей ошибки.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265B33C-B5D3-98C3-9211-F88247D6644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750" t="10273" r="32713" b="28766"/>
          <a:stretch/>
        </p:blipFill>
        <p:spPr>
          <a:xfrm>
            <a:off x="4572000" y="678623"/>
            <a:ext cx="4073130" cy="2608849"/>
          </a:xfrm>
          <a:prstGeom prst="rect">
            <a:avLst/>
          </a:prstGeom>
        </p:spPr>
      </p:pic>
      <p:sp>
        <p:nvSpPr>
          <p:cNvPr id="10" name="TextBox 26">
            <a:extLst>
              <a:ext uri="{FF2B5EF4-FFF2-40B4-BE49-F238E27FC236}">
                <a16:creationId xmlns:a16="http://schemas.microsoft.com/office/drawing/2014/main" id="{B3EABF96-386D-700B-07FB-75E0CD46DA63}"/>
              </a:ext>
            </a:extLst>
          </p:cNvPr>
          <p:cNvSpPr>
            <a:spLocks noGrp="1"/>
          </p:cNvSpPr>
          <p:nvPr/>
        </p:nvSpPr>
        <p:spPr>
          <a:xfrm>
            <a:off x="4572000" y="3280969"/>
            <a:ext cx="4073130" cy="5791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anchor="ctr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Рис. 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12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 –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Кадр с камеры </a:t>
            </a:r>
            <a:r>
              <a:rPr lang="en-US" sz="1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3D-</a:t>
            </a:r>
            <a:r>
              <a:rPr lang="ru-RU" sz="1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принтера с дефектом типа  «спагетти»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</a:p>
        </p:txBody>
      </p:sp>
      <p:graphicFrame>
        <p:nvGraphicFramePr>
          <p:cNvPr id="11" name="Таблица 10">
            <a:extLst>
              <a:ext uri="{FF2B5EF4-FFF2-40B4-BE49-F238E27FC236}">
                <a16:creationId xmlns:a16="http://schemas.microsoft.com/office/drawing/2014/main" id="{BDAA191B-FE24-F716-CFE2-146C9DF24C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232626"/>
              </p:ext>
            </p:extLst>
          </p:nvPr>
        </p:nvGraphicFramePr>
        <p:xfrm>
          <a:off x="203200" y="678623"/>
          <a:ext cx="3882390" cy="3194144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2159000">
                  <a:extLst>
                    <a:ext uri="{9D8B030D-6E8A-4147-A177-3AD203B41FA5}">
                      <a16:colId xmlns:a16="http://schemas.microsoft.com/office/drawing/2014/main" val="665109338"/>
                    </a:ext>
                  </a:extLst>
                </a:gridCol>
                <a:gridCol w="1723390">
                  <a:extLst>
                    <a:ext uri="{9D8B030D-6E8A-4147-A177-3AD203B41FA5}">
                      <a16:colId xmlns:a16="http://schemas.microsoft.com/office/drawing/2014/main" val="3225751743"/>
                    </a:ext>
                  </a:extLst>
                </a:gridCol>
              </a:tblGrid>
              <a:tr h="412304"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Показатель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Результат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6950191"/>
                  </a:ext>
                </a:extLst>
              </a:tr>
              <a:tr h="914976"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Время от появления дефекта до отмены задания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 минуты 21 секунда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6288437"/>
                  </a:ext>
                </a:extLst>
              </a:tr>
              <a:tr h="412304"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Порог автоматической отмены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043534"/>
                  </a:ext>
                </a:extLst>
              </a:tr>
              <a:tr h="643872"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Минимальная отображённая оценка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0,3655, в начале записи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4774038"/>
                  </a:ext>
                </a:extLst>
              </a:tr>
              <a:tr h="643872"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Максимальная отображённая оценка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0,9918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2670564"/>
                  </a:ext>
                </a:extLst>
              </a:tr>
            </a:tbl>
          </a:graphicData>
        </a:graphic>
      </p:graphicFrame>
      <p:sp>
        <p:nvSpPr>
          <p:cNvPr id="12" name="TextBox 26">
            <a:extLst>
              <a:ext uri="{FF2B5EF4-FFF2-40B4-BE49-F238E27FC236}">
                <a16:creationId xmlns:a16="http://schemas.microsoft.com/office/drawing/2014/main" id="{0F1BE2F2-80C9-8159-C3BF-933349087573}"/>
              </a:ext>
            </a:extLst>
          </p:cNvPr>
          <p:cNvSpPr>
            <a:spLocks noGrp="1"/>
          </p:cNvSpPr>
          <p:nvPr/>
        </p:nvSpPr>
        <p:spPr>
          <a:xfrm>
            <a:off x="4815206" y="6150348"/>
            <a:ext cx="3586718" cy="5791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anchor="ctr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Рис. </a:t>
            </a:r>
            <a:r>
              <a:rPr lang="ru-RU" sz="1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13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 –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Кадр с камеры </a:t>
            </a:r>
            <a:r>
              <a:rPr lang="en-US" sz="1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3D-</a:t>
            </a:r>
            <a:r>
              <a:rPr lang="ru-RU" sz="1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принтера с примером обнаружения детали</a:t>
            </a:r>
            <a:endParaRPr sz="1600" b="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ED4B603F-73F4-5404-D6AD-383F980E872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68" t="12057" r="32186" b="15292"/>
          <a:stretch/>
        </p:blipFill>
        <p:spPr>
          <a:xfrm>
            <a:off x="5078978" y="4078032"/>
            <a:ext cx="3059174" cy="2095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79853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7088886" y="6493511"/>
            <a:ext cx="2057400" cy="365125"/>
          </a:xfrm>
        </p:spPr>
        <p:txBody>
          <a:bodyPr/>
          <a:lstStyle/>
          <a:p>
            <a:fld id="{D6ED8A53-8D2F-4011-BE06-EDB0774336BA}" type="slidenum">
              <a:rPr lang="ru-RU" sz="2000" dirty="0" smtClean="0">
                <a:solidFill>
                  <a:schemeClr val="tx1"/>
                </a:solidFill>
                <a:latin typeface="Times New Roman"/>
                <a:cs typeface="Times New Roman"/>
              </a:rPr>
              <a:t>11</a:t>
            </a:fld>
            <a:endParaRPr lang="ru-RU" sz="200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A5D6DF51-0B62-79A6-6D5B-9EBEFC4103B7}"/>
              </a:ext>
            </a:extLst>
          </p:cNvPr>
          <p:cNvSpPr txBox="1">
            <a:spLocks/>
          </p:cNvSpPr>
          <p:nvPr/>
        </p:nvSpPr>
        <p:spPr>
          <a:xfrm>
            <a:off x="628650" y="-119101"/>
            <a:ext cx="7886700" cy="7128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dirty="0">
                <a:latin typeface="Times New Roman"/>
                <a:ea typeface="Calibri"/>
                <a:cs typeface="Times New Roman"/>
              </a:rPr>
              <a:t>Заключение</a:t>
            </a:r>
            <a:endParaRPr lang="ru-RU" dirty="0">
              <a:ea typeface="Calibri Light"/>
              <a:cs typeface="Calibri Ligh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A745B6-9925-7D13-0340-836B72392105}"/>
              </a:ext>
            </a:extLst>
          </p:cNvPr>
          <p:cNvSpPr txBox="1"/>
          <p:nvPr/>
        </p:nvSpPr>
        <p:spPr>
          <a:xfrm>
            <a:off x="103092" y="466061"/>
            <a:ext cx="8937811" cy="29367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ct val="100000"/>
              </a:lnSpc>
              <a:spcAft>
                <a:spcPts val="500"/>
              </a:spcAft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и задачи моей научно-исследовательской работы выполнены:</a:t>
            </a:r>
            <a:endParaRPr lang="ru-RU" sz="20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00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ru-RU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Изучены дефекты FDM-печати и выбран целевой дефект для автоматического обнаружения.</a:t>
            </a:r>
          </a:p>
          <a:p>
            <a:pPr marL="285750" indent="-285750">
              <a:lnSpc>
                <a:spcPct val="100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ru-RU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Сформирован датасет: произведен поиск данных, балансировка классов, </a:t>
            </a:r>
            <a:r>
              <a:rPr lang="ru-RU" sz="1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аугментирование</a:t>
            </a:r>
            <a:r>
              <a:rPr lang="ru-RU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разделение на обучающую, </a:t>
            </a:r>
            <a:r>
              <a:rPr lang="ru-RU" sz="1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валидационную</a:t>
            </a:r>
            <a:r>
              <a:rPr lang="ru-RU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и тестовую выборки.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Обучена нейронная сеть для распознавания дефекта «спагетти».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Разработан, собран и отлажен аппаратно-программный комплекс экспериментального 3D-принтера.</a:t>
            </a:r>
            <a:endParaRPr lang="ru-RU" sz="1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00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Проведено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первичное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испытание системы контроля с автоматической отменой печати.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0BEF9C5-E516-9FE2-D6F1-C80A8C372783}"/>
              </a:ext>
            </a:extLst>
          </p:cNvPr>
          <p:cNvSpPr txBox="1"/>
          <p:nvPr/>
        </p:nvSpPr>
        <p:spPr>
          <a:xfrm>
            <a:off x="103093" y="3486016"/>
            <a:ext cx="8937810" cy="22544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ct val="100000"/>
              </a:lnSpc>
              <a:spcAft>
                <a:spcPts val="500"/>
              </a:spcAft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Выявленные проблемы и направления дальнейшей работы:</a:t>
            </a:r>
          </a:p>
          <a:p>
            <a:pPr marL="285750" indent="-285750">
              <a:lnSpc>
                <a:spcPct val="100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Модуль обнаружения детали </a:t>
            </a:r>
            <a:r>
              <a:rPr lang="ru-RU" sz="1800" b="1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ошибочно</a:t>
            </a:r>
            <a:r>
              <a:rPr lang="ru-RU" sz="18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lang="ru-RU" sz="1800" b="1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распознаёт</a:t>
            </a:r>
            <a:r>
              <a:rPr lang="ru-RU" sz="18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lang="ru-RU" sz="1800" b="1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отражения</a:t>
            </a:r>
            <a:r>
              <a:rPr lang="ru-RU" sz="18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и </a:t>
            </a:r>
            <a:r>
              <a:rPr lang="ru-RU" sz="1800" b="1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посторонние</a:t>
            </a:r>
            <a:r>
              <a:rPr lang="ru-RU" sz="18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lang="ru-RU" sz="1800" b="1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объекты</a:t>
            </a:r>
            <a:r>
              <a:rPr lang="ru-RU" sz="18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на печатном столе.</a:t>
            </a:r>
          </a:p>
          <a:p>
            <a:pPr marL="285750" indent="-285750">
              <a:lnSpc>
                <a:spcPct val="100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Несмотря на 99,61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sz="18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% верных ответов на общем тесте, полнота обнаружения дефектов на кадрах экспериментального принтера составила 54,55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sz="18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% (6 из 11).</a:t>
            </a:r>
          </a:p>
          <a:p>
            <a:pPr marL="285750" indent="-285750">
              <a:lnSpc>
                <a:spcPct val="100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Время от появления дефекта до отмены </a:t>
            </a:r>
            <a:r>
              <a:rPr lang="ru-RU" sz="1800" dirty="0" err="1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печатипри</a:t>
            </a:r>
            <a:r>
              <a:rPr lang="ru-RU" sz="18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испытании составило 3 минуты 21 секунду.</a:t>
            </a:r>
            <a:endParaRPr lang="ru-RU" b="1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B6E200-5157-4C14-44D2-2A75FDF446A7}"/>
              </a:ext>
            </a:extLst>
          </p:cNvPr>
          <p:cNvSpPr txBox="1"/>
          <p:nvPr/>
        </p:nvSpPr>
        <p:spPr>
          <a:xfrm>
            <a:off x="692992" y="5740479"/>
            <a:ext cx="788623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lang="ru-RU" sz="1800" b="1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Дальнейшая работа: </a:t>
            </a:r>
            <a:r>
              <a:rPr lang="ru-RU" sz="18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расширение датасета, дообучение модели на новых изображениях, независимая проверка её качества и сокращение времени реакции системы.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1102</TotalTime>
  <Words>1314</Words>
  <Application>Microsoft Office PowerPoint</Application>
  <DocSecurity>0</DocSecurity>
  <PresentationFormat>Экран (4:3)</PresentationFormat>
  <Paragraphs>154</Paragraphs>
  <Slides>11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Times New Roman</vt:lpstr>
      <vt:lpstr>Тема Office</vt:lpstr>
      <vt:lpstr>Автоматическое выявление дефектов в процессе 3D-печати</vt:lpstr>
      <vt:lpstr>Цель работы</vt:lpstr>
      <vt:lpstr>В чем заключается проблема:</vt:lpstr>
      <vt:lpstr>Подготовка к обучению нейросети</vt:lpstr>
      <vt:lpstr>Презентация PowerPoint</vt:lpstr>
      <vt:lpstr>Презентация PowerPoint</vt:lpstr>
      <vt:lpstr>Обработка на сервере</vt:lpstr>
      <vt:lpstr>Обработка на принтере</vt:lpstr>
      <vt:lpstr>Схема коммутации компонентов 3D-принтера</vt:lpstr>
      <vt:lpstr>Тестирование на реальной печати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Yawllen</cp:lastModifiedBy>
  <cp:revision>57</cp:revision>
  <dcterms:created xsi:type="dcterms:W3CDTF">2026-10-07T12:47:26Z</dcterms:created>
  <dcterms:modified xsi:type="dcterms:W3CDTF">2026-10-09T08:59:02Z</dcterms:modified>
</cp:coreProperties>
</file>