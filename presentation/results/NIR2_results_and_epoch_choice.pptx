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Override PartName="/ppt/slide5_result/ppt/slides/charts/chart3.xml" ContentType="application/vnd.openxmlformats-officedocument.drawingml.chart+xml"/>
  <Override PartName="/ppt/slide5_result/ppt/slides/charts/chart4.xml" ContentType="application/vnd.openxmlformats-officedocument.drawingml.chart+xml"/>
  <Override PartName="/ppt/slide5_result/ppt/notesSlides/notesSlide2.xml" ContentType="application/vnd.openxmlformats-officedocument.presentationml.notesSlide+xml"/>
  <Override PartName="/ppt/slides/slide11.xml" ContentType="application/vnd.openxmlformats-officedocument.presentationml.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6" r:id="rIdChoiceSlide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theme" Target="theme/theme1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viewProps" Target="viewProps.xml" /><ns0:Relationship Id="rIdChoiceSlide" Type="http://schemas.openxmlformats.org/officeDocument/2006/relationships/slide" Target="slides/slide1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3a7c3919b4264c1a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eda77514e9fc4778" /><ns0:Relationship Type="http://schemas.openxmlformats.org/officeDocument/2006/relationships/notesMaster" Target="../notesMasters/notesMaster1.xml" Id="R7f17e1d7d25c4b68" /></ns0:Relationships>
</file>

<file path=ppt/slide5_result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1.xml" Id="Rd1240d5a3cce4728" /><ns0:Relationship Type="http://schemas.openxmlformats.org/officeDocument/2006/relationships/notesMaster" Target="../notesMasters/notesMaster1.xml" Id="R7368c8e5098c4beb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slide5_result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slide5_result/ppt/slides/charts/_rels/chart3.xml.rels><Relationships xmlns="http://schemas.openxmlformats.org/package/2006/relationships"><Relationship Id="rIdChartSnapshot1" Type="http://schemas.openxmlformats.org/officeDocument/2006/relationships/package" Target="../../../../embeddings/chart-data-snapshot-003.xlsx"/></Relationships>
</file>

<file path=ppt/slide5_result/ppt/slides/charts/_rels/chart4.xml.rels><Relationships xmlns="http://schemas.openxmlformats.org/package/2006/relationships"><Relationship Id="rIdChartSnapshot1" Type="http://schemas.openxmlformats.org/officeDocument/2006/relationships/package" Target="../../../../embeddings/chart-data-snapshot-004.xlsx"/></Relationships>
</file>

<file path=ppt/slide5_result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AP,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7C4BB1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7C4BB1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Полнота, %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467B2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27.272727</c:v>
                </c:pt>
                <c:pt idx="2">
                  <c:v>45.454545</c:v>
                </c:pt>
                <c:pt idx="3">
                  <c:v>36.363636</c:v>
                </c:pt>
                <c:pt idx="4">
                  <c:v>27.272727</c:v>
                </c:pt>
                <c:pt idx="5">
                  <c:v>27.272727</c:v>
                </c:pt>
                <c:pt idx="6">
                  <c:v>45.454545</c:v>
                </c:pt>
                <c:pt idx="7">
                  <c:v>45.454545</c:v>
                </c:pt>
                <c:pt idx="8">
                  <c:v>72.727273</c:v>
                </c:pt>
                <c:pt idx="9">
                  <c:v>45.454545</c:v>
                </c:pt>
                <c:pt idx="10">
                  <c:v>54.545455</c:v>
                </c:pt>
                <c:pt idx="11">
                  <c:v>45.454545</c:v>
                </c:pt>
                <c:pt idx="12">
                  <c:v>27.272727</c:v>
                </c:pt>
                <c:pt idx="13">
                  <c:v>36.363636</c:v>
                </c:pt>
                <c:pt idx="14">
                  <c:v>45.454545</c:v>
                </c:pt>
                <c:pt idx="15">
                  <c:v>45.454545</c:v>
                </c:pt>
                <c:pt idx="16">
                  <c:v>54.545455</c:v>
                </c:pt>
                <c:pt idx="17">
                  <c:v>54.545455</c:v>
                </c:pt>
                <c:pt idx="18">
                  <c:v>54.545455</c:v>
                </c:pt>
                <c:pt idx="19">
                  <c:v>54.545455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xmlns:a="http://schemas.openxmlformats.org/drawingml/2006/main"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A52B37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A52B37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0" %"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7.03125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v>Допустимый предел 1 %</c:v>
          </c:tx>
          <c:spPr>
            <a:ln xmlns:a="http://schemas.openxmlformats.org/drawingml/2006/main"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Ref>
              <c:f>'Chart Data'!$C$2:$C$21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Data'!$D$2:$D$21</c:f>
              <c:numCache>
                <c:formatCode>0" %"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3.xml" Id="rIdResult2" /><ns0:Relationship Type="http://schemas.openxmlformats.org/officeDocument/2006/relationships/chart" Target="../slide5_result/ppt/slides/charts/chart4.xml" Id="rIdResult3" /><ns0:Relationship Type="http://schemas.openxmlformats.org/officeDocument/2006/relationships/notesSlide" Target="../slide5_result/ppt/notesSlides/notesSlide2.xml" Id="rIdResult4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6" name="Заголовок">
            <a:extLst>
              <a:ext uri="{FF2B5EF4-FFF2-40B4-BE49-F238E27FC236}">
                <ns2:creationId id="{F3BF0935-F82F-4130-A5BC-AD8701FC7B29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7D971D9E-E7BD-4658-84F8-D631E9A404F6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 (BCE)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95C8B368-9926-49CD-85DD-2BE9ECD3E4A3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29AD4E80-20BD-4FC9-9258-E89E29F45463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73B30DD7-8DF1-46D2-8D0A-524DBA145DC3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22CE5827-0D9F-40F5-B4E1-53B4C15E9AAA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2ECA3111-1314-44C2-8F0A-104F507C6C1E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F4B6A1A5-47CB-4CE1-9659-F02BC9BB5AA5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A1BC6947-6A5E-4663-9E80-E6FFF5D7928C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A67D0D25-A097-4C4C-8847-240BF1E3B8D3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D6CB7E27-8733-4D7B-B4CD-6707E75C8E86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650B6BAC-D6F9-496B-8833-43F00C102DB8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85C87D95-47C0-4708-9E78-7FB93D0ED9AE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10EACB14-CFA2-44E8-A919-5555EB73047A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B73539A4-29BB-4E98-B4CD-070FD75E130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98D16DE5-1A0D-4D9F-8D4C-953F5A45350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B7D52C3A-A17A-42AF-B375-7C023EAB8A8E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D51DBC4C-67D8-47AF-8AB8-0D431A83C790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EAD4B571-5B40-4E13-8FFE-D359FCF0DCFB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46EF2B21-04DF-4FF6-88B1-763EBDA2951A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2A9A87EE-EFF2-404E-B53B-44747961D255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D4627E58-1D4E-4629-9C14-D7BDE90FF43C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1D19E265-F637-46FB-8BEA-B58C4460B8A9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19C0E582-E559-496C-BB6A-E0660EBBC9C4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F16D4C3E-67E8-4378-8A9F-48CD1D77C21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D95FE854-FC60-452E-861B-674940239702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06B87276-6AF3-431D-B473-037EDD215D91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2467B2"/>
            </a:solidFill>
            <a:prstDash val="dash"/>
          </a:ln>
        </p:spPr>
      </p:sp>
      <p:sp>
        <p:nvSpPr>
          <p:cNvPr id="28" name="Метрика Precision">
            <a:extLst>
              <a:ext uri="{FF2B5EF4-FFF2-40B4-BE49-F238E27FC236}">
                <ns2:creationId id="{2BA51DFA-996D-4E8C-9408-7AC6755FC993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Precision 98,71 %</a:t>
            </a:r>
            <a:r>
              <a:t> — верные срабатывания</a:t>
            </a:r>
          </a:p>
        </p:txBody>
      </p:sp>
      <p:sp>
        <p:nvSpPr>
          <p:cNvPr id="29" name="Метрика Recall">
            <a:extLst>
              <a:ext uri="{FF2B5EF4-FFF2-40B4-BE49-F238E27FC236}">
                <ns2:creationId id="{BF5E2D54-AB4F-4309-B140-4996988200D7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Recall 99,89 %</a:t>
            </a:r>
            <a:r>
              <a:t> — найденные дефекты</a:t>
            </a:r>
          </a:p>
        </p:txBody>
      </p:sp>
      <p:sp>
        <p:nvSpPr>
          <p:cNvPr id="30" name="Метрика F1">
            <a:extLst>
              <a:ext uri="{FF2B5EF4-FFF2-40B4-BE49-F238E27FC236}">
                <ns2:creationId id="{85A7D713-81DF-454B-8663-7C2CB2EC279A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F1 99,30 %</a:t>
            </a:r>
            <a:r>
              <a:t> — баланс Precision и Recall</a:t>
            </a:r>
          </a:p>
        </p:txBody>
      </p:sp>
      <p:sp>
        <p:nvSpPr>
          <p:cNvPr id="31" name="Метрика Accuracy">
            <a:extLst>
              <a:ext uri="{FF2B5EF4-FFF2-40B4-BE49-F238E27FC236}">
                <ns2:creationId id="{A90C58F8-D047-4ADD-B3FE-539479E09286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Accuracy 99,61 %</a:t>
            </a:r>
            <a:r>
              <a:t> — все верные ответы</a:t>
            </a:r>
          </a:p>
        </p:txBody>
      </p:sp>
      <p:sp>
        <p:nvSpPr>
          <p:cNvPr id="32" name="Метрика AP">
            <a:extLst>
              <a:ext uri="{FF2B5EF4-FFF2-40B4-BE49-F238E27FC236}">
                <ns2:creationId id="{4C4CABB1-F3C8-4A77-A2C5-320552D60BA3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AP 99,72 %</a:t>
            </a:r>
            <a:r>
              <a:t> — оценка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ns2:creationId id="{612253BB-7A6D-4A1D-ADFB-36F1170B050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ns2:creationId id="{8B8BE906-5DBA-42D8-844D-A63A9F96494C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Сеть дообучалась из ранее полученных весов: AP после первой эпохи уже 98,97 %. На тесте всего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ns2:creationId id="{675C9048-2A21-4527-BAE7-D5A8C902137D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61" name="Заголовок выбора">
            <a:extLst>
              <a:ext uri="{FF2B5EF4-FFF2-40B4-BE49-F238E27FC236}">
                <ns2:creationId id="{ADB76D8E-5EAE-42D2-853E-56EB5A1C0478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ns2:creationId id="{D0CF8511-45D6-48ED-8A85-8050DD18FA80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ns2:creationId id="{22128D44-52BD-4A08-A82E-1BD540E22759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ns2:creationId id="{95649AC7-6DCD-493E-8173-26110F2693C7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ns2:creationId id="{FE5CDD2A-AED6-485C-80E4-A98789F2E9C6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E6840687-DF53-4AEE-A520-2F4589D419E7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7" name="Chart">
            <a:extLst>
              <a:ext uri="{FF2B5EF4-FFF2-40B4-BE49-F238E27FC236}">
                <ns2:creationId id="{9548141C-FDB9-4D90-8D22-10338691C062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8" name="Предел">
            <a:extLst>
              <a:ext uri="{FF2B5EF4-FFF2-40B4-BE49-F238E27FC236}">
                <ns2:creationId id="{3BF6A295-F623-47CC-88C8-82579EF54C55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ns2:creationId id="{C2895E19-49DE-4071-957B-CACF363C0C5C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ns2:creationId id="{312C6DD7-5D7C-4D83-ABA5-7461CA9A84FA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ns2:creationId id="{3E05C1C8-A87B-41BE-8CCB-49AC20344849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ns2:creationId id="{2F40DBC1-5ECA-4008-9B84-478AC8217C20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ns2:creationId id="{C561588B-2748-4255-BD1E-6F1BF1EA1EC9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ns2:creationId id="{AB774DC2-D8C7-4B78-8582-20A055D217DE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ns2:creationId id="{5C9AFF5F-20CB-4DED-A150-740E7E7AE40B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ns2:creationId id="{5BA4654A-CA38-4CD7-93E7-3F1984135F2B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AP принтера, %</a:t>
            </a:r>
          </a:p>
        </p:txBody>
      </p:sp>
      <p:sp>
        <p:nvSpPr>
          <p:cNvPr id="17" name="Таблица 0 4">
            <a:extLst>
              <a:ext uri="{FF2B5EF4-FFF2-40B4-BE49-F238E27FC236}">
                <ns2:creationId id="{57679707-860B-463F-A8CF-C6F554DF5D10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ns2:creationId id="{96D16873-C135-4928-A3DA-E1399D81C124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ns2:creationId id="{7BD1C836-6770-4049-9F35-BB1853E8B748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ns2:creationId id="{34247128-64C3-4C66-91F5-99A10458EBC4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ns2:creationId id="{AA592E54-8D3A-4B67-9EEF-F7CFEA62E0BC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ns2:creationId id="{DBF47FBA-4FDF-4EA4-8AF9-71C7B7D9B179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ns2:creationId id="{694A9532-9017-4543-853C-4CF4AA90D873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ns2:creationId id="{0B35FBFF-79F8-4B56-976F-FD50DADA405A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ns2:creationId id="{A0BD0931-57E0-491C-82CC-442DE0F2D781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ns2:creationId id="{E3E17451-EC61-4B8F-B2B6-9172B2A0FE37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</a:t>
            </a:r>
          </a:p>
        </p:txBody>
      </p:sp>
      <p:sp>
        <p:nvSpPr>
          <p:cNvPr id="27" name="Таблица 1 4">
            <a:extLst>
              <a:ext uri="{FF2B5EF4-FFF2-40B4-BE49-F238E27FC236}">
                <ns2:creationId id="{CE08B490-4553-4242-A179-DD15A74A25BB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ns2:creationId id="{0881BD6C-32DF-4164-9282-5A58B0288EDE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ns2:creationId id="{E8BEE3AF-F9D3-4909-8808-F063B700DC3D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ns2:creationId id="{232E00E4-43C6-43A0-A802-8BC385A0D081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ns2:creationId id="{0173F06D-8631-431A-8512-DF4A26040F96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ns2:creationId id="{C4F6BCB3-B7FD-4D35-9960-8D1CAEC9FEFF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ns2:creationId id="{529DA8F1-A243-40C8-9209-E87A56509E7C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ns2:creationId id="{3BB13ABB-A435-431E-8159-A91AFFF0C601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ns2:creationId id="{2CE9AC01-D410-4D87-A225-F29D2E3C74B1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ns2:creationId id="{F48FD4F5-6F2A-4843-A796-981B3D9FE424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</a:t>
            </a:r>
          </a:p>
        </p:txBody>
      </p:sp>
      <p:sp>
        <p:nvSpPr>
          <p:cNvPr id="37" name="Таблица 2 4">
            <a:extLst>
              <a:ext uri="{FF2B5EF4-FFF2-40B4-BE49-F238E27FC236}">
                <ns2:creationId id="{1FEAAD19-1CC0-4312-916B-D6A59AAA6EEE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ns2:creationId id="{426E8E99-A9BB-408B-AB7C-8EA5C60160FF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AP принтера ниже</a:t>
            </a:r>
          </a:p>
        </p:txBody>
      </p:sp>
      <p:sp>
        <p:nvSpPr>
          <p:cNvPr id="39" name="Таблица 3 0">
            <a:extLst>
              <a:ext uri="{FF2B5EF4-FFF2-40B4-BE49-F238E27FC236}">
                <ns2:creationId id="{9D375F80-CFEB-4EC3-B401-4FF6859CF7D1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ns2:creationId id="{148B0751-7CB4-4F0D-94AD-D59D9FEFB91F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ns2:creationId id="{18C806BE-382C-4B15-AF8E-030B9065DF62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ns2:creationId id="{FD2B6038-52B9-4D48-AB5F-A78FD7601793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ns2:creationId id="{014514AA-B959-4D87-AF4C-E67F531007EE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ns2:creationId id="{CF1E52E2-7BC0-446F-A694-98D4A42161DA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ns2:creationId id="{79598411-AE2C-48D0-A5C2-F5BE6E0BE355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ns2:creationId id="{8816D83B-1542-4552-B7CD-B9AE2C3C750C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</a:t>
            </a:r>
          </a:p>
        </p:txBody>
      </p:sp>
      <p:sp>
        <p:nvSpPr>
          <p:cNvPr id="47" name="Таблица 3 4">
            <a:extLst>
              <a:ext uri="{FF2B5EF4-FFF2-40B4-BE49-F238E27FC236}">
                <ns2:creationId id="{84C15941-4F50-4D1A-853F-90D67A9F42CB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ns2:creationId id="{F96D4B73-04A1-446E-B939-57C90B250CFB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ns2:creationId id="{21F82A80-9208-4EAD-8574-88D35BF2895E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ns2:creationId id="{3EBC989F-80A8-45B5-A943-2E034D42E5FA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ns2:creationId id="{AFC01294-35FA-497D-894F-BC5DE5302943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ns2:creationId id="{F3BD28D6-4CFC-4C9F-B023-1FC6991592A7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ns2:creationId id="{9DF45207-0BBF-4E92-8616-F6C90322F8DC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ns2:creationId id="{A147EF06-CCD6-4F35-A407-3129DBB7A39E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ns2:creationId id="{7F536CF3-5A82-45BC-AA11-E2E5E6988D70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ns2:creationId id="{D86E98CD-A871-4E16-9006-0D5B5E03D81C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</a:t>
            </a:r>
          </a:p>
        </p:txBody>
      </p:sp>
      <p:sp>
        <p:nvSpPr>
          <p:cNvPr id="57" name="Таблица 4 4">
            <a:extLst>
              <a:ext uri="{FF2B5EF4-FFF2-40B4-BE49-F238E27FC236}">
                <ns2:creationId id="{2A168443-7957-45D2-9C11-4859FEE8F8A0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ns2:creationId id="{85FBE8F0-DB10-487B-8170-536C61992898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AP принтера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ns2:creationId id="{9E3DE053-034E-4AA8-8720-988C5B5970F9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 обнаружила 6 из 11 дефектных кадров без ложных тревог. Среди эпох с той же полнотой у неё наибольшая AP принтера.</a:t>
            </a:r>
          </a:p>
        </p:txBody>
      </p:sp>
      <p:sp>
        <p:nvSpPr>
          <p:cNvPr id="60" name="Номер">
            <a:extLst>
              <a:ext uri="{FF2B5EF4-FFF2-40B4-BE49-F238E27FC236}">
                <ns2:creationId id="{3AD32958-F983-405D-8B44-6C91AB675799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