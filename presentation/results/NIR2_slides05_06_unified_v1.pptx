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7ccb53b3bc45f9" /><Relationship Type="http://schemas.openxmlformats.org/officeDocument/2006/relationships/extended-properties" Target="/docProps/app.xml" Id="Rbe4aef4a6fec4dca" /><Relationship Type="http://schemas.openxmlformats.org/officeDocument/2006/relationships/officeDocument" Target="/ppt/presentation.xml" Id="R07b5b828e5da42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894abcf6384432"/>
  </p:sldMasterIdLst>
  <p:notesMasterIdLst>
    <p:notesMasterId xmlns:r="http://schemas.openxmlformats.org/officeDocument/2006/relationships" r:id="Re78c580c5a654bfe"/>
  </p:notesMasterIdLst>
  <p:sldIdLst>
    <p:sldId xmlns:r="http://schemas.openxmlformats.org/officeDocument/2006/relationships" id="256" r:id="Ra3acadefe9874691"/>
    <p:sldId xmlns:r="http://schemas.openxmlformats.org/officeDocument/2006/relationships" id="257" r:id="R255015b3c2754a8d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4fd03ce4ac4673" /><Relationship Type="http://schemas.openxmlformats.org/officeDocument/2006/relationships/slideMaster" Target="/ppt/slideMasters/slideMaster1.xml" Id="R41894abcf6384432" /><Relationship Type="http://schemas.openxmlformats.org/officeDocument/2006/relationships/notesMaster" Target="/ppt/notesMasters/notesMaster1.xml" Id="Re78c580c5a654bfe" /><Relationship Type="http://schemas.openxmlformats.org/officeDocument/2006/relationships/presProps" Target="/ppt/presProps.xml" Id="Rf5932ae6a5184a7f" /><Relationship Type="http://schemas.openxmlformats.org/officeDocument/2006/relationships/tableStyles" Target="/ppt/tableStyles.xml" Id="R9416220105be4cfe" /><Relationship Type="http://schemas.openxmlformats.org/officeDocument/2006/relationships/slide" Target="/ppt/slides/slide1.xml" Id="Ra3acadefe9874691" /><Relationship Type="http://schemas.openxmlformats.org/officeDocument/2006/relationships/slide" Target="/ppt/slides/slide2.xml" Id="R255015b3c2754a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f20f4bd9414f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91748db5864d60" /><Relationship Type="http://schemas.openxmlformats.org/officeDocument/2006/relationships/notesMaster" Target="/ppt/notesMasters/notesMaster1.xml" Id="R87f744763eac43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5eaba6ac1f447b" /><Relationship Type="http://schemas.openxmlformats.org/officeDocument/2006/relationships/notesMaster" Target="/ppt/notesMasters/notesMaster1.xml" Id="R6821058b2ac04f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3190b46ca44c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779bc7d2a4d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5ba6357dee48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3175091d1440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b20be534d41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4e75e4eabd47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17E12A-76F1-4236-A7B4-95B8F814D4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4AF5FA7-7A2A-421C-956F-49BF615EFC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E195702-ED32-4737-AAC2-4F78D1B7AC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8B448A-6FEC-4384-9162-5540AEB141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BE3FA3D-C8E1-40B2-9B35-79A75A8092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E07C84-19D8-4441-8BF9-8417754BF7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764589-5DEF-4BD3-A668-08BCA4ACEC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CDE3666-259E-47EF-9C15-24D389ADC3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CCEB4F-39D5-4411-8FEE-B066646DC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52FC7A-3ECC-42EA-813F-4C464A3B88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2e6ec353334034" /><Relationship Type="http://schemas.openxmlformats.org/officeDocument/2006/relationships/slideLayout" Target="/ppt/slideLayouts/slideLayout1.xml" Id="R813e8d3ed56e4c6b" /><Relationship Type="http://schemas.openxmlformats.org/officeDocument/2006/relationships/slideLayout" Target="/ppt/slideLayouts/slideLayout2.xml" Id="Rcc39a4be1bc24c8e" /><Relationship Type="http://schemas.openxmlformats.org/officeDocument/2006/relationships/slideLayout" Target="/ppt/slideLayouts/slideLayout3.xml" Id="R46495d011a9440b6" /><Relationship Type="http://schemas.openxmlformats.org/officeDocument/2006/relationships/slideLayout" Target="/ppt/slideLayouts/slideLayout4.xml" Id="Rc28a5f60e0414de8" /><Relationship Type="http://schemas.openxmlformats.org/officeDocument/2006/relationships/slideLayout" Target="/ppt/slideLayouts/slideLayout5.xml" Id="R4053e4b371074752" /><Relationship Type="http://schemas.openxmlformats.org/officeDocument/2006/relationships/slideLayout" Target="/ppt/slideLayouts/slideLayout6.xml" Id="R2f338c35a1b043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3e8d3ed56e4c6b"/>
    <p:sldLayoutId xmlns:r="http://schemas.openxmlformats.org/officeDocument/2006/relationships" id="2147483650" r:id="Rcc39a4be1bc24c8e"/>
    <p:sldLayoutId xmlns:r="http://schemas.openxmlformats.org/officeDocument/2006/relationships" id="2147483651" r:id="R46495d011a9440b6"/>
    <p:sldLayoutId xmlns:r="http://schemas.openxmlformats.org/officeDocument/2006/relationships" id="2147483652" r:id="Rc28a5f60e0414de8"/>
    <p:sldLayoutId xmlns:r="http://schemas.openxmlformats.org/officeDocument/2006/relationships" id="2147483653" r:id="R4053e4b371074752"/>
    <p:sldLayoutId xmlns:r="http://schemas.openxmlformats.org/officeDocument/2006/relationships" id="2147483654" r:id="R2f338c35a1b043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ac793ab20540e0" /><Relationship Type="http://schemas.openxmlformats.org/officeDocument/2006/relationships/chart" Target="/ppt/slides/charts/chart1.xml" Id="Ra59010d5e5184338" /><Relationship Type="http://schemas.openxmlformats.org/officeDocument/2006/relationships/chart" Target="/ppt/slides/charts/chart2.xml" Id="R3ad28cf462314f0b" /><Relationship Type="http://schemas.openxmlformats.org/officeDocument/2006/relationships/notesSlide" Target="/ppt/notesSlides/notesSlide1.xml" Id="R5e2a8cb3bb634d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cbbcbb54f54d7a" /><Relationship Type="http://schemas.openxmlformats.org/officeDocument/2006/relationships/chart" Target="/ppt/slides/charts/chart3.xml" Id="Rbe1a884fbe45406a" /><Relationship Type="http://schemas.openxmlformats.org/officeDocument/2006/relationships/notesSlide" Target="/ppt/notesSlides/notesSlide2.xml" Id="R76d922598b9e4bd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Функция потерь при обучении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22C38"/>
              </a:solidFill>
              <a:latin typeface="Times New Roman"/>
              <a:ea typeface="Times New Roman"/>
              <a:cs typeface="Times New Roman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Метрика по эпохам</c:v>
          </c:tx>
          <c:spPr>
            <a:ln xmlns:a="http://schemas.openxmlformats.org/drawingml/2006/main" w="23813">
              <a:solidFill>
                <a:srgbClr val="2467A6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2467A6"/>
              </a:solidFill>
            </c:spPr>
          </c:marker>
          <c:xVal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Data'!$B$2:$B$21</c:f>
              <c:numCache>
                <c:formatCode>0.000</c:formatCode>
                <c:ptCount val="20"/>
                <c:pt idx="0">
                  <c:v>0.005552</c:v>
                </c:pt>
                <c:pt idx="1">
                  <c:v>0.00241</c:v>
                </c:pt>
                <c:pt idx="2">
                  <c:v>0.009237</c:v>
                </c:pt>
                <c:pt idx="3">
                  <c:v>0.00326</c:v>
                </c:pt>
                <c:pt idx="4">
                  <c:v>0.002323</c:v>
                </c:pt>
                <c:pt idx="5">
                  <c:v>0.001774</c:v>
                </c:pt>
                <c:pt idx="6">
                  <c:v>0.001328</c:v>
                </c:pt>
                <c:pt idx="7">
                  <c:v>0.000871</c:v>
                </c:pt>
                <c:pt idx="8">
                  <c:v>0.001206</c:v>
                </c:pt>
                <c:pt idx="9">
                  <c:v>0.004558</c:v>
                </c:pt>
                <c:pt idx="10">
                  <c:v>0.001092</c:v>
                </c:pt>
                <c:pt idx="11">
                  <c:v>0.003142</c:v>
                </c:pt>
                <c:pt idx="12">
                  <c:v>0.001619</c:v>
                </c:pt>
                <c:pt idx="13">
                  <c:v>0.001099</c:v>
                </c:pt>
                <c:pt idx="14">
                  <c:v>0.000973</c:v>
                </c:pt>
                <c:pt idx="15">
                  <c:v>0.000976</c:v>
                </c:pt>
                <c:pt idx="16">
                  <c:v>0.001178</c:v>
                </c:pt>
                <c:pt idx="17">
                  <c:v>0.001012</c:v>
                </c:pt>
                <c:pt idx="18">
                  <c:v>0.002217</c:v>
                </c:pt>
                <c:pt idx="19">
                  <c:v>0.002233</c:v>
                </c:pt>
              </c:numCache>
            </c:numRef>
          </c:yVal>
        </c:ser>
        <c:ser>
          <c:idx val="1"/>
          <c:order val="1"/>
          <c:tx>
            <c:v>Проекция на ось эпох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19</c:v>
                </c:pt>
                <c:pt idx="1">
                  <c:v>19</c:v>
                </c:pt>
              </c:numCache>
            </c:numRef>
          </c:xVal>
          <c:yVal>
            <c:numRef>
              <c:f>'Chart Data'!$D$2:$D$3</c:f>
              <c:numCache>
                <c:formatCode>0.000</c:formatCode>
                <c:ptCount val="2"/>
                <c:pt idx="0">
                  <c:v>0</c:v>
                </c:pt>
                <c:pt idx="1">
                  <c:v>0.002217</c:v>
                </c:pt>
              </c:numCache>
            </c:numRef>
          </c:yVal>
        </c:ser>
        <c:ser>
          <c:idx val="2"/>
          <c:order val="2"/>
          <c:tx>
            <c:v>Проекция на ось метрики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19</c:v>
                </c:pt>
              </c:numCache>
            </c:numRef>
          </c:xVal>
          <c:yVal>
            <c:numRef>
              <c:f>'Chart Data'!$F$2:$F$3</c:f>
              <c:numCache>
                <c:formatCode>0.000</c:formatCode>
                <c:ptCount val="2"/>
                <c:pt idx="0">
                  <c:v>0.002217</c:v>
                </c:pt>
                <c:pt idx="1">
                  <c:v>0.002217</c:v>
                </c:pt>
              </c:numCache>
            </c:numRef>
          </c:yVal>
        </c:ser>
        <c:ser>
          <c:idx val="3"/>
          <c:order val="3"/>
          <c:tx>
            <c:v>19-я эпоха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0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D97720"/>
                        </a:solidFill>
                      </a:rPr>
                      <a:t>0,0022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numFmt formatCode="0.0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Data'!$G$2:$G$2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Data'!$H$2:$H$2</c:f>
              <c:numCache>
                <c:formatCode>0.000</c:formatCode>
                <c:ptCount val="1"/>
                <c:pt idx="0">
                  <c:v>0.002217</c:v>
                </c:pt>
              </c:numCache>
            </c:numRef>
          </c:yVal>
        </c:ser>
        <c:ser>
          <c:idx val="4"/>
          <c:order val="4"/>
          <c:tx>
            <c:v>Метка эпохи на оси</c:v>
          </c:tx>
          <c:spPr>
            <a:ln xmlns:a="http://schemas.openxmlformats.org/drawingml/2006/main" w="0">
              <a:noFill/>
            </a:ln>
          </c:spPr>
          <c:marker>
            <c:symbol val="triangle"/>
            <c:size val="5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>
                        <a:solidFill>
                          <a:srgbClr val="D97720"/>
                        </a:solidFill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Data'!$J$2:$J$2</c:f>
              <c:numCache>
                <c:formatCode>0.000</c:formatCode>
                <c:ptCount val="1"/>
                <c:pt idx="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0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Функция потерь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majorUnit val="0.002"/>
      </c:valAx>
      <c:valAx>
        <c:axId val="48650112"/>
        <c:scaling>
          <c:orientation val="minMax"/>
          <c:max val="2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Средняя точность на валидации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22C38"/>
              </a:solidFill>
              <a:latin typeface="Times New Roman"/>
              <a:ea typeface="Times New Roman"/>
              <a:cs typeface="Times New Roman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Метрика по эпохам</c:v>
          </c:tx>
          <c:spPr>
            <a:ln xmlns:a="http://schemas.openxmlformats.org/drawingml/2006/main" w="23813">
              <a:solidFill>
                <a:srgbClr val="2467A6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2467A6"/>
              </a:solidFill>
            </c:spPr>
          </c:marker>
          <c:xVal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Data'!$B$2:$B$21</c:f>
              <c:numCache>
                <c:formatCode>0.0</c:formatCode>
                <c:ptCount val="20"/>
                <c:pt idx="0">
                  <c:v>98.972764</c:v>
                </c:pt>
                <c:pt idx="1">
                  <c:v>98.861859</c:v>
                </c:pt>
                <c:pt idx="2">
                  <c:v>99.57373</c:v>
                </c:pt>
                <c:pt idx="3">
                  <c:v>99.689363</c:v>
                </c:pt>
                <c:pt idx="4">
                  <c:v>99.276485</c:v>
                </c:pt>
                <c:pt idx="5">
                  <c:v>99.174207</c:v>
                </c:pt>
                <c:pt idx="6">
                  <c:v>99.55193</c:v>
                </c:pt>
                <c:pt idx="7">
                  <c:v>99.323224</c:v>
                </c:pt>
                <c:pt idx="8">
                  <c:v>99.462997</c:v>
                </c:pt>
                <c:pt idx="9">
                  <c:v>99.10293</c:v>
                </c:pt>
                <c:pt idx="10">
                  <c:v>99.325666</c:v>
                </c:pt>
                <c:pt idx="11">
                  <c:v>99.34298</c:v>
                </c:pt>
                <c:pt idx="12">
                  <c:v>99.213706</c:v>
                </c:pt>
                <c:pt idx="13">
                  <c:v>99.211031</c:v>
                </c:pt>
                <c:pt idx="14">
                  <c:v>99.315382</c:v>
                </c:pt>
                <c:pt idx="15">
                  <c:v>99.234098</c:v>
                </c:pt>
                <c:pt idx="16">
                  <c:v>99.280321</c:v>
                </c:pt>
                <c:pt idx="17">
                  <c:v>99.311447</c:v>
                </c:pt>
                <c:pt idx="18">
                  <c:v>99.245392</c:v>
                </c:pt>
                <c:pt idx="19">
                  <c:v>99.336899</c:v>
                </c:pt>
              </c:numCache>
            </c:numRef>
          </c:yVal>
        </c:ser>
        <c:ser>
          <c:idx val="1"/>
          <c:order val="1"/>
          <c:tx>
            <c:v>Проекция на ось эпох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19</c:v>
                </c:pt>
                <c:pt idx="1">
                  <c:v>19</c:v>
                </c:pt>
              </c:numCache>
            </c:numRef>
          </c:xVal>
          <c:yVal>
            <c:numRef>
              <c:f>'Chart Data'!$D$2:$D$3</c:f>
              <c:numCache>
                <c:formatCode>0.0</c:formatCode>
                <c:ptCount val="2"/>
                <c:pt idx="0">
                  <c:v>98.5</c:v>
                </c:pt>
                <c:pt idx="1">
                  <c:v>99.245392</c:v>
                </c:pt>
              </c:numCache>
            </c:numRef>
          </c:yVal>
        </c:ser>
        <c:ser>
          <c:idx val="2"/>
          <c:order val="2"/>
          <c:tx>
            <c:v>Проекция на ось метрики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19</c:v>
                </c:pt>
              </c:numCache>
            </c:numRef>
          </c:xVal>
          <c:yVal>
            <c:numRef>
              <c:f>'Chart Data'!$F$2:$F$3</c:f>
              <c:numCache>
                <c:formatCode>0.0</c:formatCode>
                <c:ptCount val="2"/>
                <c:pt idx="0">
                  <c:v>99.245392</c:v>
                </c:pt>
                <c:pt idx="1">
                  <c:v>99.245392</c:v>
                </c:pt>
              </c:numCache>
            </c:numRef>
          </c:yVal>
        </c:ser>
        <c:ser>
          <c:idx val="3"/>
          <c:order val="3"/>
          <c:tx>
            <c:v>19-я эпоха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0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D97720"/>
                        </a:solidFill>
                      </a:rPr>
                      <a:t>99,25 %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numFmt formatCode="0.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Data'!$G$2:$G$2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Data'!$H$2:$H$2</c:f>
              <c:numCache>
                <c:formatCode>0.0</c:formatCode>
                <c:ptCount val="1"/>
                <c:pt idx="0">
                  <c:v>99.245392</c:v>
                </c:pt>
              </c:numCache>
            </c:numRef>
          </c:yVal>
        </c:ser>
        <c:ser>
          <c:idx val="4"/>
          <c:order val="4"/>
          <c:tx>
            <c:v>Метка эпохи на оси</c:v>
          </c:tx>
          <c:spPr>
            <a:ln xmlns:a="http://schemas.openxmlformats.org/drawingml/2006/main" w="0">
              <a:noFill/>
            </a:ln>
          </c:spPr>
          <c:marker>
            <c:symbol val="triangle"/>
            <c:size val="5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>
                        <a:solidFill>
                          <a:srgbClr val="D97720"/>
                        </a:solidFill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Data'!$J$2:$J$2</c:f>
              <c:numCache>
                <c:formatCode>0.0</c:formatCode>
                <c:ptCount val="1"/>
                <c:pt idx="0">
                  <c:v>98.5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98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AP,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2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Полнота обнаружения по эпохам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22C38"/>
              </a:solidFill>
              <a:latin typeface="Times New Roman"/>
              <a:ea typeface="Times New Roman"/>
              <a:cs typeface="Times New Roman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Метрика по эпохам</c:v>
          </c:tx>
          <c:spPr>
            <a:ln xmlns:a="http://schemas.openxmlformats.org/drawingml/2006/main" w="23813">
              <a:solidFill>
                <a:srgbClr val="2467A6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2467A6"/>
              </a:solidFill>
            </c:spPr>
          </c:marker>
          <c:xVal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Data'!$B$2:$B$21</c:f>
              <c:numCache>
                <c:formatCode>0</c:formatCode>
                <c:ptCount val="20"/>
                <c:pt idx="0">
                  <c:v>0</c:v>
                </c:pt>
                <c:pt idx="1">
                  <c:v>27.272727</c:v>
                </c:pt>
                <c:pt idx="2">
                  <c:v>45.454545</c:v>
                </c:pt>
                <c:pt idx="3">
                  <c:v>36.363636</c:v>
                </c:pt>
                <c:pt idx="4">
                  <c:v>27.272727</c:v>
                </c:pt>
                <c:pt idx="5">
                  <c:v>27.272727</c:v>
                </c:pt>
                <c:pt idx="6">
                  <c:v>45.454545</c:v>
                </c:pt>
                <c:pt idx="7">
                  <c:v>45.454545</c:v>
                </c:pt>
                <c:pt idx="8">
                  <c:v>72.727273</c:v>
                </c:pt>
                <c:pt idx="9">
                  <c:v>45.454545</c:v>
                </c:pt>
                <c:pt idx="10">
                  <c:v>54.545455</c:v>
                </c:pt>
                <c:pt idx="11">
                  <c:v>45.454545</c:v>
                </c:pt>
                <c:pt idx="12">
                  <c:v>27.272727</c:v>
                </c:pt>
                <c:pt idx="13">
                  <c:v>36.363636</c:v>
                </c:pt>
                <c:pt idx="14">
                  <c:v>45.454545</c:v>
                </c:pt>
                <c:pt idx="15">
                  <c:v>45.454545</c:v>
                </c:pt>
                <c:pt idx="16">
                  <c:v>54.545455</c:v>
                </c:pt>
                <c:pt idx="17">
                  <c:v>54.545455</c:v>
                </c:pt>
                <c:pt idx="18">
                  <c:v>54.545455</c:v>
                </c:pt>
                <c:pt idx="19">
                  <c:v>54.545455</c:v>
                </c:pt>
              </c:numCache>
            </c:numRef>
          </c:yVal>
        </c:ser>
        <c:ser>
          <c:idx val="1"/>
          <c:order val="1"/>
          <c:tx>
            <c:v>Проекция на ось эпох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19</c:v>
                </c:pt>
                <c:pt idx="1">
                  <c:v>19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54.545455</c:v>
                </c:pt>
              </c:numCache>
            </c:numRef>
          </c:yVal>
        </c:ser>
        <c:ser>
          <c:idx val="2"/>
          <c:order val="2"/>
          <c:tx>
            <c:v>Проекция на ось метрики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19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54.545455</c:v>
                </c:pt>
                <c:pt idx="1">
                  <c:v>54.545455</c:v>
                </c:pt>
              </c:numCache>
            </c:numRef>
          </c:yVal>
        </c:ser>
        <c:ser>
          <c:idx val="3"/>
          <c:order val="3"/>
          <c:tx>
            <c:v>19-я эпоха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0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D97720"/>
                        </a:solidFill>
                      </a:rPr>
                      <a:t>54,55 %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Data'!$G$2:$G$2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Data'!$H$2:$H$2</c:f>
              <c:numCache>
                <c:formatCode>0</c:formatCode>
                <c:ptCount val="1"/>
                <c:pt idx="0">
                  <c:v>54.545455</c:v>
                </c:pt>
              </c:numCache>
            </c:numRef>
          </c:yVal>
        </c:ser>
        <c:ser>
          <c:idx val="4"/>
          <c:order val="4"/>
          <c:tx>
            <c:v>Метка эпохи на оси</c:v>
          </c:tx>
          <c:spPr>
            <a:ln xmlns:a="http://schemas.openxmlformats.org/drawingml/2006/main" w="0">
              <a:noFill/>
            </a:ln>
          </c:spPr>
          <c:marker>
            <c:symbol val="triangle"/>
            <c:size val="5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>
                        <a:solidFill>
                          <a:srgbClr val="D97720"/>
                        </a:solidFill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Data'!$J$2:$J$2</c:f>
              <c:numCache>
                <c:formatCode>0</c:formatCode>
                <c:ptCount val="1"/>
                <c:pt idx="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Полнота,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2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6CE47-9A9B-4FA5-BF96-2A8B2C13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Результаты обучения и тестирования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6A87F-9064-44B2-8DED-70A6834D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9625"/>
            <a:ext cx="628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rPr>
              <a:t>Дообучение ResNet18 на общей выборке, 20 эпох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6BA4C-BDD7-4D9D-B387-18BDF3A0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87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2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5D367-07BE-4FED-A7B6-1F8D4533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809625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rPr>
              <a:t>19-я эпоха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82BFD-16C4-40D4-AE16-804D3349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28D5D-0B59-4F91-BB11-D44749FB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674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071EDE03-4578-4CF6-9999-BBF1D42AE739}"/>
              </a:ext>
            </a:extLst>
          </p:cNvPr>
          <p:cNvGraphicFramePr/>
          <p:nvPr/>
        </p:nvGraphicFramePr>
        <p:xfrm>
          <a:off xmlns:a="http://schemas.openxmlformats.org/drawingml/2006/main" x="381000" y="1304925"/>
          <a:ext xmlns:a="http://schemas.openxmlformats.org/drawingml/2006/main" cx="4048125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9010d5e5184338"/>
          </a:graphicData>
        </a:graphic>
      </p:graphicFrame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AD6898F5-6B9E-443A-AD61-633FD93CFBAE}"/>
              </a:ext>
            </a:extLst>
          </p:cNvPr>
          <p:cNvGraphicFramePr/>
          <p:nvPr/>
        </p:nvGraphicFramePr>
        <p:xfrm>
          <a:off xmlns:a="http://schemas.openxmlformats.org/drawingml/2006/main" x="4714875" y="1304925"/>
          <a:ext xmlns:a="http://schemas.openxmlformats.org/drawingml/2006/main" cx="4048125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d28cf462314f0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1318D-8FC6-4DE0-8227-3E381E4C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243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Результаты на тестовой выборке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B7385-2BFF-4BEE-9849-C3BBB339475A}"/>
              </a:ext>
            </a:extLst>
          </p:cNvPr>
          <p:cNvGraphicFramePr/>
          <p:nvPr/>
        </p:nvGraphicFramePr>
        <p:xfrm>
          <a:off xmlns:a="http://schemas.openxmlformats.org/drawingml/2006/main" x="381000" y="4562475"/>
          <a:ext xmlns:a="http://schemas.openxmlformats.org/drawingml/2006/main" cx="8382000" cy="876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  <a:gridCol w="1676400"/>
                <a:gridCol w="1676400"/>
              </a:tblGrid>
              <a:tr h="438150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Точность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(precision)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Полнота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(recall)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Мера F1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Доля верных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ответов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Средняя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точность AP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</a:tr>
              <a:tr h="438150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98,71 %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99,89 %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99,30 %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99,61 %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99,72 %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FF6C6-032B-4FF0-A21F-57F9DA5A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834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rPr>
              <a:t>13 ошибок на 3 337 тестовых кадрах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5BA58-85FE-4BA9-91B7-BEC0D0CE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86475"/>
            <a:ext cx="822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rPr>
              <a:t>Похожие кадры и использование теста при разработке могут завышать оценку.</a:t>
            </a:r>
          </a:p>
        </p:txBody>
      </p:sp>
    </p:spTree>
    <p:extLst>
      <p:ext uri="{BB962C8B-B14F-4D97-AF65-F5344CB8AC3E}">
        <p14:creationId xmlns:p14="http://schemas.microsoft.com/office/powerpoint/2010/main" val="730203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2BC66-764B-409E-9A98-3E29DD26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Проверка на экспериментальном принтере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106F9-F8E1-4347-99BA-EB17D978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9625"/>
            <a:ext cx="628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rPr>
              <a:t>Порог классификации 0,3. Выбор весов модели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9D02D-9596-48D2-A0F7-C254975D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87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2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CA116-BD89-4E4A-B98F-593BE395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809625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rPr>
              <a:t>19-я эпоха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F45F5-3D52-4107-9B04-51A749C7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F1547-C7FC-43CE-8B71-99F3A967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674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5CA058EF-9818-4B6A-818C-0FB733945775}"/>
              </a:ext>
            </a:extLst>
          </p:cNvPr>
          <p:cNvGraphicFramePr/>
          <p:nvPr/>
        </p:nvGraphicFramePr>
        <p:xfrm>
          <a:off xmlns:a="http://schemas.openxmlformats.org/drawingml/2006/main" x="381000" y="1333500"/>
          <a:ext xmlns:a="http://schemas.openxmlformats.org/drawingml/2006/main" cx="4143375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1a884fbe45406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B6F48-1109-4901-A86C-193A7DA0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428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Сравнение эпох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C0282-BBB2-4786-BC73-C151BE68880F}"/>
              </a:ext>
            </a:extLst>
          </p:cNvPr>
          <p:cNvGraphicFramePr/>
          <p:nvPr/>
        </p:nvGraphicFramePr>
        <p:xfrm>
          <a:off xmlns:a="http://schemas.openxmlformats.org/drawingml/2006/main" x="4762500" y="1838325"/>
          <a:ext xmlns:a="http://schemas.openxmlformats.org/drawingml/2006/main" cx="40005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38175"/>
                <a:gridCol w="1057275"/>
                <a:gridCol w="1257300"/>
                <a:gridCol w="1047750"/>
              </a:tblGrid>
              <a:tr h="440055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Эпоха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Полнота,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Ложные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тревоги, %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AP, %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</a:tr>
              <a:tr h="440055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72,73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7,03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75,12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54,55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0,00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92,31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1">
                          <a:solidFill>
                            <a:srgbClr val="9A4D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</a:p>
                  </a:txBody>
                  <a:tcPr marL="66675" marR="66675" marT="57150" marB="57150" anchor="ctr">
                    <a:solidFill>
                      <a:srgbClr val="FFF0DE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1">
                          <a:solidFill>
                            <a:srgbClr val="9A4D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54,55</a:t>
                      </a:r>
                    </a:p>
                  </a:txBody>
                  <a:tcPr marL="66675" marR="66675" marT="57150" marB="57150" anchor="ctr">
                    <a:solidFill>
                      <a:srgbClr val="FFF0DE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1">
                          <a:solidFill>
                            <a:srgbClr val="9A4D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0,00</a:t>
                      </a:r>
                    </a:p>
                  </a:txBody>
                  <a:tcPr marL="66675" marR="66675" marT="57150" marB="57150" anchor="ctr">
                    <a:solidFill>
                      <a:srgbClr val="FFF0DE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1">
                          <a:solidFill>
                            <a:srgbClr val="9A4D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94,63</a:t>
                      </a:r>
                    </a:p>
                  </a:txBody>
                  <a:tcPr marL="66675" marR="66675" marT="57150" marB="57150" anchor="ctr">
                    <a:solidFill>
                      <a:srgbClr val="FFF0DE"/>
                    </a:solidFill>
                  </a:tcPr>
                </a:tc>
              </a:tr>
              <a:tr h="440055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54,55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0,00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92,45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9632D-B713-4579-AD04-98FD92EF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91025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BCAA3-AEF0-4D0B-B3ED-EE0EDC67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81525"/>
            <a:ext cx="1952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6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rPr>
              <a:t>6 из 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B233C6-58B2-417D-8DDD-5106F3CC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72000"/>
            <a:ext cx="6257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дефектных кадров обнаружены</a:t>
            </a:r>
          </a:p>
          <a:p xmlns:a="http://schemas.openxmlformats.org/drawingml/2006/main">
            <a:pPr algn="l">
              <a:defRPr sz="18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5 кадров пропущены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0BBF0-BA1D-4673-B022-59204A94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00675"/>
            <a:ext cx="836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Выбрана 19-я эпоха: среди эпох 18–20 при одинаковой полноте</a:t>
            </a:r>
          </a:p>
          <a:p xmlns:a="http://schemas.openxmlformats.org/drawingml/2006/main">
            <a:pPr algn="l">
              <a:defRPr sz="172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и отсутствии ложных тревог получено наибольшее значение AP.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C0935-B9FE-46E2-AFC8-26A72424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8267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rPr>
              <a:t>Ложные тревоги допустимы в пределах 1 %. Проверка на 11 дефектных кадрах</a:t>
            </a:r>
          </a:p>
          <a:p xmlns:a="http://schemas.openxmlformats.org/drawingml/2006/main">
            <a:pPr algn="l">
              <a:defRPr sz="135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rPr>
              <a:t>предварительная. Требуется расширение независимой выборки.</a:t>
            </a:r>
          </a:p>
        </p:txBody>
      </p:sp>
    </p:spTree>
    <p:extLst>
      <p:ext uri="{BB962C8B-B14F-4D97-AF65-F5344CB8AC3E}">
        <p14:creationId xmlns:p14="http://schemas.microsoft.com/office/powerpoint/2010/main" val="471935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2026-10-09T08:03:02.7150000Z</dcterms:created>
  <dcterms:modified xsi:type="dcterms:W3CDTF">2026-10-09T08:03:02.7150000Z</dcterms:modified>
</coreProperties>
</file>