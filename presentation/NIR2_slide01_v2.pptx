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6" r:id="rId4"/>
    <p:sldId id="275" r:id="rId5"/>
    <p:sldId id="273" r:id="rId6"/>
    <p:sldId id="270" r:id="rId7"/>
    <p:sldId id="271" r:id="rId8"/>
    <p:sldId id="272" r:id="rId9"/>
    <p:sldId id="274" r:id="rId10"/>
    <p:sldId id="266" r:id="rId11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2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39818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9846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0273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98948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953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Автоматическое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выявление</a:t>
            </a:r>
            <a:endParaRPr sz="36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дефектов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в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процессе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ИВТм-2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                                     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Ешенко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практики:     к. ф.-м. н.,</a:t>
            </a:r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каф. ИСКM, Иванченко Г. С.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Научный консультант:                          ст. преп. каф. ИСКМ, Астахов А.С.</a:t>
            </a:r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Волгоградский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государственный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университет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Институт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математики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технологий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Кафедра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систем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компьютерного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моделирования</a:t>
            </a:r>
            <a:endParaRPr sz="20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Научно-исследовательская работа по направлению</a:t>
            </a:r>
            <a:endParaRPr sz="2000"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09.04.01 «Информатика и вычислительная техника»</a:t>
            </a:r>
            <a:endParaRPr sz="200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дефектов FDM-печати и выбор целевого дефекта для автоматического обнаружения.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FE507C-2C48-A423-9756-13891072B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3" t="13068" r="8466" b="3458"/>
          <a:stretch/>
        </p:blipFill>
        <p:spPr>
          <a:xfrm>
            <a:off x="5021065" y="3247173"/>
            <a:ext cx="3921040" cy="255587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164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чем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заключается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проблема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4000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7" y="597203"/>
            <a:ext cx="5948583" cy="22974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фермах 3D-принтеров в процессе печати могут возникать сбои, вызванные различными факторами. Такие дефекты, как отлипание, расслоение или смещение слоёв, в конечном итоге могут привести к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критическому дефекту «спагетти»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при котором пластик начинает хаотично укладываться в воздухе. Такой дефект приводит к перерасходу материала, а в отдельных случаях может стать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причиной повреждения 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самого 3D-принтера.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440105" y="2547592"/>
            <a:ext cx="2182057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1 –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типа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</a:p>
        </p:txBody>
      </p:sp>
      <p:pic>
        <p:nvPicPr>
          <p:cNvPr id="4" name="Рисунок 3" descr="Изображение выглядит как искусство, дизайн, соединитель, свет&#10;&#10;Содержимое, созданное ИИ, может быть неверным.">
            <a:extLst>
              <a:ext uri="{FF2B5EF4-FFF2-40B4-BE49-F238E27FC236}">
                <a16:creationId xmlns:a16="http://schemas.microsoft.com/office/drawing/2014/main" id="{AE67ED3C-CB37-618A-EEBF-9C9FF1AB5D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1" t="18812" r="21153" b="24354"/>
          <a:stretch/>
        </p:blipFill>
        <p:spPr>
          <a:xfrm>
            <a:off x="6333293" y="704535"/>
            <a:ext cx="2288869" cy="1792981"/>
          </a:xfrm>
          <a:prstGeom prst="rect">
            <a:avLst/>
          </a:prstGeom>
          <a:ln w="28575">
            <a:noFill/>
          </a:ln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52C65C1-2992-0840-D7B0-DF2AD9057D63}"/>
              </a:ext>
            </a:extLst>
          </p:cNvPr>
          <p:cNvSpPr>
            <a:spLocks noGrp="1"/>
          </p:cNvSpPr>
          <p:nvPr/>
        </p:nvSpPr>
        <p:spPr>
          <a:xfrm>
            <a:off x="277897" y="3017804"/>
            <a:ext cx="4637770" cy="279159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Проблему удалось подтвердить на ферме Волгоградской компании «</a:t>
            </a:r>
            <a:r>
              <a:rPr lang="ru-RU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». По накопленной статистике принтеров с фермы, 26,7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% заданий были отменены оператором вручную из-за подобных сбоев. Статистика имеет погрешность, так как часть успешных заданий — это печати, когда оператор не мог отменить задачу, хотя сбой был, а часть отмен не связаны со сбоем.</a:t>
            </a:r>
            <a:endParaRPr lang="ru-RU" dirty="0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DC9D2F2B-4F62-AFAE-5BC3-F6D246AAE8E4}"/>
              </a:ext>
            </a:extLst>
          </p:cNvPr>
          <p:cNvSpPr>
            <a:spLocks noGrp="1"/>
          </p:cNvSpPr>
          <p:nvPr/>
        </p:nvSpPr>
        <p:spPr>
          <a:xfrm>
            <a:off x="4868975" y="601476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776FE2EE-EE34-7E14-84FE-9C2304D04340}"/>
              </a:ext>
            </a:extLst>
          </p:cNvPr>
          <p:cNvSpPr>
            <a:spLocks noGrp="1"/>
          </p:cNvSpPr>
          <p:nvPr/>
        </p:nvSpPr>
        <p:spPr>
          <a:xfrm>
            <a:off x="277897" y="5932581"/>
            <a:ext cx="4637770" cy="74349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Предлагаемое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решение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: мониторинг печати с помощью методов машинного зрения.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Подготовка к обучению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571998" y="709017"/>
            <a:ext cx="419789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16 129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исходных кадров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Обучающая выборка включает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9 787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3 005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кадров, тестовая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3 337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кадров. Их доли составляют 60,6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18,7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и 20,7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соответственно. В обучающей выборке представлены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2 761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 со «спагетти»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7 026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 без видимых признаков этого дефекта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0428" y="3410116"/>
            <a:ext cx="3869672" cy="31393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каждой эпохе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5 522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показа изображений, по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2 761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каждый класс. После аугментации обучающая выборка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29 361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изображение: к каждому исходному кадру добавлены два варианта. Валидационная и тестовая выборки содержат только исходные изображения и не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аугментируются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DAC2E642-4E22-B5B0-DB31-19292E122F11}"/>
              </a:ext>
            </a:extLst>
          </p:cNvPr>
          <p:cNvSpPr>
            <a:spLocks noGrp="1"/>
          </p:cNvSpPr>
          <p:nvPr/>
        </p:nvSpPr>
        <p:spPr>
          <a:xfrm>
            <a:off x="4634025" y="597031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распределения исходных кадров по выборкам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B5EBF5-FBE6-336C-42E4-49A8C5D8A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102" y="3317275"/>
            <a:ext cx="3976794" cy="263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97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Результат обучения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3" y="724829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7537" y="3466535"/>
            <a:ext cx="3869672" cy="2862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Валидационная и тестовая выборки содержат только исходные изображения без аугментаций.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155F7BCE-57B1-4886-841D-DAD17BC5CA7C}"/>
              </a:ext>
            </a:extLst>
          </p:cNvPr>
          <p:cNvSpPr>
            <a:spLocks noGrp="1"/>
          </p:cNvSpPr>
          <p:nvPr/>
        </p:nvSpPr>
        <p:spPr>
          <a:xfrm>
            <a:off x="4703875" y="5554051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4,5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5447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сервере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6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AB50E-3BD8-57A2-B047-497A3FD50648}"/>
              </a:ext>
            </a:extLst>
          </p:cNvPr>
          <p:cNvSpPr txBox="1"/>
          <p:nvPr/>
        </p:nvSpPr>
        <p:spPr>
          <a:xfrm>
            <a:off x="186213" y="875407"/>
            <a:ext cx="2920514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dirty="0">
                <a:latin typeface="Times New Roman"/>
                <a:ea typeface="+mn-lt"/>
                <a:cs typeface="+mn-lt"/>
              </a:rPr>
              <a:t>Роль сервера: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b="1" dirty="0">
                <a:latin typeface="Times New Roman"/>
                <a:ea typeface="+mn-lt"/>
                <a:cs typeface="+mn-lt"/>
              </a:rPr>
              <a:t>Централизованная </a:t>
            </a:r>
            <a:r>
              <a:rPr lang="ru-RU" dirty="0">
                <a:latin typeface="Times New Roman"/>
                <a:ea typeface="+mn-lt"/>
                <a:cs typeface="+mn-lt"/>
              </a:rPr>
              <a:t>обработка запросов.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dirty="0">
                <a:latin typeface="Times New Roman"/>
                <a:ea typeface="+mn-lt"/>
                <a:cs typeface="+mn-lt"/>
              </a:rPr>
              <a:t>Выполнение </a:t>
            </a:r>
            <a:r>
              <a:rPr lang="ru-RU" b="1" dirty="0">
                <a:latin typeface="Times New Roman"/>
                <a:ea typeface="+mn-lt"/>
                <a:cs typeface="+mn-lt"/>
              </a:rPr>
              <a:t>ресурсоёмких </a:t>
            </a:r>
            <a:r>
              <a:rPr lang="ru-RU" dirty="0">
                <a:latin typeface="Times New Roman"/>
                <a:ea typeface="+mn-lt"/>
                <a:cs typeface="+mn-lt"/>
              </a:rPr>
              <a:t>задач.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2968" y="875407"/>
            <a:ext cx="5639137" cy="50935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86213" y="2593566"/>
            <a:ext cx="2920514" cy="3416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 кадр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камеры и идентификаторы сессии. После кадр анализируется нейросетью, которая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определяет наличие «спагетти»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возвращает признак дефекта и числовую оценку модели вместе с исходными идентификаторами, связывающими результат с конкретным кадром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B2494F24-8111-2CAC-A358-3AE7239D4D1C}"/>
              </a:ext>
            </a:extLst>
          </p:cNvPr>
          <p:cNvSpPr>
            <a:spLocks noGrp="1"/>
          </p:cNvSpPr>
          <p:nvPr/>
        </p:nvSpPr>
        <p:spPr>
          <a:xfrm>
            <a:off x="4085971" y="6009005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Блок-схема серверной обработки кадров и определения дефектов FDM-печати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5725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принтере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7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6727" y="875407"/>
            <a:ext cx="5905217" cy="52953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32056" y="1152406"/>
            <a:ext cx="2917990" cy="480131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Локальный модуль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проверяет принадлежность результата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текущей печатной сессии и учитывает последовательные срабатывания. Отрицательный или неопределённый результат сбрасывает счётчик.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трёх последовательных обнаружений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«спагетти» повторно проверяется активность сессии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формируется команда отмены печати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E5B04886-22A1-2CCD-9C65-F1ADEC0EB19F}"/>
              </a:ext>
            </a:extLst>
          </p:cNvPr>
          <p:cNvSpPr>
            <a:spLocks noGrp="1"/>
          </p:cNvSpPr>
          <p:nvPr/>
        </p:nvSpPr>
        <p:spPr>
          <a:xfrm>
            <a:off x="3723995" y="6170765"/>
            <a:ext cx="4670679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Блок-схема проверки результатов обнаружения дефекта и отмены FDM-печати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6394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Электросхема 3</a:t>
            </a:r>
            <a:r>
              <a:rPr lang="en-US" sz="4000" dirty="0">
                <a:latin typeface="Times New Roman"/>
                <a:ea typeface="Calibri"/>
                <a:cs typeface="Times New Roman"/>
              </a:rPr>
              <a:t>D-</a:t>
            </a:r>
            <a:r>
              <a:rPr lang="ru-RU" sz="4000" dirty="0">
                <a:latin typeface="Times New Roman"/>
                <a:ea typeface="Calibri"/>
                <a:cs typeface="Times New Roman"/>
              </a:rPr>
              <a:t>принтера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8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E875F94-D2E7-0E2D-5267-8B670B1C8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81" y="603944"/>
            <a:ext cx="8440637" cy="37086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54001" y="4734036"/>
            <a:ext cx="8487517" cy="20313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электрической части разрабатываемого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принтера выбрана плата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MKS Robin Nano V1.2 (7)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драйвера TMC2209. Плата управляет двигателями (5), нагревателями (1, 2) и вентиляторами, а также получает сигналы с датчиков (6).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Raspberry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3B (10)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подключение камеры (9), сенсорного экрана (8) и обменивается данными с управляющей платой по UART. Блок питания (3) обеспечивает силовые узлы напряжением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 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DC-DC-преобразователь (4) понижает его до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Raspberry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подключённой периферии.</a:t>
            </a:r>
          </a:p>
        </p:txBody>
      </p:sp>
      <p:sp>
        <p:nvSpPr>
          <p:cNvPr id="16" name="TextBox 26">
            <a:extLst>
              <a:ext uri="{FF2B5EF4-FFF2-40B4-BE49-F238E27FC236}">
                <a16:creationId xmlns:a16="http://schemas.microsoft.com/office/drawing/2014/main" id="{6C4BDD25-6E44-8F04-93A8-3BDF96080B11}"/>
              </a:ext>
            </a:extLst>
          </p:cNvPr>
          <p:cNvSpPr>
            <a:spLocks noGrp="1"/>
          </p:cNvSpPr>
          <p:nvPr/>
        </p:nvSpPr>
        <p:spPr>
          <a:xfrm>
            <a:off x="1313146" y="4181848"/>
            <a:ext cx="6517706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Схема электрической коммутации компонентов 3D-принтера </a:t>
            </a:r>
          </a:p>
        </p:txBody>
      </p:sp>
    </p:spTree>
    <p:extLst>
      <p:ext uri="{BB962C8B-B14F-4D97-AF65-F5344CB8AC3E}">
        <p14:creationId xmlns:p14="http://schemas.microsoft.com/office/powerpoint/2010/main" val="128376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Тестирование на реальной печати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9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03200" y="4078032"/>
            <a:ext cx="3882390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печати после запуска контролируемого сбоя, модель постепенно увеличивала оценку обнаружения «спагетти».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Через 3 мин 21 с,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контроля получила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уверенных последовательных обнаружения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 отменил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с выводом соответствующей ошибки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265B33C-B5D3-98C3-9211-F88247D6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50" t="10273" r="32713" b="28766"/>
          <a:stretch/>
        </p:blipFill>
        <p:spPr>
          <a:xfrm>
            <a:off x="4572000" y="678623"/>
            <a:ext cx="4073130" cy="2608849"/>
          </a:xfrm>
          <a:prstGeom prst="rect">
            <a:avLst/>
          </a:prstGeom>
        </p:spPr>
      </p:pic>
      <p:sp>
        <p:nvSpPr>
          <p:cNvPr id="10" name="TextBox 26">
            <a:extLst>
              <a:ext uri="{FF2B5EF4-FFF2-40B4-BE49-F238E27FC236}">
                <a16:creationId xmlns:a16="http://schemas.microsoft.com/office/drawing/2014/main" id="{B3EABF96-386D-700B-07FB-75E0CD46DA63}"/>
              </a:ext>
            </a:extLst>
          </p:cNvPr>
          <p:cNvSpPr>
            <a:spLocks noGrp="1"/>
          </p:cNvSpPr>
          <p:nvPr/>
        </p:nvSpPr>
        <p:spPr>
          <a:xfrm>
            <a:off x="4572000" y="328096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дефектом типа  «спагетти»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BDAA191B-FE24-F716-CFE2-146C9DF24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620183"/>
              </p:ext>
            </p:extLst>
          </p:nvPr>
        </p:nvGraphicFramePr>
        <p:xfrm>
          <a:off x="203200" y="678623"/>
          <a:ext cx="3882390" cy="319414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665109338"/>
                    </a:ext>
                  </a:extLst>
                </a:gridCol>
                <a:gridCol w="1723390">
                  <a:extLst>
                    <a:ext uri="{9D8B030D-6E8A-4147-A177-3AD203B41FA5}">
                      <a16:colId xmlns:a16="http://schemas.microsoft.com/office/drawing/2014/main" val="3225751743"/>
                    </a:ext>
                  </a:extLst>
                </a:gridCol>
              </a:tblGrid>
              <a:tr h="41230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50191"/>
                  </a:ext>
                </a:extLst>
              </a:tr>
              <a:tr h="914976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от появления дефекта до срабатывания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минуты, 21 секунда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288437"/>
                  </a:ext>
                </a:extLst>
              </a:tr>
              <a:tr h="412304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Порог автоматической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43534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0,3655, в начале записи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774038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Максимальная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0,9918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670564"/>
                  </a:ext>
                </a:extLst>
              </a:tr>
            </a:tbl>
          </a:graphicData>
        </a:graphic>
      </p:graphicFrame>
      <p:sp>
        <p:nvSpPr>
          <p:cNvPr id="12" name="TextBox 26">
            <a:extLst>
              <a:ext uri="{FF2B5EF4-FFF2-40B4-BE49-F238E27FC236}">
                <a16:creationId xmlns:a16="http://schemas.microsoft.com/office/drawing/2014/main" id="{0F1BE2F2-80C9-8159-C3BF-933349087573}"/>
              </a:ext>
            </a:extLst>
          </p:cNvPr>
          <p:cNvSpPr>
            <a:spLocks noGrp="1"/>
          </p:cNvSpPr>
          <p:nvPr/>
        </p:nvSpPr>
        <p:spPr>
          <a:xfrm>
            <a:off x="4815206" y="6150348"/>
            <a:ext cx="3586718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примером обнаружения детали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4B603F-73F4-5404-D6AD-383F980E87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8" t="12057" r="32186" b="15292"/>
          <a:stretch/>
        </p:blipFill>
        <p:spPr>
          <a:xfrm>
            <a:off x="5078978" y="4078032"/>
            <a:ext cx="3059174" cy="2095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985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0634" y="1034005"/>
            <a:ext cx="8736990" cy="5827551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Изучены дефекты FDM-печати и выбран целевого дефекта для автоматического обнаружения.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Сформирован датасет: произведен поиск данных, балансировка классов,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аугментирование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разделение на обучающую и тестовую выборки; </a:t>
            </a:r>
          </a:p>
          <a:p>
            <a:pPr marL="214630" indent="-21463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Обучена нейронная сеть для распознавания дефекта «Спагетти» на основе изображений печатей; </a:t>
            </a:r>
            <a:endParaRPr lang="en-US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Разработан, собран и отлажен аппаратно-программный комплекса экспериментального 3D-принтера.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тестовый запуск работы системы контроля и 3D-принтера в процессе печати.</a:t>
            </a: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10</a:t>
            </a:fld>
            <a:endParaRPr lang="ru-RU" sz="20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5D6DF51-0B62-79A6-6D5B-9EBEFC4103B7}"/>
              </a:ext>
            </a:extLst>
          </p:cNvPr>
          <p:cNvSpPr txBox="1">
            <a:spLocks/>
          </p:cNvSpPr>
          <p:nvPr/>
        </p:nvSpPr>
        <p:spPr>
          <a:xfrm>
            <a:off x="701718" y="3637"/>
            <a:ext cx="7886700" cy="712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>
                <a:latin typeface="Times New Roman"/>
                <a:ea typeface="Calibri"/>
                <a:cs typeface="Times New Roman"/>
              </a:rPr>
              <a:t>Заключение</a:t>
            </a:r>
            <a:endParaRPr lang="ru-RU">
              <a:ea typeface="Calibri Light"/>
              <a:cs typeface="Calibri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</TotalTime>
  <Words>1101</Words>
  <Application>Microsoft Office PowerPoint</Application>
  <DocSecurity>0</DocSecurity>
  <PresentationFormat>Экран (4:3)</PresentationFormat>
  <Paragraphs>87</Paragraphs>
  <Slides>10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Arial,Sans-Serif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  <vt:lpstr>Подготовка к обучению нейросети</vt:lpstr>
      <vt:lpstr>Результат обучения нейросети</vt:lpstr>
      <vt:lpstr>Обработка на сервере</vt:lpstr>
      <vt:lpstr>Обработка на принтере</vt:lpstr>
      <vt:lpstr>Электросхема 3D-принтера</vt:lpstr>
      <vt:lpstr>Тестирование на реальной печати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30</cp:revision>
  <dcterms:created xsi:type="dcterms:W3CDTF">2026-10-07T12:47:26Z</dcterms:created>
  <dcterms:modified xsi:type="dcterms:W3CDTF">2026-10-08T19:38:56Z</dcterms:modified>
</cp:coreProperties>
</file>