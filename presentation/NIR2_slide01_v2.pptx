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6" r:id="rId4"/>
  </p:sldIdLst>
  <p:sldSz cx="9144000" cy="6858000" type="screen4x3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0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Титульные сведения: C:/Users/Yawllen/Documents/GitHub/Nir2/Title.tex. Группа ИВТм-251 и научный руководитель А. С. Астахов уточнены пользователем. Визуальный шаблон: первый слайд C:/Users/Yawllen/Downloads/Eshenko_VKR.pptx.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4815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Основание текста: Intro.tex — ручной контроль нескольких принтеров; Chapter1.tex — отлипание или смещение модели, образование хаотичных нитей, потери материала и машинного времени; Chapter2.tex — камерный метод обнаружения и результаты статьи. Рисунок взят из fig/spag.jpeg, используемого в главе 1.</a:t>
            </a:r>
          </a:p>
          <a:p>
            <a:r>
              <a:t>[1] Hyungjung Kim, Hyunsu Lee, Ji-Soo Kim, Sung-Hoon Ahn. Image-based failure detection for material extrusion process using a convolutional neural network. The International Journal of Advanced Manufacturing Technology, 111, 1291–1302 (2020). https://doi.org/10.1007/s00170-020-06201-0</a:t>
            </a:r>
          </a:p>
          <a:p>
            <a:r>
              <a:t>В разделе 5.2 статьи: 100 тестовых изображений, 50 с дефектом и 50 без дефекта; общая точность 96 %, доли правильного распознавания классов 94 % и 98 %. Предупреждение или остановка процесса описаны авторами как предусмотренные действия метода. Эти показатели относятся к литературному источнику, а не к собственной модели НИР. Сведения проверены по официальной странице издателя: https://link.springer.com/article/10.1007/s00170-020-06201-0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807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388F-DEE8-4999-80DA-4B08D9C6AE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6C57B-B7B9-44ED-8C6F-DD39ABA58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E8F56-F9DD-4EBB-8D7D-653AD4D57F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080A1-B1C3-40DF-A5E5-D24C706F667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F9F49-A4A0-4CDA-B3A7-871709CE7D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D0A74-FEAB-4613-88EF-54A0A6D46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C022A-C158-40E5-B7EE-7ECD7BFA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51D32F-F627-436D-8334-BEAC64706D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CE828-67B2-4444-929F-5321B45AA5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9A65A-E6E0-4F5F-AFDD-97A08A57B0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B6B0C-7344-4431-97A8-11EDF4B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B8E9C-3084-4625-8E03-F9FED502F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AAF5B-621A-4438-B4C6-6F2CA53411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94CF84-34C8-420C-9C94-37AC72D88D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8660F-AB7F-403A-AA16-3575B45A30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C073-DA93-462D-92EF-EAB28C3BF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DF1C2-8D54-44FD-B541-0BF158C77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CA6C0-736D-4A89-97F5-B0013D6D71A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E2AC1-B710-47D7-A39F-322CF1707C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DA8DB-42F1-4912-8081-4426A6F347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B7B3AA-4994-402A-9168-DC2C25EF2E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9060-334F-4364-A593-C6A5F1C90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82AE4-D909-420E-A442-752611BD7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E7F8D-A36A-4049-808E-063A552764E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334DA7-E5A8-4668-BC62-EC8C60B4E2C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8618A-04E8-4CCE-A9E4-4A649FDE190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91C88F-9BDC-48E9-9C80-737529C09A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C377B7-C9A0-47AD-8ED5-611704EEF9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71D917-B3D4-44AE-B364-D7812D1A40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D367-135D-4516-AC8A-A92E8201C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38541-2621-4C5F-AA05-B9D6C59A18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53E81-B4C5-4C85-9FEC-B133C0F724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03A86-A27B-4838-A9BE-FDFF85BBA1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229F4D-0648-4B9E-8A6F-1B7EA1654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C727DE-4D07-4459-B460-69CA08CDA0B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7132C-A107-42A9-A593-E2F1BA9CB9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7406-F75E-40A2-9B5A-F27948D0E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7158-6170-4FC7-856A-8205BBAF3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A558BE-EDBE-4F50-A862-6DBA416D173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8FB7D-9228-41EB-BE6B-599554EA577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A4B719-B4B7-4F42-BD3F-01EC144169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89AC8-8D43-44CB-AAB7-9AE138C6CE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19385-C566-4337-BE85-EE2C6C9D5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B96CEB-8A1B-447C-A05B-53A238D04E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Вставка рисунка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73D77-200D-4493-A725-400D2744AA4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3FF7D-FDA6-4E12-99E3-388C062D83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235E-A01B-4009-A5F5-6642D81957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73340-F8F1-40F0-9881-4514E0D96E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B8FD7-CE2D-40A2-AB93-AC97CB94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EDC243-3A9A-42D3-A38A-95EFB4021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A6133-9BFC-47CE-BAF1-E9AA5220563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88FD5-1CC6-45E6-A6B3-31A633082CD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C1CFA-A7E3-4580-94FF-ED73E79675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5C103D-EC12-4503-8554-224CFE971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C51D8-B839-44CA-A112-44746FCE1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B89CB-3176-482E-ADAC-8096540C4D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0CCB3-9BD0-4474-8AE4-C8F1EB2E33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7441-6A01-45BB-BF93-75993D6571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24AF1C-5263-45DE-B0BF-4C7856D7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C9B1E-1B94-4341-9B43-62399FE44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47B43-022E-43C0-9C4C-EDA69A2326C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FA9E1-D308-41E7-A8C4-3E7207C0A6E1}" type="datetimeFigureOut">
              <a:t>07.10.2026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76C5F-40E1-410B-BAA7-B63D1B24D54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494A4-AEEB-44DD-AC94-FA16A78739F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D8A53-8D2F-4011-BE06-EDB0774336BA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9197F-1F94-4487-96B4-5CC8E191D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126" y="1660941"/>
            <a:ext cx="7966787" cy="1467730"/>
          </a:xfrm>
        </p:spPr>
        <p:txBody>
          <a:bodyPr vert="horz" lIns="91440" tIns="45720" rIns="91440" bIns="45720" anchor="ctr">
            <a:noAutofit/>
          </a:bodyPr>
          <a:lstStyle>
            <a:defPPr algn="ctr"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Автоматическое выявление</a:t>
            </a:r>
          </a:p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дефектов в процессе 3D-печати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F81F08-5D1E-4085-9EBA-0CC100597D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393" y="4487371"/>
            <a:ext cx="7970520" cy="1749400"/>
          </a:xfrm>
        </p:spPr>
        <p:txBody>
          <a:bodyPr vert="horz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just"/>
            <a:r>
              <a:rPr lang="ru-RU" sz="1800" dirty="0">
                <a:latin typeface="Times New Roman"/>
                <a:cs typeface="Times New Roman"/>
              </a:rPr>
              <a:t>Студент группы ИВТм-2</a:t>
            </a:r>
            <a:r>
              <a:rPr lang="en-US" sz="1800" dirty="0">
                <a:latin typeface="Times New Roman"/>
                <a:cs typeface="Times New Roman"/>
              </a:rPr>
              <a:t>5</a:t>
            </a:r>
            <a:r>
              <a:rPr lang="ru-RU" sz="1800" dirty="0">
                <a:latin typeface="Times New Roman"/>
                <a:cs typeface="Times New Roman"/>
              </a:rPr>
              <a:t>1:                                      </a:t>
            </a:r>
            <a:r>
              <a:rPr lang="ru-RU" sz="1800" dirty="0" err="1">
                <a:latin typeface="Times New Roman"/>
                <a:cs typeface="Times New Roman"/>
              </a:rPr>
              <a:t>Ешенко</a:t>
            </a:r>
            <a:r>
              <a:rPr lang="ru-RU" sz="1800" dirty="0">
                <a:latin typeface="Times New Roman"/>
                <a:cs typeface="Times New Roman"/>
              </a:rPr>
              <a:t> Даниил Ярославович</a:t>
            </a:r>
          </a:p>
          <a:p>
            <a:pPr algn="just"/>
            <a:r>
              <a:rPr lang="ru-RU" sz="1800" dirty="0">
                <a:latin typeface="Times New Roman"/>
                <a:cs typeface="Calibri"/>
              </a:rPr>
              <a:t>Руководитель практики:     </a:t>
            </a:r>
            <a:r>
              <a:rPr lang="ru-RU" sz="1800" dirty="0">
                <a:latin typeface="Times New Roman"/>
              </a:rPr>
              <a:t>к. ф.-м. н.,</a:t>
            </a:r>
            <a:r>
              <a:rPr lang="ru-RU" sz="1800" dirty="0">
                <a:latin typeface="Times New Roman"/>
                <a:ea typeface="Calibri"/>
                <a:cs typeface="Calibri"/>
              </a:rPr>
              <a:t> </a:t>
            </a:r>
            <a:r>
              <a:rPr lang="ru-RU" sz="1800" dirty="0">
                <a:latin typeface="Times New Roman"/>
                <a:cs typeface="Calibri"/>
              </a:rPr>
              <a:t>доцент каф. ИСКM, </a:t>
            </a:r>
            <a:r>
              <a:rPr lang="ru-RU" sz="1800" dirty="0">
                <a:latin typeface="Times New Roman"/>
              </a:rPr>
              <a:t>Иванченко Г. С.</a:t>
            </a:r>
          </a:p>
          <a:p>
            <a:pPr algn="just"/>
            <a:r>
              <a:rPr lang="ru-RU" sz="1800" dirty="0">
                <a:latin typeface="Times New Roman"/>
                <a:ea typeface="Calibri"/>
                <a:cs typeface="Times New Roman"/>
              </a:rPr>
              <a:t>Научный консультант:                          ст. преп. каф. ИСКМ, Астахов А.С.</a:t>
            </a:r>
            <a:endParaRPr lang="ru-RU" dirty="0"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F1438-5AC9-43E1-AF5B-1B0FBA2C3062}"/>
              </a:ext>
            </a:extLst>
          </p:cNvPr>
          <p:cNvSpPr>
            <a:spLocks noGrp="1"/>
          </p:cNvSpPr>
          <p:nvPr/>
        </p:nvSpPr>
        <p:spPr>
          <a:xfrm>
            <a:off x="714393" y="321974"/>
            <a:ext cx="7968520" cy="101566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buNone/>
            </a:pPr>
            <a:r>
              <a:rPr sz="2000" b="0" i="0" u="none" strike="noStrike" baseline="0">
                <a:latin typeface="Times New Roman"/>
                <a:ea typeface="Times New Roman"/>
                <a:cs typeface="Times New Roman"/>
              </a:rPr>
              <a:t>Волгоградский государственный университет</a:t>
            </a:r>
          </a:p>
          <a:p>
            <a:pPr algn="ctr">
              <a:buNone/>
            </a:pPr>
            <a:r>
              <a:rPr sz="2000" b="0" i="0" u="none" strike="noStrike" baseline="0">
                <a:latin typeface="Times New Roman"/>
                <a:ea typeface="Times New Roman"/>
                <a:cs typeface="Times New Roman"/>
              </a:rPr>
              <a:t>Институт математики и информационных технологий</a:t>
            </a:r>
          </a:p>
          <a:p>
            <a:pPr algn="ctr">
              <a:buNone/>
            </a:pPr>
            <a:r>
              <a:rPr sz="2000" b="0" i="0" u="none" strike="noStrike" baseline="0">
                <a:latin typeface="Times New Roman"/>
                <a:ea typeface="Times New Roman"/>
                <a:cs typeface="Times New Roman"/>
              </a:rPr>
              <a:t>Кафедра информационных систем и компьютерного моделирования</a:t>
            </a:r>
            <a:endParaRPr sz="20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4BB57-FAB3-D4FF-BB40-FB880A2615B3}"/>
              </a:ext>
            </a:extLst>
          </p:cNvPr>
          <p:cNvSpPr>
            <a:spLocks noGrp="1"/>
          </p:cNvSpPr>
          <p:nvPr/>
        </p:nvSpPr>
        <p:spPr>
          <a:xfrm>
            <a:off x="711175" y="3377449"/>
            <a:ext cx="7971738" cy="1109922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Научно-исследовательская работа по направлению</a:t>
            </a:r>
            <a:endParaRPr sz="2000">
              <a:latin typeface="Calibri Light"/>
              <a:ea typeface="Calibri Light"/>
              <a:cs typeface="Calibri Light"/>
            </a:endParaRPr>
          </a:p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09.04.01 «Информатика и вычислительная техника»</a:t>
            </a:r>
            <a:endParaRPr sz="20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EA943AF4-237A-8CA5-C20E-0B6C8CCD2DB0}"/>
              </a:ext>
            </a:extLst>
          </p:cNvPr>
          <p:cNvSpPr>
            <a:spLocks noGrp="1"/>
          </p:cNvSpPr>
          <p:nvPr/>
        </p:nvSpPr>
        <p:spPr>
          <a:xfrm>
            <a:off x="591820" y="6383842"/>
            <a:ext cx="7960360" cy="297180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Волгоград 2026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4D423A90-34D2-345E-BA07-2F7DEF1B1097}"/>
              </a:ext>
            </a:extLst>
          </p:cNvPr>
          <p:cNvSpPr txBox="1">
            <a:spLocks/>
          </p:cNvSpPr>
          <p:nvPr/>
        </p:nvSpPr>
        <p:spPr>
          <a:xfrm>
            <a:off x="722553" y="5168483"/>
            <a:ext cx="7960360" cy="10998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endParaRPr lang="ru-RU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92443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3432" y="-5479"/>
            <a:ext cx="7877136" cy="758162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Times New Roman"/>
                <a:cs typeface="Times New Roman"/>
              </a:rPr>
              <a:t>Цель работы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5440" y="752683"/>
            <a:ext cx="7885128" cy="1170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/>
                <a:ea typeface="+mn-lt"/>
                <a:cs typeface="+mn-lt"/>
              </a:rPr>
              <a:t>Цель работы — разработка и тестирование версии 3D-принтера с системой обнаружения дефектов в процессе печати и механизмом своевременного реагирования.</a:t>
            </a:r>
            <a:endParaRPr lang="ru-RU" dirty="0">
              <a:latin typeface="Times New Roman"/>
              <a:cs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4087" y="1960801"/>
            <a:ext cx="78781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ru-RU" sz="3600" b="1" dirty="0">
                <a:latin typeface="Times New Roman"/>
                <a:cs typeface="Times New Roman"/>
              </a:rPr>
              <a:t>Основные задачи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994" y="2607132"/>
            <a:ext cx="8069450" cy="415498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/>
              <a:t>Изучение дефектов FDM-печати и выбор целевого дефекта для автоматического обнаружения</a:t>
            </a:r>
            <a:r>
              <a:rPr lang="ru-RU" sz="2400" dirty="0">
                <a:cs typeface="Times New Roman"/>
              </a:rPr>
              <a:t>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cs typeface="Times New Roman"/>
              </a:rPr>
              <a:t>Проектирование, сборка и отладка аппаратно-программного комплекса экспериментального 3D-принтера.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cs typeface="Times New Roman"/>
              </a:rPr>
              <a:t>Сбор и подготовка данных для обучения нейросети и обучение модели обнаружения целевого дефекта.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cs typeface="Times New Roman"/>
              </a:rPr>
              <a:t>Разработка внешней системы контроля печати с автоматическим обнаружением дефектов.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cs typeface="Times New Roman"/>
              </a:rPr>
              <a:t>Тестирование работы системы контроля и 3D-принтера в процессе печати.</a:t>
            </a:r>
          </a:p>
        </p:txBody>
      </p:sp>
      <p:sp>
        <p:nvSpPr>
          <p:cNvPr id="6" name="Замещающий номер слайда 4">
            <a:extLst>
              <a:ext uri="{FF2B5EF4-FFF2-40B4-BE49-F238E27FC236}">
                <a16:creationId xmlns:a16="http://schemas.microsoft.com/office/drawing/2014/main" id="{C78DB24C-FC20-2FE0-98E7-F598D184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2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CC29E7-47AE-4C1B-A66A-06BAB8AB4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3176"/>
            <a:ext cx="7886700" cy="712868"/>
          </a:xfrm>
        </p:spPr>
        <p:txBody>
          <a:bodyPr wrap="square" lIns="91440" tIns="45720" rIns="91440" bIns="45720">
            <a:noAutofit/>
          </a:bodyPr>
          <a:lstStyle>
            <a:defPPr algn="ctr"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 чем заключается проблема:</a:t>
            </a:r>
            <a:endParaRPr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7A7AC3B3-0D3D-46AF-A9AF-3FA15E2C3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088886" y="6493511"/>
            <a:ext cx="2057400" cy="365125"/>
          </a:xfrm>
        </p:spPr>
        <p:txBody>
          <a:bodyPr wrap="square" lIns="91440" tIns="45720" rIns="91440" bIns="45720">
            <a:noAutofit/>
          </a:bodyPr>
          <a:lstStyle>
            <a:def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fld id="{D6ED8A53-8D2F-4011-BE06-EDB0774336BA}" type="slidenum"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fld>
            <a:endParaRPr sz="200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98C53-8330-9192-D210-4F5703BD6F05}"/>
              </a:ext>
            </a:extLst>
          </p:cNvPr>
          <p:cNvSpPr>
            <a:spLocks noGrp="1"/>
          </p:cNvSpPr>
          <p:nvPr/>
        </p:nvSpPr>
        <p:spPr>
          <a:xfrm>
            <a:off x="277898" y="906051"/>
            <a:ext cx="5718578" cy="173736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</a:t>
            </a:r>
            <a:r>
              <a:rPr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отлипании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или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смещении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модели</a:t>
            </a:r>
            <a:r>
              <a:rPr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пластик</a:t>
            </a:r>
            <a:r>
              <a:rPr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накапливается</a:t>
            </a:r>
            <a:r>
              <a:rPr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в </a:t>
            </a:r>
            <a:r>
              <a:rPr sz="18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виде</a:t>
            </a:r>
            <a:r>
              <a:rPr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хаотичных</a:t>
            </a:r>
            <a:r>
              <a:rPr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нитей</a:t>
            </a:r>
            <a:r>
              <a:rPr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— </a:t>
            </a:r>
            <a:r>
              <a:rPr sz="18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возникает</a:t>
            </a:r>
            <a:r>
              <a:rPr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дефект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«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спагетти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r>
              <a:rPr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027D3F-6BC8-2110-F2D0-39287E8FAFD7}"/>
              </a:ext>
            </a:extLst>
          </p:cNvPr>
          <p:cNvSpPr>
            <a:spLocks noGrp="1"/>
          </p:cNvSpPr>
          <p:nvPr/>
        </p:nvSpPr>
        <p:spPr>
          <a:xfrm>
            <a:off x="6002915" y="5906647"/>
            <a:ext cx="2868613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t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1 – Дефект типа «спагетти»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03B4DB-8439-9822-A8EA-B3F1D6AB4219}"/>
              </a:ext>
            </a:extLst>
          </p:cNvPr>
          <p:cNvSpPr>
            <a:spLocks noGrp="1"/>
          </p:cNvSpPr>
          <p:nvPr/>
        </p:nvSpPr>
        <p:spPr>
          <a:xfrm>
            <a:off x="277897" y="3056229"/>
            <a:ext cx="5718578" cy="2560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dirty="0" err="1"/>
              <a:t>Последствия</a:t>
            </a:r>
            <a:r>
              <a:rPr dirty="0"/>
              <a:t> и </a:t>
            </a:r>
            <a:r>
              <a:rPr dirty="0" err="1"/>
              <a:t>способ</a:t>
            </a:r>
            <a:r>
              <a:rPr dirty="0"/>
              <a:t> </a:t>
            </a:r>
            <a:r>
              <a:rPr dirty="0" err="1"/>
              <a:t>решения</a:t>
            </a:r>
            <a:r>
              <a:rPr dirty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0"/>
              </a:spcAft>
              <a:buChar char="•"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dirty="0" err="1"/>
              <a:t>Продолжение</a:t>
            </a:r>
            <a:r>
              <a:rPr dirty="0"/>
              <a:t> </a:t>
            </a:r>
            <a:r>
              <a:rPr dirty="0" err="1"/>
              <a:t>неудачной</a:t>
            </a:r>
            <a:r>
              <a:rPr dirty="0"/>
              <a:t> </a:t>
            </a:r>
            <a:r>
              <a:rPr dirty="0" err="1"/>
              <a:t>печати</a:t>
            </a:r>
            <a:r>
              <a:rPr dirty="0"/>
              <a:t> </a:t>
            </a:r>
            <a:r>
              <a:rPr dirty="0" err="1"/>
              <a:t>приводит</a:t>
            </a:r>
            <a:r>
              <a:rPr dirty="0"/>
              <a:t> к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потере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материала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и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машинного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времени</a:t>
            </a:r>
            <a:r>
              <a:rPr dirty="0"/>
              <a:t>.</a:t>
            </a:r>
          </a:p>
          <a:p>
            <a:pPr marL="228600" indent="-228600">
              <a:spcBef>
                <a:spcPts val="0"/>
              </a:spcBef>
              <a:spcAft>
                <a:spcPts val="0"/>
              </a:spcAft>
              <a:buChar char="•"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Камера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и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свёрточная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нейронная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сеть</a:t>
            </a:r>
            <a:r>
              <a:rPr dirty="0"/>
              <a:t> </a:t>
            </a:r>
            <a:r>
              <a:rPr dirty="0" err="1"/>
              <a:t>обнаруживают</a:t>
            </a:r>
            <a:r>
              <a:rPr dirty="0"/>
              <a:t> «</a:t>
            </a:r>
            <a:r>
              <a:rPr dirty="0" err="1"/>
              <a:t>спагетти</a:t>
            </a:r>
            <a:r>
              <a:rPr dirty="0"/>
              <a:t>»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изображениям</a:t>
            </a:r>
            <a:r>
              <a:rPr dirty="0"/>
              <a:t>.</a:t>
            </a:r>
          </a:p>
          <a:p>
            <a:pPr marL="228600" indent="-228600">
              <a:spcBef>
                <a:spcPts val="0"/>
              </a:spcBef>
              <a:spcAft>
                <a:spcPts val="0"/>
              </a:spcAft>
              <a:buChar char="•"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dirty="0"/>
              <a:t>В </a:t>
            </a:r>
            <a:r>
              <a:rPr dirty="0" err="1"/>
              <a:t>исследовании</a:t>
            </a:r>
            <a:r>
              <a:rPr dirty="0"/>
              <a:t> [1] </a:t>
            </a:r>
            <a:r>
              <a:rPr dirty="0" err="1"/>
              <a:t>точность</a:t>
            </a:r>
            <a:r>
              <a:rPr dirty="0"/>
              <a:t> </a:t>
            </a:r>
            <a:r>
              <a:rPr dirty="0" err="1"/>
              <a:t>классификации</a:t>
            </a:r>
            <a:r>
              <a:rPr dirty="0"/>
              <a:t> </a:t>
            </a:r>
            <a:r>
              <a:rPr dirty="0" err="1"/>
              <a:t>составила</a:t>
            </a:r>
            <a:r>
              <a:rPr dirty="0"/>
              <a:t> 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96 %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100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тестовых</a:t>
            </a:r>
            <a:r>
              <a:rPr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кадрах</a:t>
            </a:r>
            <a:r>
              <a:rPr dirty="0"/>
              <a:t>. </a:t>
            </a:r>
            <a:r>
              <a:rPr dirty="0" err="1"/>
              <a:t>Метод</a:t>
            </a:r>
            <a:r>
              <a:rPr dirty="0"/>
              <a:t> </a:t>
            </a:r>
            <a:r>
              <a:rPr dirty="0" err="1"/>
              <a:t>предусматривает</a:t>
            </a:r>
            <a:r>
              <a:rPr dirty="0"/>
              <a:t> </a:t>
            </a:r>
            <a:r>
              <a:rPr dirty="0" err="1"/>
              <a:t>предупреждение</a:t>
            </a:r>
            <a:r>
              <a:rPr dirty="0"/>
              <a:t> </a:t>
            </a:r>
            <a:r>
              <a:rPr dirty="0" err="1"/>
              <a:t>оператора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остановку</a:t>
            </a:r>
            <a:r>
              <a:rPr dirty="0"/>
              <a:t> </a:t>
            </a:r>
            <a:r>
              <a:rPr dirty="0" err="1"/>
              <a:t>печати</a:t>
            </a:r>
            <a:r>
              <a:rPr dirty="0"/>
              <a:t>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75C9600-E24B-4427-841C-17EE22ED7C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072" r="32072"/>
          <a:stretch>
            <a:fillRect/>
          </a:stretch>
        </p:blipFill>
        <p:spPr>
          <a:xfrm>
            <a:off x="6212878" y="709255"/>
            <a:ext cx="2446242" cy="5175504"/>
          </a:xfrm>
          <a:prstGeom prst="rect">
            <a:avLst/>
          </a:prstGeom>
        </p:spPr>
      </p:pic>
      <p:sp>
        <p:nvSpPr>
          <p:cNvPr id="32" name="Литературный источник">
            <a:extLst>
              <a:ext uri="{FF2B5EF4-FFF2-40B4-BE49-F238E27FC236}">
                <a16:creationId xmlns:a16="http://schemas.microsoft.com/office/drawing/2014/main" id="{BCB7E54A-107D-4D70-A4F5-88440DD0E3D7}"/>
              </a:ext>
            </a:extLst>
          </p:cNvPr>
          <p:cNvSpPr>
            <a:spLocks noGrp="1"/>
          </p:cNvSpPr>
          <p:nvPr/>
        </p:nvSpPr>
        <p:spPr>
          <a:xfrm>
            <a:off x="277940" y="5906643"/>
            <a:ext cx="5718620" cy="584740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45720" rIns="91440" bIns="45720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[1] Kim H., Lee H., Kim J.-S., Ahn S.-H., 2020.</a:t>
            </a:r>
          </a:p>
          <a:p>
            <a: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DOI: 10.1007/s00170-020-06201-0.</a:t>
            </a:r>
          </a:p>
        </p:txBody>
      </p:sp>
    </p:spTree>
    <p:extLst>
      <p:ext uri="{BB962C8B-B14F-4D97-AF65-F5344CB8AC3E}">
        <p14:creationId xmlns:p14="http://schemas.microsoft.com/office/powerpoint/2010/main" val="201105058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503</Words>
  <Application>Microsoft Office PowerPoint</Application>
  <DocSecurity>0</DocSecurity>
  <PresentationFormat>Экран (4:3)</PresentationFormat>
  <Paragraphs>34</Paragraphs>
  <Slides>3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Тема Office</vt:lpstr>
      <vt:lpstr>Автоматическое выявление дефектов в процессе 3D-печати</vt:lpstr>
      <vt:lpstr>Цель работы</vt:lpstr>
      <vt:lpstr>В чем заключается проблема: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Yawllen</cp:lastModifiedBy>
  <cp:revision>7</cp:revision>
  <dcterms:created xsi:type="dcterms:W3CDTF">2026-10-07T12:47:26Z</dcterms:created>
  <dcterms:modified xsi:type="dcterms:W3CDTF">2026-10-07T14:48:28Z</dcterms:modified>
</cp:coreProperties>
</file>