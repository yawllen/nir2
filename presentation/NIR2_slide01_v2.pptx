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256" r:id="rId4"/>
    <p:sldId id="275" r:id="rId5"/>
    <p:sldId id="268" r:id="rId6"/>
    <p:sldId id="273" r:id="rId7"/>
    <p:sldId id="270" r:id="rId8"/>
    <p:sldId id="271" r:id="rId9"/>
    <p:sldId id="272" r:id="rId10"/>
    <p:sldId id="274" r:id="rId11"/>
    <p:sldId id="266" r:id="rId12"/>
  </p:sldIdLst>
  <p:sldSz cx="9144000" cy="6858000" type="screen4x3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0" y="7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Титульные сведения: C:/Users/Yawllen/Documents/GitHub/Nir2/Title.tex. Группа ИВТм-251 и научный руководитель А. С. Астахов уточнены пользователем. Визуальный шаблон: первый слайд C:/Users/Yawllen/Downloads/Eshenko_VKR.pptx.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4815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07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438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4389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3981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9846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02733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98948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5953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388F-DEE8-4999-80DA-4B08D9C6AE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6C57B-B7B9-44ED-8C6F-DD39ABA58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E8F56-F9DD-4EBB-8D7D-653AD4D57F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80A1-B1C3-40DF-A5E5-D24C706F66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9F49-A4A0-4CDA-B3A7-871709CE7D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D0A74-FEAB-4613-88EF-54A0A6D46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C022A-C158-40E5-B7EE-7ECD7BFA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51D32F-F627-436D-8334-BEAC64706D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CE828-67B2-4444-929F-5321B45AA5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9A65A-E6E0-4F5F-AFDD-97A08A57B0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B6B0C-7344-4431-97A8-11EDF4B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B8E9C-3084-4625-8E03-F9FED502F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AAF5B-621A-4438-B4C6-6F2CA53411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4CF84-34C8-420C-9C94-37AC72D88D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8660F-AB7F-403A-AA16-3575B45A30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C073-DA93-462D-92EF-EAB28C3BF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DF1C2-8D54-44FD-B541-0BF158C77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CA6C0-736D-4A89-97F5-B0013D6D71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2AC1-B710-47D7-A39F-322CF1707C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DA8DB-42F1-4912-8081-4426A6F347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B7B3AA-4994-402A-9168-DC2C25EF2E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9060-334F-4364-A593-C6A5F1C90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82AE4-D909-420E-A442-752611BD7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E7F8D-A36A-4049-808E-063A552764E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34DA7-E5A8-4668-BC62-EC8C60B4E2C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8618A-04E8-4CCE-A9E4-4A649FDE190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91C88F-9BDC-48E9-9C80-737529C09A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C377B7-C9A0-47AD-8ED5-611704EEF9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71D917-B3D4-44AE-B364-D7812D1A40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D367-135D-4516-AC8A-A92E8201C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38541-2621-4C5F-AA05-B9D6C59A18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53E81-B4C5-4C85-9FEC-B133C0F724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03A86-A27B-4838-A9BE-FDFF85BBA1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229F4D-0648-4B9E-8A6F-1B7EA1654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C727DE-4D07-4459-B460-69CA08CDA0B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7132C-A107-42A9-A593-E2F1BA9CB9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7406-F75E-40A2-9B5A-F27948D0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7158-6170-4FC7-856A-8205BBAF3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558BE-EDBE-4F50-A862-6DBA416D173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8FB7D-9228-41EB-BE6B-599554EA577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4B719-B4B7-4F42-BD3F-01EC144169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89AC8-8D43-44CB-AAB7-9AE138C6C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19385-C566-4337-BE85-EE2C6C9D5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B96CEB-8A1B-447C-A05B-53A238D04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Вставка рисунка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73D77-200D-4493-A725-400D2744AA4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3FF7D-FDA6-4E12-99E3-388C062D8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235E-A01B-4009-A5F5-6642D81957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73340-F8F1-40F0-9881-4514E0D96E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B8FD7-CE2D-40A2-AB93-AC97CB94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EDC243-3A9A-42D3-A38A-95EFB4021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A6133-9BFC-47CE-BAF1-E9AA522056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88FD5-1CC6-45E6-A6B3-31A633082CD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C1CFA-A7E3-4580-94FF-ED73E79675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5C103D-EC12-4503-8554-224CFE971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C51D8-B839-44CA-A112-44746FCE1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B89CB-3176-482E-ADAC-8096540C4D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0CCB3-9BD0-4474-8AE4-C8F1EB2E33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441-6A01-45BB-BF93-75993D6571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24AF1C-5263-45DE-B0BF-4C7856D7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C9B1E-1B94-4341-9B43-62399FE44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47B43-022E-43C0-9C4C-EDA69A2326C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76C5F-40E1-410B-BAA7-B63D1B24D54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494A4-AEEB-44DD-AC94-FA16A78739F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D8A53-8D2F-4011-BE06-EDB0774336B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9197F-1F94-4487-96B4-5CC8E191D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126" y="1660941"/>
            <a:ext cx="7966787" cy="1467730"/>
          </a:xfrm>
        </p:spPr>
        <p:txBody>
          <a:bodyPr vert="horz" lIns="91440" tIns="45720" rIns="91440" bIns="45720" anchor="ctr">
            <a:noAutofit/>
          </a:bodyPr>
          <a:lstStyle>
            <a:defPPr algn="ctr"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Автоматическое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выявление</a:t>
            </a:r>
            <a:endParaRPr sz="3600" b="1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дефектов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в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процессе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3D-печати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F81F08-5D1E-4085-9EBA-0CC100597D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393" y="4487371"/>
            <a:ext cx="7970520" cy="1749400"/>
          </a:xfrm>
        </p:spPr>
        <p:txBody>
          <a:bodyPr vert="horz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ИВТм-2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                                     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Ешенко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Даниил Ярославович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практики:     к. ф.-м. н.,</a:t>
            </a:r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 каф. ИСКM, Иванченко Г. С.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Научный консультант:                          ст. преп. каф. ИСКМ, Астахов А.С.</a:t>
            </a:r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F1438-5AC9-43E1-AF5B-1B0FBA2C3062}"/>
              </a:ext>
            </a:extLst>
          </p:cNvPr>
          <p:cNvSpPr>
            <a:spLocks noGrp="1"/>
          </p:cNvSpPr>
          <p:nvPr/>
        </p:nvSpPr>
        <p:spPr>
          <a:xfrm>
            <a:off x="714393" y="321974"/>
            <a:ext cx="796852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Волгоградский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государственный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университет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Институт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математики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технологий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Кафедра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систем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компьютерного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моделирования</a:t>
            </a:r>
            <a:endParaRPr sz="200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4BB57-FAB3-D4FF-BB40-FB880A2615B3}"/>
              </a:ext>
            </a:extLst>
          </p:cNvPr>
          <p:cNvSpPr>
            <a:spLocks noGrp="1"/>
          </p:cNvSpPr>
          <p:nvPr/>
        </p:nvSpPr>
        <p:spPr>
          <a:xfrm>
            <a:off x="711175" y="3377449"/>
            <a:ext cx="7971738" cy="1109922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Научно-исследовательская работа по направлению</a:t>
            </a:r>
            <a:endParaRPr sz="2000"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09.04.01 «Информатика и вычислительная техника»</a:t>
            </a:r>
            <a:endParaRPr sz="200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EA943AF4-237A-8CA5-C20E-0B6C8CCD2DB0}"/>
              </a:ext>
            </a:extLst>
          </p:cNvPr>
          <p:cNvSpPr>
            <a:spLocks noGrp="1"/>
          </p:cNvSpPr>
          <p:nvPr/>
        </p:nvSpPr>
        <p:spPr>
          <a:xfrm>
            <a:off x="591820" y="6383842"/>
            <a:ext cx="7960360" cy="297180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 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4D423A90-34D2-345E-BA07-2F7DEF1B1097}"/>
              </a:ext>
            </a:extLst>
          </p:cNvPr>
          <p:cNvSpPr txBox="1">
            <a:spLocks/>
          </p:cNvSpPr>
          <p:nvPr/>
        </p:nvSpPr>
        <p:spPr>
          <a:xfrm>
            <a:off x="722553" y="5168483"/>
            <a:ext cx="7960360" cy="10998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2443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3432" y="-5479"/>
            <a:ext cx="7877136" cy="75816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5440" y="752683"/>
            <a:ext cx="7885128" cy="1170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 — разработка и тестирование версии 3D-принтера с системой обнаружения дефектов в процессе печати и механизмом своевременного реагирования.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4087" y="1960801"/>
            <a:ext cx="78781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задачи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994" y="2607132"/>
            <a:ext cx="8069450" cy="41549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Изучение дефектов FDM-печати и выбор целевого дефекта для автоматического обнаружения.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Проектирование, сборка и отладка аппаратно-программного комплекса экспериментального 3D-принтера.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Сбор и подготовка данных для обучения нейросети и обучение модели обнаружения целевого дефекта.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внешней системы контроля печати с автоматическим обнаружением дефектов.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работы системы контроля и 3D-принтера в процессе печати.</a:t>
            </a:r>
          </a:p>
        </p:txBody>
      </p:sp>
      <p:sp>
        <p:nvSpPr>
          <p:cNvPr id="6" name="Замещающий номер слайда 4">
            <a:extLst>
              <a:ext uri="{FF2B5EF4-FFF2-40B4-BE49-F238E27FC236}">
                <a16:creationId xmlns:a16="http://schemas.microsoft.com/office/drawing/2014/main" id="{C78DB24C-FC20-2FE0-98E7-F598D184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9FE507C-2C48-A423-9756-13891072B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3" t="13068" r="8466" b="3458"/>
          <a:stretch/>
        </p:blipFill>
        <p:spPr>
          <a:xfrm>
            <a:off x="5021065" y="3247173"/>
            <a:ext cx="3921040" cy="255587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CC29E7-47AE-4C1B-A66A-06BAB8AB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116476"/>
            <a:ext cx="7886700" cy="712868"/>
          </a:xfrm>
        </p:spPr>
        <p:txBody>
          <a:bodyPr wrap="square" lIns="91440" tIns="45720" rIns="91440" bIns="45720">
            <a:noAutofit/>
          </a:bodyPr>
          <a:lstStyle>
            <a:defPPr algn="ctr"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чем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заключается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проблема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4000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7A7AC3B3-0D3D-46AF-A9AF-3FA15E2C3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088886" y="6493511"/>
            <a:ext cx="2057400" cy="365125"/>
          </a:xfrm>
        </p:spPr>
        <p:txBody>
          <a:bodyPr wrap="square" lIns="91440" tIns="45720" rIns="91440" bIns="45720">
            <a:noAutofit/>
          </a:bodyPr>
          <a:lstStyle>
            <a:def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fld id="{D6ED8A53-8D2F-4011-BE06-EDB0774336BA}" type="slidenum"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fld>
            <a:endParaRPr sz="200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98C53-8330-9192-D210-4F5703BD6F05}"/>
              </a:ext>
            </a:extLst>
          </p:cNvPr>
          <p:cNvSpPr>
            <a:spLocks noGrp="1"/>
          </p:cNvSpPr>
          <p:nvPr/>
        </p:nvSpPr>
        <p:spPr>
          <a:xfrm>
            <a:off x="277897" y="597203"/>
            <a:ext cx="5948583" cy="229741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 фермах 3D-принтеров в процессе печати могут возникать сбои, вызванные различными факторами. Такие дефекты, как отлипание, расслоение или смещение слоёв, в конечном итоге могут привести к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критическому дефекту «спагетти»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при котором пластик начинает хаотично укладываться в воздухе. Такой дефект приводит к перерасходу материала, а в отдельных случаях может стать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причиной повреждения 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самого 3D-принтера.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027D3F-6BC8-2110-F2D0-39287E8FAFD7}"/>
              </a:ext>
            </a:extLst>
          </p:cNvPr>
          <p:cNvSpPr>
            <a:spLocks noGrp="1"/>
          </p:cNvSpPr>
          <p:nvPr/>
        </p:nvSpPr>
        <p:spPr>
          <a:xfrm>
            <a:off x="6440105" y="2547592"/>
            <a:ext cx="2182057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t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1 –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Дефект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типа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«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спагетти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</a:p>
        </p:txBody>
      </p:sp>
      <p:pic>
        <p:nvPicPr>
          <p:cNvPr id="4" name="Рисунок 3" descr="Изображение выглядит как искусство, дизайн, соединитель, свет&#10;&#10;Содержимое, созданное ИИ, может быть неверным.">
            <a:extLst>
              <a:ext uri="{FF2B5EF4-FFF2-40B4-BE49-F238E27FC236}">
                <a16:creationId xmlns:a16="http://schemas.microsoft.com/office/drawing/2014/main" id="{AE67ED3C-CB37-618A-EEBF-9C9FF1AB5D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1" t="18812" r="21153" b="24354"/>
          <a:stretch/>
        </p:blipFill>
        <p:spPr>
          <a:xfrm>
            <a:off x="6333293" y="704535"/>
            <a:ext cx="2288869" cy="1792981"/>
          </a:xfrm>
          <a:prstGeom prst="rect">
            <a:avLst/>
          </a:prstGeom>
          <a:ln w="28575">
            <a:noFill/>
          </a:ln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452C65C1-2992-0840-D7B0-DF2AD9057D63}"/>
              </a:ext>
            </a:extLst>
          </p:cNvPr>
          <p:cNvSpPr>
            <a:spLocks noGrp="1"/>
          </p:cNvSpPr>
          <p:nvPr/>
        </p:nvSpPr>
        <p:spPr>
          <a:xfrm>
            <a:off x="277897" y="3017804"/>
            <a:ext cx="4637770" cy="279159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Проблему удалось подтвердить на ферме Волгоградской компании «</a:t>
            </a:r>
            <a:r>
              <a:rPr lang="ru-RU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». По накопленной статистике принтеров с фермы, 26,7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% заданий были отменены оператором вручную из-за подобных сбоев. Статистика имеет погрешность, так как часть успешных заданий — это печати, когда оператор не мог отменить задачу, хотя сбой был, а часть отмен не связаны со сбоем.</a:t>
            </a:r>
            <a:endParaRPr lang="ru-RU" dirty="0"/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DC9D2F2B-4F62-AFAE-5BC3-F6D246AAE8E4}"/>
              </a:ext>
            </a:extLst>
          </p:cNvPr>
          <p:cNvSpPr>
            <a:spLocks noGrp="1"/>
          </p:cNvSpPr>
          <p:nvPr/>
        </p:nvSpPr>
        <p:spPr>
          <a:xfrm>
            <a:off x="4868975" y="601476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TextBox 2">
            <a:extLst>
              <a:ext uri="{FF2B5EF4-FFF2-40B4-BE49-F238E27FC236}">
                <a16:creationId xmlns:a16="http://schemas.microsoft.com/office/drawing/2014/main" id="{776FE2EE-EE34-7E14-84FE-9C2304D04340}"/>
              </a:ext>
            </a:extLst>
          </p:cNvPr>
          <p:cNvSpPr>
            <a:spLocks noGrp="1"/>
          </p:cNvSpPr>
          <p:nvPr/>
        </p:nvSpPr>
        <p:spPr>
          <a:xfrm>
            <a:off x="277897" y="5932581"/>
            <a:ext cx="4637770" cy="74349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Предлагаемое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решение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: мониторинг печати с помощью методов машинного зрения.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1050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Подготовка к обучению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571998" y="709017"/>
            <a:ext cx="419789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16 129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исходных кадров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Обучающая выборка включает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9 787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кадров,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3 005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кадров, тестовая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3 337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кадров. Их доли составляют 60,6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%, 18,7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и 20,7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соответственно. В обучающей выборке представлены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2 761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 со «спагетти»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7 026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 без видимых признаков этого дефекта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0428" y="3410116"/>
            <a:ext cx="3869672" cy="31393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каждой эпохе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5 522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показа изображений, по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2 761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каждый класс. После аугментации обучающая выборка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29 361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изображение: к каждому исходному кадру добавлены два варианта.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тестовая выборки содержат только исходные изображения и не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аугментируются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DAC2E642-4E22-B5B0-DB31-19292E122F11}"/>
              </a:ext>
            </a:extLst>
          </p:cNvPr>
          <p:cNvSpPr>
            <a:spLocks noGrp="1"/>
          </p:cNvSpPr>
          <p:nvPr/>
        </p:nvSpPr>
        <p:spPr>
          <a:xfrm>
            <a:off x="4634025" y="597031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распределения исходных кадров по выборкам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2B5EBF5-FBE6-336C-42E4-49A8C5D8A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102" y="3317275"/>
            <a:ext cx="3976794" cy="2630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97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Подготовка к обучению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571998" y="709017"/>
            <a:ext cx="419789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16 129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исходных кадров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Обучающая выборка включает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9 787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кадров,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3 005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кадр, тестовая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3 337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кадров. Их доли составляют 60,6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%, 18,7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и 20,7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соответственно. В обучающей выборке представлены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2 751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 со «спагетти»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7 017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 без видимых признаков этого дефекта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0428" y="3410116"/>
            <a:ext cx="3869672" cy="31393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каждой эпохе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5 502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показа изображений, по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2 751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каждый класс. После аугментации обучающая выборка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29 304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изображения: к каждому исходному кадру добавлены два варианта.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тестовая выборки содержат только исходные изображения и не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аугментируются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DAC2E642-4E22-B5B0-DB31-19292E122F11}"/>
              </a:ext>
            </a:extLst>
          </p:cNvPr>
          <p:cNvSpPr>
            <a:spLocks noGrp="1"/>
          </p:cNvSpPr>
          <p:nvPr/>
        </p:nvSpPr>
        <p:spPr>
          <a:xfrm>
            <a:off x="4634025" y="597031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распределения исходных кадров по выборкам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2B5EBF5-FBE6-336C-42E4-49A8C5D8A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102" y="3317275"/>
            <a:ext cx="3976794" cy="2630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64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Результат обучения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771553" y="724829"/>
            <a:ext cx="4197892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16 014 кадров 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4 574 кадра со «спагетти» и 11 440 кадров без видимых признаков этого дефекта. Выборки делились по соотношению 60/20/20.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7537" y="3466535"/>
            <a:ext cx="3869672" cy="2862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каждой эпохи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использовались все 2 746 кадров со «спагетти» и столько же случайно выбранных кадров без дефекта. Всего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5 492 изображения за эпоху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тестовая выборки содержат только исходные изображения без аугментаций.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155F7BCE-57B1-4886-841D-DAD17BC5CA7C}"/>
              </a:ext>
            </a:extLst>
          </p:cNvPr>
          <p:cNvSpPr>
            <a:spLocks noGrp="1"/>
          </p:cNvSpPr>
          <p:nvPr/>
        </p:nvSpPr>
        <p:spPr>
          <a:xfrm>
            <a:off x="4703875" y="5554051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4,5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25447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Обработка на сервере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7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AB50E-3BD8-57A2-B047-497A3FD50648}"/>
              </a:ext>
            </a:extLst>
          </p:cNvPr>
          <p:cNvSpPr txBox="1"/>
          <p:nvPr/>
        </p:nvSpPr>
        <p:spPr>
          <a:xfrm>
            <a:off x="186213" y="875407"/>
            <a:ext cx="2920514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dirty="0">
                <a:latin typeface="Times New Roman"/>
                <a:ea typeface="+mn-lt"/>
                <a:cs typeface="+mn-lt"/>
              </a:rPr>
              <a:t>Роль сервера: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b="1" dirty="0">
                <a:latin typeface="Times New Roman"/>
                <a:ea typeface="+mn-lt"/>
                <a:cs typeface="+mn-lt"/>
              </a:rPr>
              <a:t>Централизованная </a:t>
            </a:r>
            <a:r>
              <a:rPr lang="ru-RU" dirty="0">
                <a:latin typeface="Times New Roman"/>
                <a:ea typeface="+mn-lt"/>
                <a:cs typeface="+mn-lt"/>
              </a:rPr>
              <a:t>обработка запросов.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dirty="0">
                <a:latin typeface="Times New Roman"/>
                <a:ea typeface="+mn-lt"/>
                <a:cs typeface="+mn-lt"/>
              </a:rPr>
              <a:t>Выполнение </a:t>
            </a:r>
            <a:r>
              <a:rPr lang="ru-RU" b="1" dirty="0">
                <a:latin typeface="Times New Roman"/>
                <a:ea typeface="+mn-lt"/>
                <a:cs typeface="+mn-lt"/>
              </a:rPr>
              <a:t>ресурсоёмких </a:t>
            </a:r>
            <a:r>
              <a:rPr lang="ru-RU" dirty="0">
                <a:latin typeface="Times New Roman"/>
                <a:ea typeface="+mn-lt"/>
                <a:cs typeface="+mn-lt"/>
              </a:rPr>
              <a:t>задач.</a:t>
            </a:r>
            <a:endParaRPr lang="ru-RU" dirty="0">
              <a:latin typeface="Times New Roman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2968" y="875407"/>
            <a:ext cx="5639137" cy="50935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86213" y="2593566"/>
            <a:ext cx="2920514" cy="3416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получает кадр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камеры и идентификаторы сессии. После кадр анализируется нейросетью, которая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определяет наличие «спагетти»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возвращает признак дефекта и числовую оценку модели вместе с исходными идентификаторами, связывающими результат с конкретным кадром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B2494F24-8111-2CAC-A358-3AE7239D4D1C}"/>
              </a:ext>
            </a:extLst>
          </p:cNvPr>
          <p:cNvSpPr>
            <a:spLocks noGrp="1"/>
          </p:cNvSpPr>
          <p:nvPr/>
        </p:nvSpPr>
        <p:spPr>
          <a:xfrm>
            <a:off x="4085971" y="6009005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Блок-схема серверной обработки кадров и определения дефектов FDM-печати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65725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Обработка на принтере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8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06727" y="875407"/>
            <a:ext cx="5905217" cy="52953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32056" y="875407"/>
            <a:ext cx="2917990" cy="535531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Единичное обнаружение дефекта не приводит к отмене задания. Локальный модуль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проверяет принадлежность результата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текущей печатной сессии и учитывает последовательные срабатывания. Отрицательный или неопределённый результат сбрасывает счётчик.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трёх последовательных обнаружений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«спагетти» повторно проверяется активность сессии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формируется команда отмены печати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E5B04886-22A1-2CCD-9C65-F1ADEC0EB19F}"/>
              </a:ext>
            </a:extLst>
          </p:cNvPr>
          <p:cNvSpPr>
            <a:spLocks noGrp="1"/>
          </p:cNvSpPr>
          <p:nvPr/>
        </p:nvSpPr>
        <p:spPr>
          <a:xfrm>
            <a:off x="3723995" y="6170765"/>
            <a:ext cx="4670679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7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Блок-схема проверки результатов обнаружения дефекта и отмены FDM-печати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8AF7D2B0-5020-6F43-9662-A5B7C34B40EB}"/>
              </a:ext>
            </a:extLst>
          </p:cNvPr>
          <p:cNvSpPr>
            <a:spLocks noGrp="1"/>
          </p:cNvSpPr>
          <p:nvPr/>
        </p:nvSpPr>
        <p:spPr>
          <a:xfrm>
            <a:off x="339471" y="5651599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7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</a:p>
        </p:txBody>
      </p:sp>
    </p:spTree>
    <p:extLst>
      <p:ext uri="{BB962C8B-B14F-4D97-AF65-F5344CB8AC3E}">
        <p14:creationId xmlns:p14="http://schemas.microsoft.com/office/powerpoint/2010/main" val="1366394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4546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Электросхема 3</a:t>
            </a:r>
            <a:r>
              <a:rPr lang="en-US" sz="4000" dirty="0">
                <a:latin typeface="Times New Roman"/>
                <a:ea typeface="Calibri"/>
                <a:cs typeface="Times New Roman"/>
              </a:rPr>
              <a:t>D-</a:t>
            </a:r>
            <a:r>
              <a:rPr lang="ru-RU" sz="4000" dirty="0">
                <a:latin typeface="Times New Roman"/>
                <a:ea typeface="Calibri"/>
                <a:cs typeface="Times New Roman"/>
              </a:rPr>
              <a:t>принтера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9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E875F94-D2E7-0E2D-5267-8B670B1C8A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681" y="603944"/>
            <a:ext cx="8440637" cy="370864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1BDEBA-A42A-8680-F3A2-087C760E6CFE}"/>
              </a:ext>
            </a:extLst>
          </p:cNvPr>
          <p:cNvSpPr txBox="1"/>
          <p:nvPr/>
        </p:nvSpPr>
        <p:spPr>
          <a:xfrm>
            <a:off x="254001" y="4734036"/>
            <a:ext cx="8487517" cy="203132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электрической части разрабатываемого 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принтера выбрана плата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MKS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Robin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Nano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V1.2 (7)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драйвера TMC2209. Плата управляет двигателями (5), нагревателями (1, 2) и вентиляторами, а также получает сигналы с датчиков (6).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Raspberry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3B (10)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обеспечивает подключение камеры (9), сенсорного экрана (8) и обменивается данными с управляющей платой по UART. Блок питания (3) обеспечивает силовые узлы напряжением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 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DC-DC-преобразователь (4) понижает его до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 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Raspberry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подключённой периферии.</a:t>
            </a:r>
          </a:p>
        </p:txBody>
      </p:sp>
      <p:sp>
        <p:nvSpPr>
          <p:cNvPr id="16" name="TextBox 26">
            <a:extLst>
              <a:ext uri="{FF2B5EF4-FFF2-40B4-BE49-F238E27FC236}">
                <a16:creationId xmlns:a16="http://schemas.microsoft.com/office/drawing/2014/main" id="{6C4BDD25-6E44-8F04-93A8-3BDF96080B11}"/>
              </a:ext>
            </a:extLst>
          </p:cNvPr>
          <p:cNvSpPr>
            <a:spLocks noGrp="1"/>
          </p:cNvSpPr>
          <p:nvPr/>
        </p:nvSpPr>
        <p:spPr>
          <a:xfrm>
            <a:off x="1313146" y="4181848"/>
            <a:ext cx="6517706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Схема электрической коммутации компонентов 3D-принтера </a:t>
            </a:r>
          </a:p>
        </p:txBody>
      </p:sp>
    </p:spTree>
    <p:extLst>
      <p:ext uri="{BB962C8B-B14F-4D97-AF65-F5344CB8AC3E}">
        <p14:creationId xmlns:p14="http://schemas.microsoft.com/office/powerpoint/2010/main" val="128376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4546"/>
            <a:ext cx="7886700" cy="712868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/>
                <a:ea typeface="Calibri"/>
                <a:cs typeface="Times New Roman"/>
              </a:rPr>
              <a:t>Тестирование на реальной печати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10</a:t>
            </a:fld>
            <a:endParaRPr lang="ru-RU" sz="200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1BDEBA-A42A-8680-F3A2-087C760E6CFE}"/>
              </a:ext>
            </a:extLst>
          </p:cNvPr>
          <p:cNvSpPr txBox="1"/>
          <p:nvPr/>
        </p:nvSpPr>
        <p:spPr>
          <a:xfrm>
            <a:off x="203200" y="4078032"/>
            <a:ext cx="3882390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процессе печати после запуска контролируемого сбоя, модель постепенно увеличивала оценку обнаружения «спагетти». Через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Через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 мин 21 с,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контроля получила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уверенных последовательных обнаружения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принтер отменил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с выводом соответствующей ошибки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265B33C-B5D3-98C3-9211-F88247D6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50" t="10273" r="32713" b="28766"/>
          <a:stretch/>
        </p:blipFill>
        <p:spPr>
          <a:xfrm>
            <a:off x="4572000" y="678623"/>
            <a:ext cx="4073130" cy="2608849"/>
          </a:xfrm>
          <a:prstGeom prst="rect">
            <a:avLst/>
          </a:prstGeom>
        </p:spPr>
      </p:pic>
      <p:sp>
        <p:nvSpPr>
          <p:cNvPr id="10" name="TextBox 26">
            <a:extLst>
              <a:ext uri="{FF2B5EF4-FFF2-40B4-BE49-F238E27FC236}">
                <a16:creationId xmlns:a16="http://schemas.microsoft.com/office/drawing/2014/main" id="{B3EABF96-386D-700B-07FB-75E0CD46DA63}"/>
              </a:ext>
            </a:extLst>
          </p:cNvPr>
          <p:cNvSpPr>
            <a:spLocks noGrp="1"/>
          </p:cNvSpPr>
          <p:nvPr/>
        </p:nvSpPr>
        <p:spPr>
          <a:xfrm>
            <a:off x="4572000" y="3280969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9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Кадр с камеры 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3D-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принтера с дефектом типа  «спагетти»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</p:txBody>
      </p:sp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BDAA191B-FE24-F716-CFE2-146C9DF24C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620183"/>
              </p:ext>
            </p:extLst>
          </p:nvPr>
        </p:nvGraphicFramePr>
        <p:xfrm>
          <a:off x="203200" y="678623"/>
          <a:ext cx="3882390" cy="319414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665109338"/>
                    </a:ext>
                  </a:extLst>
                </a:gridCol>
                <a:gridCol w="1723390">
                  <a:extLst>
                    <a:ext uri="{9D8B030D-6E8A-4147-A177-3AD203B41FA5}">
                      <a16:colId xmlns:a16="http://schemas.microsoft.com/office/drawing/2014/main" val="3225751743"/>
                    </a:ext>
                  </a:extLst>
                </a:gridCol>
              </a:tblGrid>
              <a:tr h="41230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Показатель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950191"/>
                  </a:ext>
                </a:extLst>
              </a:tr>
              <a:tr h="914976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от появления дефекта до срабатывания отмены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минуты, 21 секунда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288437"/>
                  </a:ext>
                </a:extLst>
              </a:tr>
              <a:tr h="412304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Порог автоматической отмены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43534"/>
                  </a:ext>
                </a:extLst>
              </a:tr>
              <a:tr h="643872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Минимальная отображённая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0,3655, в начале записи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774038"/>
                  </a:ext>
                </a:extLst>
              </a:tr>
              <a:tr h="643872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Максимальная отображённая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0,9918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670564"/>
                  </a:ext>
                </a:extLst>
              </a:tr>
            </a:tbl>
          </a:graphicData>
        </a:graphic>
      </p:graphicFrame>
      <p:sp>
        <p:nvSpPr>
          <p:cNvPr id="12" name="TextBox 26">
            <a:extLst>
              <a:ext uri="{FF2B5EF4-FFF2-40B4-BE49-F238E27FC236}">
                <a16:creationId xmlns:a16="http://schemas.microsoft.com/office/drawing/2014/main" id="{0F1BE2F2-80C9-8159-C3BF-933349087573}"/>
              </a:ext>
            </a:extLst>
          </p:cNvPr>
          <p:cNvSpPr>
            <a:spLocks noGrp="1"/>
          </p:cNvSpPr>
          <p:nvPr/>
        </p:nvSpPr>
        <p:spPr>
          <a:xfrm>
            <a:off x="4815206" y="6150348"/>
            <a:ext cx="3586718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10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Кадр с камеры 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3D-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принтера с примером обнаружения детали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D4B603F-73F4-5404-D6AD-383F980E87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8" t="12057" r="32186" b="15292"/>
          <a:stretch/>
        </p:blipFill>
        <p:spPr>
          <a:xfrm>
            <a:off x="5078978" y="4078032"/>
            <a:ext cx="3059174" cy="2095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985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0634" y="1034005"/>
            <a:ext cx="8736990" cy="5827551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 и задачи моей научно-исследовательской работы выполнены:</a:t>
            </a: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Изучены дефекты FDM-печати и выбран целевого дефекта для автоматического обнаружения.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Сформирован датасет: произведен поиск данных, балансировка классов,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аугментирование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разделение на обучающую и тестовую выборки; </a:t>
            </a:r>
          </a:p>
          <a:p>
            <a:pPr marL="214630" indent="-21463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r>
              <a:rPr lang="ru-RU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Обучена нейронная сеть для распознавания дефекта «Спагетти» на основе изображений печатей; </a:t>
            </a:r>
            <a:endParaRPr lang="en-US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Разработан, собран и отлажен аппаратно-программный комплекса экспериментального 3D-принтера.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тестовый запуск работы системы контроля и 3D-принтера в процессе печати.</a:t>
            </a: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 и задачи моей научно-исследовательской работы выполнены:</a:t>
            </a: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11</a:t>
            </a:fld>
            <a:endParaRPr lang="ru-RU" sz="20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5D6DF51-0B62-79A6-6D5B-9EBEFC4103B7}"/>
              </a:ext>
            </a:extLst>
          </p:cNvPr>
          <p:cNvSpPr txBox="1">
            <a:spLocks/>
          </p:cNvSpPr>
          <p:nvPr/>
        </p:nvSpPr>
        <p:spPr>
          <a:xfrm>
            <a:off x="701718" y="3637"/>
            <a:ext cx="7886700" cy="7128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>
                <a:latin typeface="Times New Roman"/>
                <a:ea typeface="Calibri"/>
                <a:cs typeface="Times New Roman"/>
              </a:rPr>
              <a:t>Заключение</a:t>
            </a:r>
            <a:endParaRPr lang="ru-RU">
              <a:ea typeface="Calibri Light"/>
              <a:cs typeface="Calibri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1282</Words>
  <Application>Microsoft Office PowerPoint</Application>
  <DocSecurity>0</DocSecurity>
  <PresentationFormat>Экран (4:3)</PresentationFormat>
  <Paragraphs>95</Paragraphs>
  <Slides>11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Arial,Sans-Serif</vt:lpstr>
      <vt:lpstr>Calibri</vt:lpstr>
      <vt:lpstr>Calibri Light</vt:lpstr>
      <vt:lpstr>Times New Roman</vt:lpstr>
      <vt:lpstr>Тема Office</vt:lpstr>
      <vt:lpstr>Автоматическое выявление дефектов в процессе 3D-печати</vt:lpstr>
      <vt:lpstr>Цель работы</vt:lpstr>
      <vt:lpstr>В чем заключается проблема:</vt:lpstr>
      <vt:lpstr>Подготовка к обучению нейросети</vt:lpstr>
      <vt:lpstr>Подготовка к обучению нейросети</vt:lpstr>
      <vt:lpstr>Результат обучения нейросети</vt:lpstr>
      <vt:lpstr>Обработка на сервере</vt:lpstr>
      <vt:lpstr>Обработка на принтере</vt:lpstr>
      <vt:lpstr>Электросхема 3D-принтера</vt:lpstr>
      <vt:lpstr>Тестирование на реальной печати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Yawllen</cp:lastModifiedBy>
  <cp:revision>28</cp:revision>
  <dcterms:created xsi:type="dcterms:W3CDTF">2026-10-07T12:47:26Z</dcterms:created>
  <dcterms:modified xsi:type="dcterms:W3CDTF">2026-10-08T14:05:40Z</dcterms:modified>
</cp:coreProperties>
</file>