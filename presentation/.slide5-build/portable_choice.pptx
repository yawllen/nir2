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5_result/ppt/slides/charts/chart1.xml" ContentType="application/vnd.openxmlformats-officedocument.drawingml.chart+xml"/>
  <Override PartName="/ppt/slide5_result/ppt/slides/charts/chart2.xml" ContentType="application/vnd.openxmlformats-officedocument.drawingml.chart+xml"/>
  <Override PartName="/ppt/slide5_result/ppt/notesMasters/theme/theme3.xml" ContentType="application/vnd.openxmlformats-officedocument.theme+xml"/>
  <Override PartName="/ppt/slide5_result/ppt/notesMasters/notesMaster1.xml" ContentType="application/vnd.openxmlformats-officedocument.presentationml.notesMaster+xml"/>
  <Override PartName="/ppt/slide5_result/ppt/notesSlides/notesSlide1.xml" ContentType="application/vnd.openxmlformats-officedocument.presentationml.notesSlide+xml"/>
  <Override PartName="/ppt/slide5_result/ppt/slides/charts/chart3.xml" ContentType="application/vnd.openxmlformats-officedocument.drawingml.chart+xml"/>
  <Override PartName="/ppt/slide5_result/ppt/slides/charts/chart4.xml" ContentType="application/vnd.openxmlformats-officedocument.drawingml.chart+xml"/>
  <Override PartName="/ppt/slide5_result/ppt/notesSlides/notesSlide2.xml" ContentType="application/vnd.openxmlformats-officedocument.presentationml.notesSlide+xml"/>
  <Override PartName="/ppt/slides/slide11.xml" ContentType="application/vnd.openxmlformats-officedocument.presentationml.slide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6" r:id="rId4"/>
    <p:sldId id="275" r:id="rId5"/>
    <p:sldId id="273" r:id="rId6"/>
    <p:sldId id="276" r:id="rIdChoiceSlide"/>
    <p:sldId id="270" r:id="rId7"/>
    <p:sldId id="271" r:id="rId8"/>
    <p:sldId id="272" r:id="rId9"/>
    <p:sldId id="274" r:id="rId10"/>
    <p:sldId id="266" r:id="rId11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presProps" Target="presProp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tableStyles" Target="tableStyles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theme" Target="theme/theme1.xml" /><ns0:Relationship Id="rId10" Type="http://schemas.openxmlformats.org/officeDocument/2006/relationships/slide" Target="slides/slide9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viewProps" Target="viewProps.xml" /><ns0:Relationship Id="rIdChoiceSlide" Type="http://schemas.openxmlformats.org/officeDocument/2006/relationships/slide" Target="slides/slide11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Титульные сведения: C:/Users/Yawllen/Documents/GitHub/Nir2/Title.tex. Группа ИВТм-251 и научный руководитель А. С. Астахов уточнены пользователем. Визуальный шаблон: первый слайд C:/Users/Yawllen/Downloads/Eshenko_VKR.pptx.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81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398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846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273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894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53112"/>
      </p:ext>
    </p:extLst>
  </p:cSld>
  <p:clrMapOvr>
    <a:masterClrMapping/>
  </p:clrMapOvr>
</p:notes>
</file>

<file path=ppt/slide5_result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1d7be039139d43e0" /></ns0:Relationships>
</file>

<file path=ppt/slide5_result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lide5_result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5_result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5.xml" Id="Rd833e13febd6444d" /><ns0:Relationship Type="http://schemas.openxmlformats.org/officeDocument/2006/relationships/notesMaster" Target="../notesMasters/notesMaster1.xml" Id="Rd48e82ba748e46cc" /></ns0:Relationships>
</file>

<file path=ppt/slide5_result/ppt/notesSlides/_rels/notesSlide2.xml.rels><?xml version='1.0' encoding='utf-8'?>
<ns0:Relationships xmlns:ns0="http://schemas.openxmlformats.org/package/2006/relationships"><ns0:Relationship Type="http://schemas.openxmlformats.org/officeDocument/2006/relationships/slide" Target="../../../slides/slide11.xml" Id="R13166fecc7b24f8c" /><ns0:Relationship Type="http://schemas.openxmlformats.org/officeDocument/2006/relationships/notesMaster" Target="../notesMasters/notesMaster1.xml" Id="Rc2f87aab280c4ae6" /></ns0:Relationships>
</file>

<file path=ppt/slide5_result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C:/Users/Yawllen/Documents/GitHub/Nir2/outputs/model_v12_report/metrics_v12.json; C:/Users/Yawllen/Documents/GitHub/printer-defect-server/models/spaghetti_presence_v12/history.json; C:/Users/Yawllen/Documents/GitHub/printer-defect-server/models/spaghetti_presence_v12/dataset_manifest.csv; C:/Users/Yawllen/Documents/GitHub/printer-defect-server/models/spaghetti_presence_v12/training_config.json. Показатели относятся к классификации полного кадра, порог 0,3. В отчёте исправлена метка одного тестового кадра. Полнота валидации собственного принтера: 6/11=54,55 %. Лучшие веса выбраны по валидации, не по тесту.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5_result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C:/Users/Yawllen/Documents/GitHub/printer-defect-server/models/spaghetti_presence_v12/history.json; C:/Users/Yawllen/Documents/GitHub/printer-defect-server/models/spaghetti_presence_v12/training_config.json. Правило выбора: максимальная полнота при false_alarm_rate &lt;= 0.01 на валидации принтера и пороге 0.3. При равной полноте предпочтение отдаётся меньшей доле ложных тревог, затем большей AP принтера, затем общей AP. Эпохи 11,17,18,19,20 имеют полноту 6/11 и FP=0; AP принтера: 88.47,90.26,92.31,94.63,92.45 %. Тест не использован для выбора весов. Общие графики на слайде 5 описывают другой срез качества. Оценка по 11 положительным и 128 отрицательным кадрам предварительная.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5_result/ppt/slides/charts/_rels/chart1.xml.rels><Relationships xmlns="http://schemas.openxmlformats.org/package/2006/relationships"><Relationship Id="rIdChartSnapshot1" Type="http://schemas.openxmlformats.org/officeDocument/2006/relationships/package" Target="../../../../embeddings/chart-data-snapshot-001.xlsx"/></Relationships>
</file>

<file path=ppt/slide5_result/ppt/slides/charts/_rels/chart2.xml.rels><Relationships xmlns="http://schemas.openxmlformats.org/package/2006/relationships"><Relationship Id="rIdChartSnapshot1" Type="http://schemas.openxmlformats.org/officeDocument/2006/relationships/package" Target="../../../../embeddings/chart-data-snapshot-002.xlsx"/></Relationships>
</file>

<file path=ppt/slide5_result/ppt/slides/charts/_rels/chart3.xml.rels><Relationships xmlns="http://schemas.openxmlformats.org/package/2006/relationships"><Relationship Id="rIdChartSnapshot1" Type="http://schemas.openxmlformats.org/officeDocument/2006/relationships/package" Target="../../../../embeddings/chart-data-snapshot-003.xlsx"/></Relationships>
</file>

<file path=ppt/slide5_result/ppt/slides/charts/_rels/chart4.xml.rels><Relationships xmlns="http://schemas.openxmlformats.org/package/2006/relationships"><Relationship Id="rIdChartSnapshot1" Type="http://schemas.openxmlformats.org/officeDocument/2006/relationships/package" Target="../../../../embeddings/chart-data-snapshot-004.xlsx"/></Relationships>
</file>

<file path=ppt/slide5_result/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Ошибка обучения</c:v>
          </c:tx>
          <c:spPr>
            <a:ln xmlns:a="http://schemas.openxmlformats.org/drawingml/2006/main" w="22860">
              <a:solidFill>
                <a:srgbClr val="2467B2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 b="1">
                        <a:solidFill>
                          <a:srgbClr val="2467B2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 b="1">
                      <a:solidFill>
                        <a:srgbClr val="2467B2"/>
                      </a:solidFill>
                    </a:defRPr>
                  </a:pPr>
                </a:p>
              </c:txPr>
              <c:showVal val="1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0.000</c:formatCode>
                <c:ptCount val="20"/>
                <c:pt idx="0">
                  <c:v>0.005552</c:v>
                </c:pt>
                <c:pt idx="1">
                  <c:v>0.00241</c:v>
                </c:pt>
                <c:pt idx="2">
                  <c:v>0.009237</c:v>
                </c:pt>
                <c:pt idx="3">
                  <c:v>0.00326</c:v>
                </c:pt>
                <c:pt idx="4">
                  <c:v>0.002323</c:v>
                </c:pt>
                <c:pt idx="5">
                  <c:v>0.001774</c:v>
                </c:pt>
                <c:pt idx="6">
                  <c:v>0.001328</c:v>
                </c:pt>
                <c:pt idx="7">
                  <c:v>0.000871</c:v>
                </c:pt>
                <c:pt idx="8">
                  <c:v>0.001206</c:v>
                </c:pt>
                <c:pt idx="9">
                  <c:v>0.004558</c:v>
                </c:pt>
                <c:pt idx="10">
                  <c:v>0.001092</c:v>
                </c:pt>
                <c:pt idx="11">
                  <c:v>0.003142</c:v>
                </c:pt>
                <c:pt idx="12">
                  <c:v>0.001619</c:v>
                </c:pt>
                <c:pt idx="13">
                  <c:v>0.001099</c:v>
                </c:pt>
                <c:pt idx="14">
                  <c:v>0.000973</c:v>
                </c:pt>
                <c:pt idx="15">
                  <c:v>0.000976</c:v>
                </c:pt>
                <c:pt idx="16">
                  <c:v>0.001178</c:v>
                </c:pt>
                <c:pt idx="17">
                  <c:v>0.001012</c:v>
                </c:pt>
                <c:pt idx="18">
                  <c:v>0.002217</c:v>
                </c:pt>
                <c:pt idx="19">
                  <c:v>0.002233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00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5_result/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AP, %</c:v>
          </c:tx>
          <c:spPr>
            <a:ln xmlns:a="http://schemas.openxmlformats.org/drawingml/2006/main" w="22860">
              <a:solidFill>
                <a:srgbClr val="7C4BB1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 b="1">
                        <a:solidFill>
                          <a:srgbClr val="7C4BB1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 b="1">
                      <a:solidFill>
                        <a:srgbClr val="7C4BB1"/>
                      </a:solidFill>
                    </a:defRPr>
                  </a:pPr>
                </a:p>
              </c:txPr>
              <c:showVal val="1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0.0" %"</c:formatCode>
                <c:ptCount val="20"/>
                <c:pt idx="0">
                  <c:v>98.972764</c:v>
                </c:pt>
                <c:pt idx="1">
                  <c:v>98.861859</c:v>
                </c:pt>
                <c:pt idx="2">
                  <c:v>99.57373</c:v>
                </c:pt>
                <c:pt idx="3">
                  <c:v>99.689363</c:v>
                </c:pt>
                <c:pt idx="4">
                  <c:v>99.276485</c:v>
                </c:pt>
                <c:pt idx="5">
                  <c:v>99.174207</c:v>
                </c:pt>
                <c:pt idx="6">
                  <c:v>99.55193</c:v>
                </c:pt>
                <c:pt idx="7">
                  <c:v>99.323224</c:v>
                </c:pt>
                <c:pt idx="8">
                  <c:v>99.462997</c:v>
                </c:pt>
                <c:pt idx="9">
                  <c:v>99.10293</c:v>
                </c:pt>
                <c:pt idx="10">
                  <c:v>99.325666</c:v>
                </c:pt>
                <c:pt idx="11">
                  <c:v>99.34298</c:v>
                </c:pt>
                <c:pt idx="12">
                  <c:v>99.213706</c:v>
                </c:pt>
                <c:pt idx="13">
                  <c:v>99.211031</c:v>
                </c:pt>
                <c:pt idx="14">
                  <c:v>99.315382</c:v>
                </c:pt>
                <c:pt idx="15">
                  <c:v>99.234098</c:v>
                </c:pt>
                <c:pt idx="16">
                  <c:v>99.280321</c:v>
                </c:pt>
                <c:pt idx="17">
                  <c:v>99.311447</c:v>
                </c:pt>
                <c:pt idx="18">
                  <c:v>99.245392</c:v>
                </c:pt>
                <c:pt idx="19">
                  <c:v>99.336899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98.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5_result/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Полнота, %</c:v>
          </c:tx>
          <c:spPr>
            <a:ln xmlns:a="http://schemas.openxmlformats.org/drawingml/2006/main" w="22860">
              <a:solidFill>
                <a:srgbClr val="2467B2"/>
              </a:solidFill>
            </a:ln>
          </c:spPr>
          <c:marker>
            <c:symbol val="circle"/>
            <c:size val="3"/>
            <c:spPr>
              <a:solidFill xmlns:a="http://schemas.openxmlformats.org/drawingml/2006/main">
                <a:srgbClr val="2467B2"/>
              </a:solidFill>
            </c:spPr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2467B2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2467B2"/>
                      </a:solidFill>
                    </a:defRPr>
                  </a:pPr>
                </a:p>
              </c:txPr>
              <c:showVal val="1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0" %"</c:formatCode>
                <c:ptCount val="20"/>
                <c:pt idx="0">
                  <c:v>0</c:v>
                </c:pt>
                <c:pt idx="1">
                  <c:v>27.272727</c:v>
                </c:pt>
                <c:pt idx="2">
                  <c:v>45.454545</c:v>
                </c:pt>
                <c:pt idx="3">
                  <c:v>36.363636</c:v>
                </c:pt>
                <c:pt idx="4">
                  <c:v>27.272727</c:v>
                </c:pt>
                <c:pt idx="5">
                  <c:v>27.272727</c:v>
                </c:pt>
                <c:pt idx="6">
                  <c:v>45.454545</c:v>
                </c:pt>
                <c:pt idx="7">
                  <c:v>45.454545</c:v>
                </c:pt>
                <c:pt idx="8">
                  <c:v>72.727273</c:v>
                </c:pt>
                <c:pt idx="9">
                  <c:v>45.454545</c:v>
                </c:pt>
                <c:pt idx="10">
                  <c:v>54.545455</c:v>
                </c:pt>
                <c:pt idx="11">
                  <c:v>45.454545</c:v>
                </c:pt>
                <c:pt idx="12">
                  <c:v>27.272727</c:v>
                </c:pt>
                <c:pt idx="13">
                  <c:v>36.363636</c:v>
                </c:pt>
                <c:pt idx="14">
                  <c:v>45.454545</c:v>
                </c:pt>
                <c:pt idx="15">
                  <c:v>45.454545</c:v>
                </c:pt>
                <c:pt idx="16">
                  <c:v>54.545455</c:v>
                </c:pt>
                <c:pt idx="17">
                  <c:v>54.545455</c:v>
                </c:pt>
                <c:pt idx="18">
                  <c:v>54.545455</c:v>
                </c:pt>
                <c:pt idx="19">
                  <c:v>54.545455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5_result/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Ложные тревоги, %</c:v>
          </c:tx>
          <c:spPr>
            <a:ln xmlns:a="http://schemas.openxmlformats.org/drawingml/2006/main" w="22860">
              <a:solidFill>
                <a:srgbClr val="A52B37"/>
              </a:solidFill>
            </a:ln>
          </c:spPr>
          <c:marker>
            <c:symbol val="circle"/>
            <c:size val="3"/>
            <c:spPr>
              <a:solidFill xmlns:a="http://schemas.openxmlformats.org/drawingml/2006/main">
                <a:srgbClr val="A52B37"/>
              </a:solidFill>
            </c:spPr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A52B37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A52B37"/>
                      </a:solidFill>
                    </a:defRPr>
                  </a:pPr>
                </a:p>
              </c:txPr>
              <c:showVal val="1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0" %"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7.03125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v>Допустимый предел 1 %</c:v>
          </c:tx>
          <c:spPr>
            <a:ln xmlns:a="http://schemas.openxmlformats.org/drawingml/2006/main" w="16193">
              <a:solidFill>
                <a:srgbClr val="D48923"/>
              </a:solidFill>
              <a:prstDash val="dash"/>
            </a:ln>
          </c:spPr>
          <c:marker>
            <c:symbol val="none"/>
          </c:marker>
          <c:cat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Data'!$D$2:$D$21</c:f>
              <c:numCache>
                <c:formatCode>0" %"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388F-DEE8-4999-80DA-4B08D9C6A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57B-B7B9-44ED-8C6F-DD39ABA5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8F56-F9DD-4EBB-8D7D-653AD4D57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80A1-B1C3-40DF-A5E5-D24C706F6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9F49-A4A0-4CDA-B3A7-871709CE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A74-FEAB-4613-88EF-54A0A6D4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22A-C158-40E5-B7EE-7ECD7BFA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D32F-F627-436D-8334-BEAC64706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E828-67B2-4444-929F-5321B45AA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65A-E6E0-4F5F-AFDD-97A08A57B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B0C-7344-4431-97A8-11EDF4B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8E9C-3084-4625-8E03-F9FED502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AF5B-621A-4438-B4C6-6F2CA53411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CF84-34C8-420C-9C94-37AC72D88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660F-AB7F-403A-AA16-3575B45A3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073-DA93-462D-92EF-EAB28C3B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F1C2-8D54-44FD-B541-0BF158C7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6C0-736D-4A89-97F5-B0013D6D71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2AC1-B710-47D7-A39F-322CF1707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A8DB-42F1-4912-8081-4426A6F34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B3AA-4994-402A-9168-DC2C25EF2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9060-334F-4364-A593-C6A5F1C9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2AE4-D909-420E-A442-752611BD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E7F8D-A36A-4049-808E-063A552764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34DA7-E5A8-4668-BC62-EC8C60B4E2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8618A-04E8-4CCE-A9E4-4A649FDE19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1C88F-9BDC-48E9-9C80-737529C09A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377B7-C9A0-47AD-8ED5-611704EEF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D917-B3D4-44AE-B364-D7812D1A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367-135D-4516-AC8A-A92E8201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38541-2621-4C5F-AA05-B9D6C59A1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53E81-B4C5-4C85-9FEC-B133C0F724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03A86-A27B-4838-A9BE-FDFF85BBA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9F4D-0648-4B9E-8A6F-1B7EA1654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727DE-4D07-4459-B460-69CA08CDA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132C-A107-42A9-A593-E2F1BA9CB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406-F75E-40A2-9B5A-F27948D0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7158-6170-4FC7-856A-8205BBAF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558BE-EDBE-4F50-A862-6DBA416D17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FB7D-9228-41EB-BE6B-599554EA5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B719-B4B7-4F42-BD3F-01EC14416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9AC8-8D43-44CB-AAB7-9AE138C6C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385-C566-4337-BE85-EE2C6C9D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96CEB-8A1B-447C-A05B-53A238D0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3D77-200D-4493-A725-400D2744AA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3FF7D-FDA6-4E12-99E3-388C062D8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235E-A01B-4009-A5F5-6642D81957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3340-F8F1-40F0-9881-4514E0D96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FD7-CE2D-40A2-AB93-AC97CB9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DC243-3A9A-42D3-A38A-95EFB402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6133-9BFC-47CE-BAF1-E9AA52205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88FD5-1CC6-45E6-A6B3-31A633082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1CFA-A7E3-4580-94FF-ED73E7967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103D-EC12-4503-8554-224CFE9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51D8-B839-44CA-A112-44746FCE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89CB-3176-482E-ADAC-8096540C4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CCB3-9BD0-4474-8AE4-C8F1EB2E3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441-6A01-45BB-BF93-75993D657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AF1C-5263-45DE-B0BF-4C7856D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9B1E-1B94-4341-9B43-62399FE4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47B43-022E-43C0-9C4C-EDA69A2326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6C5F-40E1-410B-BAA7-B63D1B24D54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494A4-AEEB-44DD-AC94-FA16A78739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8A53-8D2F-4011-BE06-EDB0774336B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'1.0' encoding='utf-8'?>
<ns0:Relationships xmlns:ns0="http://schemas.openxmlformats.org/package/2006/relationships"><ns0:Relationship Id="rIdOriginalLayout" Type="http://schemas.openxmlformats.org/officeDocument/2006/relationships/slideLayout" Target="../slideLayouts/slideLayout2.xml" /><ns0:Relationship Type="http://schemas.openxmlformats.org/officeDocument/2006/relationships/chart" Target="../slide5_result/ppt/slides/charts/chart1.xml" Id="rIdResult2" /><ns0:Relationship Type="http://schemas.openxmlformats.org/officeDocument/2006/relationships/chart" Target="../slide5_result/ppt/slides/charts/chart2.xml" Id="rIdResult3" /><ns0:Relationship Type="http://schemas.openxmlformats.org/officeDocument/2006/relationships/notesSlide" Target="../slide5_result/ppt/notesSlides/notesSlide1.xml" Id="rIdResult4" /></ns0: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?>
<ns0:Relationships xmlns:ns0="http://schemas.openxmlformats.org/package/2006/relationships"><ns0:Relationship Id="rIdOriginalLayout" Type="http://schemas.openxmlformats.org/officeDocument/2006/relationships/slideLayout" Target="../slideLayouts/slideLayout2.xml" /><ns0:Relationship Type="http://schemas.openxmlformats.org/officeDocument/2006/relationships/chart" Target="../slide5_result/ppt/slides/charts/chart3.xml" Id="rIdResult2" /><ns0:Relationship Type="http://schemas.openxmlformats.org/officeDocument/2006/relationships/chart" Target="../slide5_result/ppt/slides/charts/chart4.xml" Id="rIdResult3" /><ns0:Relationship Type="http://schemas.openxmlformats.org/officeDocument/2006/relationships/notesSlide" Target="../slide5_result/ppt/notesSlides/notesSlide2.xml" Id="rIdResult4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197F-1F94-4487-96B4-5CC8E191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126" y="1660941"/>
            <a:ext cx="7966787" cy="1467730"/>
          </a:xfrm>
        </p:spPr>
        <p:txBody>
          <a:bodyPr vert="horz" lIns="91440" tIns="45720" rIns="91440" bIns="45720" anchor="ctr">
            <a:noAutofit/>
          </a:bodyPr>
          <a:lstStyle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Автоматическое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выявление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дефектов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в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процессе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3D-печати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81F08-5D1E-4085-9EBA-0CC10059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93" y="4487371"/>
            <a:ext cx="7970520" cy="1749400"/>
          </a:xfrm>
        </p:spPr>
        <p:txBody>
          <a:bodyPr vert="horz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ИВТм-2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                                     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Ешенко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Ярославович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    к. ф.-м. н.,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ИСКM, Иванченко Г. С.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консультант:                          ст. преп. каф. ИСКМ, Астахов А.С.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F1438-5AC9-43E1-AF5B-1B0FBA2C3062}"/>
              </a:ext>
            </a:extLst>
          </p:cNvPr>
          <p:cNvSpPr>
            <a:spLocks noGrp="1"/>
          </p:cNvSpPr>
          <p:nvPr/>
        </p:nvSpPr>
        <p:spPr>
          <a:xfrm>
            <a:off x="714393" y="321974"/>
            <a:ext cx="79685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Волгоградский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государственный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университет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Институт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математики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Кафедра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систем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компьютерного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моделирования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4BB57-FAB3-D4FF-BB40-FB880A2615B3}"/>
              </a:ext>
            </a:extLst>
          </p:cNvPr>
          <p:cNvSpPr>
            <a:spLocks noGrp="1"/>
          </p:cNvSpPr>
          <p:nvPr/>
        </p:nvSpPr>
        <p:spPr>
          <a:xfrm>
            <a:off x="711175" y="3377449"/>
            <a:ext cx="7971738" cy="11099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Научно-исследовательская работа по направлению</a:t>
            </a:r>
            <a:endParaRPr sz="20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09.04.01 «Информатика и вычислительная техника»</a:t>
            </a:r>
            <a:endParaRPr sz="2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A943AF4-237A-8CA5-C20E-0B6C8CCD2DB0}"/>
              </a:ext>
            </a:extLst>
          </p:cNvPr>
          <p:cNvSpPr>
            <a:spLocks noGrp="1"/>
          </p:cNvSpPr>
          <p:nvPr/>
        </p:nvSpPr>
        <p:spPr>
          <a:xfrm>
            <a:off x="591820" y="6383842"/>
            <a:ext cx="7960360" cy="29718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 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D423A90-34D2-345E-BA07-2F7DEF1B1097}"/>
              </a:ext>
            </a:extLst>
          </p:cNvPr>
          <p:cNvSpPr txBox="1">
            <a:spLocks/>
          </p:cNvSpPr>
          <p:nvPr/>
        </p:nvSpPr>
        <p:spPr>
          <a:xfrm>
            <a:off x="722553" y="5168483"/>
            <a:ext cx="7960360" cy="10998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32" y="-5479"/>
            <a:ext cx="7877136" cy="7581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5440" y="752683"/>
            <a:ext cx="7885128" cy="1170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разработка и тестирование версии 3D-принтера с системой обнаружения дефектов в процессе печати и механизмом своевременного реагирования.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087" y="1960801"/>
            <a:ext cx="78781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4" y="2607132"/>
            <a:ext cx="8069450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дефектов FDM-печати и выбор целевого дефекта для автоматического обнаружения.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Проектирование, сборка и отладка аппаратно-программного комплекса экспериментального 3D-принтера.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данных для обучения нейросети и обучение модели обнаружения целевого дефекта.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внешней системы контроля печати с автоматическим обнаружением дефектов.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работы системы контроля и 3D-принтера в процессе печати.</a:t>
            </a:r>
          </a:p>
        </p:txBody>
      </p:sp>
      <p:sp>
        <p:nvSpPr>
          <p:cNvPr id="6" name="Замещающий номер слайда 4">
            <a:extLst>
              <a:ext uri="{FF2B5EF4-FFF2-40B4-BE49-F238E27FC236}">
                <a16:creationId xmlns:a16="http://schemas.microsoft.com/office/drawing/2014/main" id="{C78DB24C-FC20-2FE0-98E7-F598D18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FE507C-2C48-A423-9756-13891072B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t="13068" r="8466" b="3458"/>
          <a:stretch/>
        </p:blipFill>
        <p:spPr>
          <a:xfrm>
            <a:off x="5021065" y="3247173"/>
            <a:ext cx="3921040" cy="25558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C29E7-47AE-4C1B-A66A-06BAB8AB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6476"/>
            <a:ext cx="7886700" cy="712868"/>
          </a:xfrm>
        </p:spPr>
        <p:txBody>
          <a:bodyPr wrap="square" lIns="91440" tIns="45720" rIns="91440" bIns="45720">
            <a:noAutofit/>
          </a:bodyPr>
          <a:lstStyle>
            <a:defPPr algn="ctr"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чем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заключается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проблема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4000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7A7AC3B3-0D3D-46AF-A9AF-3FA15E2C3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88886" y="6493511"/>
            <a:ext cx="2057400" cy="365125"/>
          </a:xfrm>
        </p:spPr>
        <p:txBody>
          <a:bodyPr wrap="square" lIns="91440" tIns="45720" rIns="91440" bIns="45720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6ED8A53-8D2F-4011-BE06-EDB0774336BA}" type="slidenum"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sz="20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98C53-8330-9192-D210-4F5703BD6F05}"/>
              </a:ext>
            </a:extLst>
          </p:cNvPr>
          <p:cNvSpPr>
            <a:spLocks noGrp="1"/>
          </p:cNvSpPr>
          <p:nvPr/>
        </p:nvSpPr>
        <p:spPr>
          <a:xfrm>
            <a:off x="277897" y="597203"/>
            <a:ext cx="5948583" cy="22974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фермах 3D-принтеров в процессе печати могут возникать сбои, вызванные различными факторами. Такие дефекты, как отлипание, расслоение или смещение слоёв, в конечном итоге могут привести к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критическому дефекту «спагетти»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при котором пластик начинает хаотично укладываться в воздухе. Такой дефект приводит к перерасходу материала, а в отдельных случаях может стать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причиной повреждения 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самого 3D-принтера.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27D3F-6BC8-2110-F2D0-39287E8FAFD7}"/>
              </a:ext>
            </a:extLst>
          </p:cNvPr>
          <p:cNvSpPr>
            <a:spLocks noGrp="1"/>
          </p:cNvSpPr>
          <p:nvPr/>
        </p:nvSpPr>
        <p:spPr>
          <a:xfrm>
            <a:off x="6440105" y="2547592"/>
            <a:ext cx="2182057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1 –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Дефект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типа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спагетти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</a:p>
        </p:txBody>
      </p:sp>
      <p:pic>
        <p:nvPicPr>
          <p:cNvPr id="4" name="Рисунок 3" descr="Изображение выглядит как искусство, дизайн, соединитель, све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AE67ED3C-CB37-618A-EEBF-9C9FF1AB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1" t="18812" r="21153" b="24354"/>
          <a:stretch/>
        </p:blipFill>
        <p:spPr>
          <a:xfrm>
            <a:off x="6333293" y="704535"/>
            <a:ext cx="2288869" cy="1792981"/>
          </a:xfrm>
          <a:prstGeom prst="rect">
            <a:avLst/>
          </a:prstGeom>
          <a:ln w="28575"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52C65C1-2992-0840-D7B0-DF2AD9057D63}"/>
              </a:ext>
            </a:extLst>
          </p:cNvPr>
          <p:cNvSpPr>
            <a:spLocks noGrp="1"/>
          </p:cNvSpPr>
          <p:nvPr/>
        </p:nvSpPr>
        <p:spPr>
          <a:xfrm>
            <a:off x="277897" y="3017804"/>
            <a:ext cx="4637770" cy="279159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Проблему удалось подтвердить на ферме Волгоградской компании «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». По накопленной статистике принтеров с фермы, 26,7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% заданий были отменены оператором вручную из-за подобных сбоев. Статистика имеет погрешность, так как часть успешных заданий — это печати, когда оператор не мог отменить задачу, хотя сбой был, а часть отмен не связаны со сбоем.</a:t>
            </a:r>
            <a:endParaRPr lang="ru-RU" dirty="0"/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DC9D2F2B-4F62-AFAE-5BC3-F6D246AAE8E4}"/>
              </a:ext>
            </a:extLst>
          </p:cNvPr>
          <p:cNvSpPr>
            <a:spLocks noGrp="1"/>
          </p:cNvSpPr>
          <p:nvPr/>
        </p:nvSpPr>
        <p:spPr>
          <a:xfrm>
            <a:off x="4868975" y="601476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76FE2EE-EE34-7E14-84FE-9C2304D04340}"/>
              </a:ext>
            </a:extLst>
          </p:cNvPr>
          <p:cNvSpPr>
            <a:spLocks noGrp="1"/>
          </p:cNvSpPr>
          <p:nvPr/>
        </p:nvSpPr>
        <p:spPr>
          <a:xfrm>
            <a:off x="277897" y="5932581"/>
            <a:ext cx="4637770" cy="7434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Предлагаемое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решение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: мониторинг печати с помощью методов машинного зрения.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Подготовка к обучению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571998" y="709017"/>
            <a:ext cx="419789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16 129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исходных кадров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Обучающая выборка включает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9 787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3 005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кадров, тестовая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3 337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кадров. Их доли составляют 60,6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18,7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и 20,7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соответственно. В обучающей выборке представлены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 со «спагетти»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7 026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 без видимых признаков этого дефекта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0428" y="3410116"/>
            <a:ext cx="386967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каждой эпохе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5 522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 изображений, по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класс. После аугментации обучающая выборка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29 361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изображение: к каждому исходному кадру добавлены два варианта. Валидационная и тестовая выборки содержат только исходные изображения и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DAC2E642-4E22-B5B0-DB31-19292E122F11}"/>
              </a:ext>
            </a:extLst>
          </p:cNvPr>
          <p:cNvSpPr>
            <a:spLocks noGrp="1"/>
          </p:cNvSpPr>
          <p:nvPr/>
        </p:nvSpPr>
        <p:spPr>
          <a:xfrm>
            <a:off x="4634025" y="597031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распределения исходных кадров по выборкам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B5EBF5-FBE6-336C-42E4-49A8C5D8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02" y="3317275"/>
            <a:ext cx="3976794" cy="26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7957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36" name="Заголовок">
            <a:extLst>
              <a:ext uri="{FF2B5EF4-FFF2-40B4-BE49-F238E27FC236}">
                <ns2:creationId id="{CC9A52D0-177D-4972-9E5F-59F5EABF3FBC}"/>
              </a:ext>
            </a:extLst>
          </p:cNvPr>
          <p:cNvSpPr>
            <a:spLocks noGrp="1"/>
          </p:cNvSpPr>
          <p:nvPr/>
        </p:nvSpPr>
        <p:spPr>
          <a:xfrm>
            <a:off x="571500" y="47625"/>
            <a:ext cx="800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Результат обучения нейросети</a:t>
            </a:r>
          </a:p>
        </p:txBody>
      </p:sp>
      <p:sp>
        <p:nvSpPr>
          <p:cNvPr id="2" name="Ошибка обучения">
            <a:extLst>
              <a:ext uri="{FF2B5EF4-FFF2-40B4-BE49-F238E27FC236}">
                <ns2:creationId id="{EF905B3E-C93D-416C-BE04-881B26EEDF6C}"/>
              </a:ext>
            </a:extLst>
          </p:cNvPr>
          <p:cNvSpPr>
            <a:spLocks noGrp="1"/>
          </p:cNvSpPr>
          <p:nvPr/>
        </p:nvSpPr>
        <p:spPr>
          <a:xfrm>
            <a:off x="3619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Ошибка обучения (BCE)</a:t>
            </a:r>
          </a:p>
        </p:txBody>
      </p:sp>
      <p:sp>
        <p:nvSpPr>
          <p:cNvPr id="3" name="Валидация">
            <a:extLst>
              <a:ext uri="{FF2B5EF4-FFF2-40B4-BE49-F238E27FC236}">
                <ns2:creationId id="{EEAAEAE9-B54D-4E31-A55F-4D3588CDAFA4}"/>
              </a:ext>
            </a:extLst>
          </p:cNvPr>
          <p:cNvSpPr>
            <a:spLocks noGrp="1"/>
          </p:cNvSpPr>
          <p:nvPr/>
        </p:nvSpPr>
        <p:spPr>
          <a:xfrm>
            <a:off x="47815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на валидации</a:t>
            </a:r>
          </a:p>
        </p:txBody>
      </p:sp>
      <p:graphicFrame>
        <p:nvGraphicFramePr>
          <p:cNvPr id="4" name="Chart">
            <a:extLst>
              <a:ext uri="{FF2B5EF4-FFF2-40B4-BE49-F238E27FC236}">
                <ns2:creationId id="{B9FCFBB4-11BC-4C47-84A4-A34BF73EAFDA}"/>
              </a:ext>
            </a:extLst>
          </p:cNvPr>
          <p:cNvGraphicFramePr/>
          <p:nvPr/>
        </p:nvGraphicFramePr>
        <p:xfrm>
          <a:off x="295275" y="1247775"/>
          <a:ext cx="4124325" cy="1762125"/>
        </p:xfrm>
        <a:graphic>
          <a:graphicData uri="http://schemas.openxmlformats.org/drawingml/2006/chart">
            <ns3:chart r:id="rIdResult2"/>
          </a:graphicData>
        </a:graphic>
      </p:graphicFrame>
      <p:graphicFrame>
        <p:nvGraphicFramePr>
          <p:cNvPr id="5" name="Chart">
            <a:extLst>
              <a:ext uri="{FF2B5EF4-FFF2-40B4-BE49-F238E27FC236}">
                <ns2:creationId id="{FC39BA6E-AD69-486C-9027-B822B0444F76}"/>
              </a:ext>
            </a:extLst>
          </p:cNvPr>
          <p:cNvGraphicFramePr/>
          <p:nvPr/>
        </p:nvGraphicFramePr>
        <p:xfrm>
          <a:off x="4705350" y="1247775"/>
          <a:ext cx="4124325" cy="1762125"/>
        </p:xfrm>
        <a:graphic>
          <a:graphicData uri="http://schemas.openxmlformats.org/drawingml/2006/chart">
            <ns3:chart r:id="rIdResult3"/>
          </a:graphicData>
        </a:graphic>
      </p:graphicFrame>
      <p:sp>
        <p:nvSpPr>
          <p:cNvPr id="6" name="Матрица ошибок">
            <a:extLst>
              <a:ext uri="{FF2B5EF4-FFF2-40B4-BE49-F238E27FC236}">
                <ns2:creationId id="{E55F10F4-EDC4-48F7-B730-8A58EE0DF277}"/>
              </a:ext>
            </a:extLst>
          </p:cNvPr>
          <p:cNvSpPr>
            <a:spLocks noGrp="1"/>
          </p:cNvSpPr>
          <p:nvPr/>
        </p:nvSpPr>
        <p:spPr>
          <a:xfrm>
            <a:off x="361950" y="3286125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Матрица ошибок на тесте</a:t>
            </a:r>
          </a:p>
        </p:txBody>
      </p:sp>
      <p:sp>
        <p:nvSpPr>
          <p:cNvPr id="7" name="Порог">
            <a:extLst>
              <a:ext uri="{FF2B5EF4-FFF2-40B4-BE49-F238E27FC236}">
                <ns2:creationId id="{583D5F36-12FA-458B-B568-B9B807146F13}"/>
              </a:ext>
            </a:extLst>
          </p:cNvPr>
          <p:cNvSpPr>
            <a:spLocks noGrp="1"/>
          </p:cNvSpPr>
          <p:nvPr/>
        </p:nvSpPr>
        <p:spPr>
          <a:xfrm>
            <a:off x="390525" y="3629025"/>
            <a:ext cx="3857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3 337 кадров; порог срабатывания 0,3</a:t>
            </a:r>
          </a:p>
        </p:txBody>
      </p:sp>
      <p:sp>
        <p:nvSpPr>
          <p:cNvPr id="8" name="Предсказание">
            <a:extLst>
              <a:ext uri="{FF2B5EF4-FFF2-40B4-BE49-F238E27FC236}">
                <ns2:creationId id="{075EFC68-C6DA-48C0-AF03-C29941A482F2}"/>
              </a:ext>
            </a:extLst>
          </p:cNvPr>
          <p:cNvSpPr>
            <a:spLocks noGrp="1"/>
          </p:cNvSpPr>
          <p:nvPr/>
        </p:nvSpPr>
        <p:spPr>
          <a:xfrm>
            <a:off x="1666875" y="3943350"/>
            <a:ext cx="2524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Ответ модели</a:t>
            </a:r>
          </a:p>
        </p:txBody>
      </p:sp>
      <p:sp>
        <p:nvSpPr>
          <p:cNvPr id="9" name="Разметка">
            <a:extLst>
              <a:ext uri="{FF2B5EF4-FFF2-40B4-BE49-F238E27FC236}">
                <ns2:creationId id="{BAE7403A-C291-4131-9014-30BDBAD639CC}"/>
              </a:ext>
            </a:extLst>
          </p:cNvPr>
          <p:cNvSpPr>
            <a:spLocks noGrp="1"/>
          </p:cNvSpPr>
          <p:nvPr/>
        </p:nvSpPr>
        <p:spPr>
          <a:xfrm>
            <a:off x="428625" y="4038600"/>
            <a:ext cx="10572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</a:t>
            </a:r>
          </a:p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разметке</a:t>
            </a:r>
          </a:p>
        </p:txBody>
      </p:sp>
      <p:sp>
        <p:nvSpPr>
          <p:cNvPr id="10" name="Нет дефекта">
            <a:extLst>
              <a:ext uri="{FF2B5EF4-FFF2-40B4-BE49-F238E27FC236}">
                <ns2:creationId id="{67C5484B-C654-484A-85DC-CF09C38EED2D}"/>
              </a:ext>
            </a:extLst>
          </p:cNvPr>
          <p:cNvSpPr>
            <a:spLocks noGrp="1"/>
          </p:cNvSpPr>
          <p:nvPr/>
        </p:nvSpPr>
        <p:spPr>
          <a:xfrm>
            <a:off x="16192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 дефекта</a:t>
            </a:r>
          </a:p>
        </p:txBody>
      </p:sp>
      <p:sp>
        <p:nvSpPr>
          <p:cNvPr id="11" name="Спагетти">
            <a:extLst>
              <a:ext uri="{FF2B5EF4-FFF2-40B4-BE49-F238E27FC236}">
                <ns2:creationId id="{0B85D8B9-008D-44FA-9FB5-5A5A656DBCA8}"/>
              </a:ext>
            </a:extLst>
          </p:cNvPr>
          <p:cNvSpPr>
            <a:spLocks noGrp="1"/>
          </p:cNvSpPr>
          <p:nvPr/>
        </p:nvSpPr>
        <p:spPr>
          <a:xfrm>
            <a:off x="29527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2" name="Истинный нет">
            <a:extLst>
              <a:ext uri="{FF2B5EF4-FFF2-40B4-BE49-F238E27FC236}">
                <ns2:creationId id="{1E065F92-4FB4-44B7-B556-27004AC4B900}"/>
              </a:ext>
            </a:extLst>
          </p:cNvPr>
          <p:cNvSpPr>
            <a:spLocks noGrp="1"/>
          </p:cNvSpPr>
          <p:nvPr/>
        </p:nvSpPr>
        <p:spPr>
          <a:xfrm>
            <a:off x="428625" y="4610100"/>
            <a:ext cx="10572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</a:t>
            </a:r>
          </a:p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</a:t>
            </a:r>
          </a:p>
        </p:txBody>
      </p:sp>
      <p:sp>
        <p:nvSpPr>
          <p:cNvPr id="13" name="Истинный да">
            <a:extLst>
              <a:ext uri="{FF2B5EF4-FFF2-40B4-BE49-F238E27FC236}">
                <ns2:creationId id="{3B13CCE6-8D50-49B5-9338-B2728015BF37}"/>
              </a:ext>
            </a:extLst>
          </p:cNvPr>
          <p:cNvSpPr>
            <a:spLocks noGrp="1"/>
          </p:cNvSpPr>
          <p:nvPr/>
        </p:nvSpPr>
        <p:spPr>
          <a:xfrm>
            <a:off x="381000" y="5600700"/>
            <a:ext cx="1104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4" name="TN">
            <a:extLst>
              <a:ext uri="{FF2B5EF4-FFF2-40B4-BE49-F238E27FC236}">
                <ns2:creationId id="{CCB027F7-42AB-4F4B-9FC6-7AB7AF4614A5}"/>
              </a:ext>
            </a:extLst>
          </p:cNvPr>
          <p:cNvSpPr>
            <a:spLocks noGrp="1"/>
          </p:cNvSpPr>
          <p:nvPr/>
        </p:nvSpPr>
        <p:spPr>
          <a:xfrm>
            <a:off x="1619250" y="4467225"/>
            <a:ext cx="1314450" cy="857250"/>
          </a:xfrm>
          <a:prstGeom prst="rect">
            <a:avLst/>
          </a:prstGeom>
          <a:solidFill>
            <a:srgbClr val="E3F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Число TN">
            <a:extLst>
              <a:ext uri="{FF2B5EF4-FFF2-40B4-BE49-F238E27FC236}">
                <ns2:creationId id="{2C5BE551-A4A8-498D-ADFF-D536FE179794}"/>
              </a:ext>
            </a:extLst>
          </p:cNvPr>
          <p:cNvSpPr>
            <a:spLocks noGrp="1"/>
          </p:cNvSpPr>
          <p:nvPr/>
        </p:nvSpPr>
        <p:spPr>
          <a:xfrm>
            <a:off x="161925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2408</a:t>
            </a:r>
          </a:p>
        </p:txBody>
      </p:sp>
      <p:sp>
        <p:nvSpPr>
          <p:cNvPr id="16" name="Смысл TN">
            <a:extLst>
              <a:ext uri="{FF2B5EF4-FFF2-40B4-BE49-F238E27FC236}">
                <ns2:creationId id="{C22348AE-78E1-4BE3-BB1C-9A3208C7874A}"/>
              </a:ext>
            </a:extLst>
          </p:cNvPr>
          <p:cNvSpPr>
            <a:spLocks noGrp="1"/>
          </p:cNvSpPr>
          <p:nvPr/>
        </p:nvSpPr>
        <p:spPr>
          <a:xfrm>
            <a:off x="164782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 нет</a:t>
            </a:r>
          </a:p>
        </p:txBody>
      </p:sp>
      <p:sp>
        <p:nvSpPr>
          <p:cNvPr id="17" name="FP">
            <a:extLst>
              <a:ext uri="{FF2B5EF4-FFF2-40B4-BE49-F238E27FC236}">
                <ns2:creationId id="{8D59EDC4-7338-44BE-9574-334283087035}"/>
              </a:ext>
            </a:extLst>
          </p:cNvPr>
          <p:cNvSpPr>
            <a:spLocks noGrp="1"/>
          </p:cNvSpPr>
          <p:nvPr/>
        </p:nvSpPr>
        <p:spPr>
          <a:xfrm>
            <a:off x="2933700" y="4467225"/>
            <a:ext cx="1314450" cy="857250"/>
          </a:xfrm>
          <a:prstGeom prst="rect">
            <a:avLst/>
          </a:prstGeom>
          <a:solidFill>
            <a:srgbClr val="FFE7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Число FP">
            <a:extLst>
              <a:ext uri="{FF2B5EF4-FFF2-40B4-BE49-F238E27FC236}">
                <ns2:creationId id="{73A81274-ABC3-4F2B-9BCB-3B415C4039D5}"/>
              </a:ext>
            </a:extLst>
          </p:cNvPr>
          <p:cNvSpPr>
            <a:spLocks noGrp="1"/>
          </p:cNvSpPr>
          <p:nvPr/>
        </p:nvSpPr>
        <p:spPr>
          <a:xfrm>
            <a:off x="293370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12</a:t>
            </a:r>
          </a:p>
        </p:txBody>
      </p:sp>
      <p:sp>
        <p:nvSpPr>
          <p:cNvPr id="19" name="Смысл FP">
            <a:extLst>
              <a:ext uri="{FF2B5EF4-FFF2-40B4-BE49-F238E27FC236}">
                <ns2:creationId id="{F338C22D-269B-4226-AECD-36CB5F0F2987}"/>
              </a:ext>
            </a:extLst>
          </p:cNvPr>
          <p:cNvSpPr>
            <a:spLocks noGrp="1"/>
          </p:cNvSpPr>
          <p:nvPr/>
        </p:nvSpPr>
        <p:spPr>
          <a:xfrm>
            <a:off x="296227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Ложная тревога</a:t>
            </a:r>
          </a:p>
        </p:txBody>
      </p:sp>
      <p:sp>
        <p:nvSpPr>
          <p:cNvPr id="20" name="FN">
            <a:extLst>
              <a:ext uri="{FF2B5EF4-FFF2-40B4-BE49-F238E27FC236}">
                <ns2:creationId id="{AF748569-D2EE-4089-90CD-64E94F79541C}"/>
              </a:ext>
            </a:extLst>
          </p:cNvPr>
          <p:cNvSpPr>
            <a:spLocks noGrp="1"/>
          </p:cNvSpPr>
          <p:nvPr/>
        </p:nvSpPr>
        <p:spPr>
          <a:xfrm>
            <a:off x="1619250" y="5324475"/>
            <a:ext cx="1314450" cy="857250"/>
          </a:xfrm>
          <a:prstGeom prst="rect">
            <a:avLst/>
          </a:prstGeom>
          <a:solidFill>
            <a:srgbClr val="FFDD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Число FN">
            <a:extLst>
              <a:ext uri="{FF2B5EF4-FFF2-40B4-BE49-F238E27FC236}">
                <ns2:creationId id="{DD1BD0E7-BEDC-4FC3-9470-133F08CAECB3}"/>
              </a:ext>
            </a:extLst>
          </p:cNvPr>
          <p:cNvSpPr>
            <a:spLocks noGrp="1"/>
          </p:cNvSpPr>
          <p:nvPr/>
        </p:nvSpPr>
        <p:spPr>
          <a:xfrm>
            <a:off x="161925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</a:t>
            </a:r>
          </a:p>
        </p:txBody>
      </p:sp>
      <p:sp>
        <p:nvSpPr>
          <p:cNvPr id="22" name="Смысл FN">
            <a:extLst>
              <a:ext uri="{FF2B5EF4-FFF2-40B4-BE49-F238E27FC236}">
                <ns2:creationId id="{722A4DC9-7972-4445-A75D-54F35834CF15}"/>
              </a:ext>
            </a:extLst>
          </p:cNvPr>
          <p:cNvSpPr>
            <a:spLocks noGrp="1"/>
          </p:cNvSpPr>
          <p:nvPr/>
        </p:nvSpPr>
        <p:spPr>
          <a:xfrm>
            <a:off x="164782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Пропуск дефекта</a:t>
            </a:r>
          </a:p>
        </p:txBody>
      </p:sp>
      <p:sp>
        <p:nvSpPr>
          <p:cNvPr id="23" name="TP">
            <a:extLst>
              <a:ext uri="{FF2B5EF4-FFF2-40B4-BE49-F238E27FC236}">
                <ns2:creationId id="{0DB4CE8C-87F9-469D-BBFB-09CA349F007B}"/>
              </a:ext>
            </a:extLst>
          </p:cNvPr>
          <p:cNvSpPr>
            <a:spLocks noGrp="1"/>
          </p:cNvSpPr>
          <p:nvPr/>
        </p:nvSpPr>
        <p:spPr>
          <a:xfrm>
            <a:off x="2933700" y="5324475"/>
            <a:ext cx="1314450" cy="857250"/>
          </a:xfrm>
          <a:prstGeom prst="rect">
            <a:avLst/>
          </a:prstGeom>
          <a:solidFill>
            <a:srgbClr val="CCEB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Число TP">
            <a:extLst>
              <a:ext uri="{FF2B5EF4-FFF2-40B4-BE49-F238E27FC236}">
                <ns2:creationId id="{FA662AEE-D4E6-45AF-9221-CE508DB4D189}"/>
              </a:ext>
            </a:extLst>
          </p:cNvPr>
          <p:cNvSpPr>
            <a:spLocks noGrp="1"/>
          </p:cNvSpPr>
          <p:nvPr/>
        </p:nvSpPr>
        <p:spPr>
          <a:xfrm>
            <a:off x="293370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916</a:t>
            </a:r>
          </a:p>
        </p:txBody>
      </p:sp>
      <p:sp>
        <p:nvSpPr>
          <p:cNvPr id="25" name="Смысл TP">
            <a:extLst>
              <a:ext uri="{FF2B5EF4-FFF2-40B4-BE49-F238E27FC236}">
                <ns2:creationId id="{0BEDF38B-ABFE-4FD5-BFE1-D6A3376A3452}"/>
              </a:ext>
            </a:extLst>
          </p:cNvPr>
          <p:cNvSpPr>
            <a:spLocks noGrp="1"/>
          </p:cNvSpPr>
          <p:nvPr/>
        </p:nvSpPr>
        <p:spPr>
          <a:xfrm>
            <a:off x="296227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 найден</a:t>
            </a:r>
          </a:p>
        </p:txBody>
      </p:sp>
      <p:sp>
        <p:nvSpPr>
          <p:cNvPr id="26" name="Метрики заголовок">
            <a:extLst>
              <a:ext uri="{FF2B5EF4-FFF2-40B4-BE49-F238E27FC236}">
                <ns2:creationId id="{206BAC69-DB4A-4056-AAD3-C39B4D15A19F}"/>
              </a:ext>
            </a:extLst>
          </p:cNvPr>
          <p:cNvSpPr>
            <a:spLocks noGrp="1"/>
          </p:cNvSpPr>
          <p:nvPr/>
        </p:nvSpPr>
        <p:spPr>
          <a:xfrm>
            <a:off x="4762500" y="3286125"/>
            <a:ext cx="401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Итоговые показатели на тесте</a:t>
            </a:r>
          </a:p>
        </p:txBody>
      </p:sp>
      <p:sp>
        <p:nvSpPr>
          <p:cNvPr id="27" name="Рамка метрик">
            <a:extLst>
              <a:ext uri="{FF2B5EF4-FFF2-40B4-BE49-F238E27FC236}">
                <ns2:creationId id="{8B49647A-1712-4BA8-B301-CDAA50062E79}"/>
              </a:ext>
            </a:extLst>
          </p:cNvPr>
          <p:cNvSpPr>
            <a:spLocks noGrp="1"/>
          </p:cNvSpPr>
          <p:nvPr/>
        </p:nvSpPr>
        <p:spPr>
          <a:xfrm>
            <a:off x="4743450" y="3629025"/>
            <a:ext cx="4038600" cy="1362075"/>
          </a:xfrm>
          <a:prstGeom prst="rect">
            <a:avLst/>
          </a:prstGeom>
          <a:noFill/>
          <a:ln w="9525">
            <a:solidFill>
              <a:srgbClr val="2467B2"/>
            </a:solidFill>
            <a:prstDash val="dash"/>
          </a:ln>
        </p:spPr>
      </p:sp>
      <p:sp>
        <p:nvSpPr>
          <p:cNvPr id="28" name="Метрика Precision">
            <a:extLst>
              <a:ext uri="{FF2B5EF4-FFF2-40B4-BE49-F238E27FC236}">
                <ns2:creationId id="{04024270-07E3-419C-B836-88F8C5536338}"/>
              </a:ext>
            </a:extLst>
          </p:cNvPr>
          <p:cNvSpPr>
            <a:spLocks noGrp="1"/>
          </p:cNvSpPr>
          <p:nvPr/>
        </p:nvSpPr>
        <p:spPr>
          <a:xfrm>
            <a:off x="4848225" y="37242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Precision 98,71 %</a:t>
            </a:r>
            <a:r>
              <a:t> — верные срабатывания</a:t>
            </a:r>
          </a:p>
        </p:txBody>
      </p:sp>
      <p:sp>
        <p:nvSpPr>
          <p:cNvPr id="29" name="Метрика Recall">
            <a:extLst>
              <a:ext uri="{FF2B5EF4-FFF2-40B4-BE49-F238E27FC236}">
                <ns2:creationId id="{06F6840A-9BB2-435D-AA2C-A32DE1C53B0E}"/>
              </a:ext>
            </a:extLst>
          </p:cNvPr>
          <p:cNvSpPr>
            <a:spLocks noGrp="1"/>
          </p:cNvSpPr>
          <p:nvPr/>
        </p:nvSpPr>
        <p:spPr>
          <a:xfrm>
            <a:off x="4848225" y="39719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Recall 99,89 %</a:t>
            </a:r>
            <a:r>
              <a:t> — найденные дефекты</a:t>
            </a:r>
          </a:p>
        </p:txBody>
      </p:sp>
      <p:sp>
        <p:nvSpPr>
          <p:cNvPr id="30" name="Метрика F1">
            <a:extLst>
              <a:ext uri="{FF2B5EF4-FFF2-40B4-BE49-F238E27FC236}">
                <ns2:creationId id="{5994F03C-3502-413F-8BC1-33B39C39EA59}"/>
              </a:ext>
            </a:extLst>
          </p:cNvPr>
          <p:cNvSpPr>
            <a:spLocks noGrp="1"/>
          </p:cNvSpPr>
          <p:nvPr/>
        </p:nvSpPr>
        <p:spPr>
          <a:xfrm>
            <a:off x="4848225" y="42195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F1 99,30 %</a:t>
            </a:r>
            <a:r>
              <a:t> — баланс Precision и Recall</a:t>
            </a:r>
          </a:p>
        </p:txBody>
      </p:sp>
      <p:sp>
        <p:nvSpPr>
          <p:cNvPr id="31" name="Метрика Accuracy">
            <a:extLst>
              <a:ext uri="{FF2B5EF4-FFF2-40B4-BE49-F238E27FC236}">
                <ns2:creationId id="{78D355ED-DEBD-405E-A146-2559E489CEB7}"/>
              </a:ext>
            </a:extLst>
          </p:cNvPr>
          <p:cNvSpPr>
            <a:spLocks noGrp="1"/>
          </p:cNvSpPr>
          <p:nvPr/>
        </p:nvSpPr>
        <p:spPr>
          <a:xfrm>
            <a:off x="4848225" y="44672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Accuracy 99,61 %</a:t>
            </a:r>
            <a:r>
              <a:t> — все верные ответы</a:t>
            </a:r>
          </a:p>
        </p:txBody>
      </p:sp>
      <p:sp>
        <p:nvSpPr>
          <p:cNvPr id="32" name="Метрика AP">
            <a:extLst>
              <a:ext uri="{FF2B5EF4-FFF2-40B4-BE49-F238E27FC236}">
                <ns2:creationId id="{02696D02-D058-4ABC-8285-5E7B887B6609}"/>
              </a:ext>
            </a:extLst>
          </p:cNvPr>
          <p:cNvSpPr>
            <a:spLocks noGrp="1"/>
          </p:cNvSpPr>
          <p:nvPr/>
        </p:nvSpPr>
        <p:spPr>
          <a:xfrm>
            <a:off x="4848225" y="47148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AP 99,72 %</a:t>
            </a:r>
            <a:r>
              <a:t> — оценка по разным порогам</a:t>
            </a:r>
          </a:p>
        </p:txBody>
      </p:sp>
      <p:sp>
        <p:nvSpPr>
          <p:cNvPr id="33" name="Почему высокие">
            <a:extLst>
              <a:ext uri="{FF2B5EF4-FFF2-40B4-BE49-F238E27FC236}">
                <ns2:creationId id="{327B6727-A85A-45C9-80A2-7C68FBA535BB}"/>
              </a:ext>
            </a:extLst>
          </p:cNvPr>
          <p:cNvSpPr>
            <a:spLocks noGrp="1"/>
          </p:cNvSpPr>
          <p:nvPr/>
        </p:nvSpPr>
        <p:spPr>
          <a:xfrm>
            <a:off x="4743450" y="5181600"/>
            <a:ext cx="4038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Как понимать показатели около 99 %</a:t>
            </a:r>
          </a:p>
        </p:txBody>
      </p:sp>
      <p:sp>
        <p:nvSpPr>
          <p:cNvPr id="34" name="Объяснение">
            <a:extLst>
              <a:ext uri="{FF2B5EF4-FFF2-40B4-BE49-F238E27FC236}">
                <ns2:creationId id="{9E7AC871-5585-4136-B85A-831A2434D78B}"/>
              </a:ext>
            </a:extLst>
          </p:cNvPr>
          <p:cNvSpPr>
            <a:spLocks noGrp="1"/>
          </p:cNvSpPr>
          <p:nvPr/>
        </p:nvSpPr>
        <p:spPr>
          <a:xfrm>
            <a:off x="4743450" y="5505450"/>
            <a:ext cx="403860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Сеть дообучалась из ранее полученных весов: AP после первой эпохи уже 98,97 %. На тесте всего 13 ошибок из 3 337 кадров. Похожие кадры и использование теста при разработке могут завышать оценку.</a:t>
            </a:r>
          </a:p>
        </p:txBody>
      </p:sp>
      <p:sp>
        <p:nvSpPr>
          <p:cNvPr id="35" name="Номер">
            <a:extLst>
              <a:ext uri="{FF2B5EF4-FFF2-40B4-BE49-F238E27FC236}">
                <ns2:creationId id="{A08D2098-61A9-40D7-8F09-BE16DF02AF2C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</p:spTree>
    <p:extLst>
      <p:ext uri="{BB962C8B-B14F-4D97-AF65-F5344CB8AC3E}">
        <ns5:creationId val="302544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сервере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7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B50E-3BD8-57A2-B047-497A3FD50648}"/>
              </a:ext>
            </a:extLst>
          </p:cNvPr>
          <p:cNvSpPr txBox="1"/>
          <p:nvPr/>
        </p:nvSpPr>
        <p:spPr>
          <a:xfrm>
            <a:off x="186213" y="875407"/>
            <a:ext cx="2920514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Роль сервера: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b="1" dirty="0">
                <a:latin typeface="Times New Roman"/>
                <a:ea typeface="+mn-lt"/>
                <a:cs typeface="+mn-lt"/>
              </a:rPr>
              <a:t>Централизованная </a:t>
            </a:r>
            <a:r>
              <a:rPr lang="ru-RU" dirty="0">
                <a:latin typeface="Times New Roman"/>
                <a:ea typeface="+mn-lt"/>
                <a:cs typeface="+mn-lt"/>
              </a:rPr>
              <a:t>обработка запросов.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Выполнение </a:t>
            </a:r>
            <a:r>
              <a:rPr lang="ru-RU" b="1" dirty="0">
                <a:latin typeface="Times New Roman"/>
                <a:ea typeface="+mn-lt"/>
                <a:cs typeface="+mn-lt"/>
              </a:rPr>
              <a:t>ресурсоёмких </a:t>
            </a:r>
            <a:r>
              <a:rPr lang="ru-RU" dirty="0">
                <a:latin typeface="Times New Roman"/>
                <a:ea typeface="+mn-lt"/>
                <a:cs typeface="+mn-lt"/>
              </a:rPr>
              <a:t>задач.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2968" y="875407"/>
            <a:ext cx="5639137" cy="5093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86213" y="2593566"/>
            <a:ext cx="2920514" cy="3416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кадр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камеры и идентификаторы сессии. После кадр анализируется нейросетью, которая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 наличие «спагетти»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возвращает признак дефекта и числовую оценку модели вместе с исходными идентификаторами, связывающими результат с конкретным кадром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B2494F24-8111-2CAC-A358-3AE7239D4D1C}"/>
              </a:ext>
            </a:extLst>
          </p:cNvPr>
          <p:cNvSpPr>
            <a:spLocks noGrp="1"/>
          </p:cNvSpPr>
          <p:nvPr/>
        </p:nvSpPr>
        <p:spPr>
          <a:xfrm>
            <a:off x="4085971" y="6009005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Блок-схема серверной обработки кадров и определения дефектов FDM-печати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72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принтере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8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6727" y="875407"/>
            <a:ext cx="5905217" cy="52953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32056" y="1152406"/>
            <a:ext cx="291799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модуль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принадлежность результата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текущей печатной сессии и учитывает последовательные срабатывания. Отрицательный или неопределённый результат сбрасывает счётчик.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трёх последовательных обнаружений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«спагетти» повторно проверяется активность сессии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команда отмены печати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5B04886-22A1-2CCD-9C65-F1ADEC0EB19F}"/>
              </a:ext>
            </a:extLst>
          </p:cNvPr>
          <p:cNvSpPr>
            <a:spLocks noGrp="1"/>
          </p:cNvSpPr>
          <p:nvPr/>
        </p:nvSpPr>
        <p:spPr>
          <a:xfrm>
            <a:off x="3723995" y="6170765"/>
            <a:ext cx="4670679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Блок-схема проверки результатов обнаружения дефекта и отмены FDM-печати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6394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Электросхема 3</a:t>
            </a:r>
            <a:r>
              <a:rPr lang="en-US" sz="4000" dirty="0">
                <a:latin typeface="Times New Roman"/>
                <a:ea typeface="Calibri"/>
                <a:cs typeface="Times New Roman"/>
              </a:rPr>
              <a:t>D-</a:t>
            </a:r>
            <a:r>
              <a:rPr lang="ru-RU" sz="4000" dirty="0">
                <a:latin typeface="Times New Roman"/>
                <a:ea typeface="Calibri"/>
                <a:cs typeface="Times New Roman"/>
              </a:rPr>
              <a:t>принтера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9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875F94-D2E7-0E2D-5267-8B670B1C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81" y="603944"/>
            <a:ext cx="8440637" cy="37086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54001" y="4734036"/>
            <a:ext cx="848751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электрической части разрабатываемого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принтера выбрана плата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MKS Robin Nano V1.2 (7)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драйвера TMC2209. Плата управляет двигателями (5), нагревателями (1, 2) и вентиляторами, а также получает сигналы с датчиков (6).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3B (10)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подключение камеры (9), сенсорного экрана (8) и обменивается данными с управляющей платой по UART. Блок питания (3) обеспечивает силовые узлы напряжением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DC-DC-преобразователь (4) понижает его до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Raspberry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подключённой периферии.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6C4BDD25-6E44-8F04-93A8-3BDF96080B11}"/>
              </a:ext>
            </a:extLst>
          </p:cNvPr>
          <p:cNvSpPr>
            <a:spLocks noGrp="1"/>
          </p:cNvSpPr>
          <p:nvPr/>
        </p:nvSpPr>
        <p:spPr>
          <a:xfrm>
            <a:off x="1313146" y="4181848"/>
            <a:ext cx="651770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Схема электрической коммутации компонентов 3D-принтера </a:t>
            </a:r>
          </a:p>
        </p:txBody>
      </p:sp>
    </p:spTree>
    <p:extLst>
      <p:ext uri="{BB962C8B-B14F-4D97-AF65-F5344CB8AC3E}">
        <p14:creationId xmlns:p14="http://schemas.microsoft.com/office/powerpoint/2010/main" val="12837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Тестирование на реальной печати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03200" y="4078032"/>
            <a:ext cx="3882390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печати после запуска контролируемого сбоя, модель постепенно увеличивала оценку обнаружения «спагетти».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3 мин 21 с,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контроля получила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уверенных последовательных обнаружения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 отменил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с выводом соответствующей ошибки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5B33C-B5D3-98C3-9211-F88247D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50" t="10273" r="32713" b="28766"/>
          <a:stretch/>
        </p:blipFill>
        <p:spPr>
          <a:xfrm>
            <a:off x="4572000" y="678623"/>
            <a:ext cx="4073130" cy="2608849"/>
          </a:xfrm>
          <a:prstGeom prst="rect">
            <a:avLst/>
          </a:prstGeom>
        </p:spPr>
      </p:pic>
      <p:sp>
        <p:nvSpPr>
          <p:cNvPr id="10" name="TextBox 26">
            <a:extLst>
              <a:ext uri="{FF2B5EF4-FFF2-40B4-BE49-F238E27FC236}">
                <a16:creationId xmlns:a16="http://schemas.microsoft.com/office/drawing/2014/main" id="{B3EABF96-386D-700B-07FB-75E0CD46DA63}"/>
              </a:ext>
            </a:extLst>
          </p:cNvPr>
          <p:cNvSpPr>
            <a:spLocks noGrp="1"/>
          </p:cNvSpPr>
          <p:nvPr/>
        </p:nvSpPr>
        <p:spPr>
          <a:xfrm>
            <a:off x="4572000" y="328096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дефектом типа  «спагетти»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DAA191B-FE24-F716-CFE2-146C9DF2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0183"/>
              </p:ext>
            </p:extLst>
          </p:nvPr>
        </p:nvGraphicFramePr>
        <p:xfrm>
          <a:off x="203200" y="678623"/>
          <a:ext cx="3882390" cy="31941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665109338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3225751743"/>
                    </a:ext>
                  </a:extLst>
                </a:gridCol>
              </a:tblGrid>
              <a:tr h="41230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50191"/>
                  </a:ext>
                </a:extLst>
              </a:tr>
              <a:tr h="91497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 появления дефекта до срабатывания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минуты, 21 секунда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88437"/>
                  </a:ext>
                </a:extLst>
              </a:tr>
              <a:tr h="41230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 автоматической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3534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0,3655, в начале записи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74038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70564"/>
                  </a:ext>
                </a:extLst>
              </a:tr>
            </a:tbl>
          </a:graphicData>
        </a:graphic>
      </p:graphicFrame>
      <p:sp>
        <p:nvSpPr>
          <p:cNvPr id="12" name="TextBox 26">
            <a:extLst>
              <a:ext uri="{FF2B5EF4-FFF2-40B4-BE49-F238E27FC236}">
                <a16:creationId xmlns:a16="http://schemas.microsoft.com/office/drawing/2014/main" id="{0F1BE2F2-80C9-8159-C3BF-933349087573}"/>
              </a:ext>
            </a:extLst>
          </p:cNvPr>
          <p:cNvSpPr>
            <a:spLocks noGrp="1"/>
          </p:cNvSpPr>
          <p:nvPr/>
        </p:nvSpPr>
        <p:spPr>
          <a:xfrm>
            <a:off x="4815206" y="6150348"/>
            <a:ext cx="35867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примером обнаружения детали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4B603F-73F4-5404-D6AD-383F980E8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8" t="12057" r="32186" b="15292"/>
          <a:stretch/>
        </p:blipFill>
        <p:spPr>
          <a:xfrm>
            <a:off x="5078978" y="4078032"/>
            <a:ext cx="3059174" cy="20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8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634" y="1034005"/>
            <a:ext cx="8736990" cy="58275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дефекты FDM-печати и выбран целевого дефекта для автоматического обнаружения.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датасет: произведен поиск данных, балансировка классов,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аугментирование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разделение на обучающую и тестовую выборки; </a:t>
            </a:r>
          </a:p>
          <a:p>
            <a:pPr marL="214630" indent="-21463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Обучена нейронная сеть для распознавания дефекта «Спагетти» на основе изображений печатей;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Разработан, собран и отлажен аппаратно-программный комплекса экспериментального 3D-принтера.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тестовый запуск работы системы контроля и 3D-принтера в процессе печати.</a:t>
            </a: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11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6DF51-0B62-79A6-6D5B-9EBEFC4103B7}"/>
              </a:ext>
            </a:extLst>
          </p:cNvPr>
          <p:cNvSpPr txBox="1">
            <a:spLocks/>
          </p:cNvSpPr>
          <p:nvPr/>
        </p:nvSpPr>
        <p:spPr>
          <a:xfrm>
            <a:off x="701718" y="3637"/>
            <a:ext cx="7886700" cy="71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>
                <a:latin typeface="Times New Roman"/>
                <a:ea typeface="Calibri"/>
                <a:cs typeface="Times New Roman"/>
              </a:rPr>
              <a:t>Заключение</a:t>
            </a:r>
            <a:endParaRPr lang="ru-RU"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61" name="Заголовок выбора">
            <a:extLst>
              <a:ext uri="{FF2B5EF4-FFF2-40B4-BE49-F238E27FC236}">
                <ns2:creationId id="{F15541D4-1B64-408E-B87B-CCAD9BB22663}"/>
              </a:ext>
            </a:extLst>
          </p:cNvPr>
          <p:cNvSpPr>
            <a:spLocks noGrp="1"/>
          </p:cNvSpPr>
          <p:nvPr/>
        </p:nvSpPr>
        <p:spPr>
          <a:xfrm>
            <a:off x="428625" y="47625"/>
            <a:ext cx="828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Почему выбраны веса 19-й эпохи</a:t>
            </a:r>
          </a:p>
        </p:txBody>
      </p:sp>
      <p:sp>
        <p:nvSpPr>
          <p:cNvPr id="2" name="Правило выбора">
            <a:extLst>
              <a:ext uri="{FF2B5EF4-FFF2-40B4-BE49-F238E27FC236}">
                <ns2:creationId id="{27091C86-B25B-417C-BD6E-5228AA7EDA05}"/>
              </a:ext>
            </a:extLst>
          </p:cNvPr>
          <p:cNvSpPr>
            <a:spLocks noGrp="1"/>
          </p:cNvSpPr>
          <p:nvPr/>
        </p:nvSpPr>
        <p:spPr>
          <a:xfrm>
            <a:off x="419100" y="838200"/>
            <a:ext cx="8324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Максимум полноты при доле ложных тревог не выше 1 %</a:t>
            </a:r>
          </a:p>
        </p:txBody>
      </p:sp>
      <p:sp>
        <p:nvSpPr>
          <p:cNvPr id="3" name="Выборка для выбора">
            <a:extLst>
              <a:ext uri="{FF2B5EF4-FFF2-40B4-BE49-F238E27FC236}">
                <ns2:creationId id="{6866144B-8060-4B03-8C46-8439B1F7BEAB}"/>
              </a:ext>
            </a:extLst>
          </p:cNvPr>
          <p:cNvSpPr>
            <a:spLocks noGrp="1"/>
          </p:cNvSpPr>
          <p:nvPr/>
        </p:nvSpPr>
        <p:spPr>
          <a:xfrm>
            <a:off x="428625" y="1247775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Валидация принтера: 11 кадров с дефектом и 128 без него; порог 0,3</a:t>
            </a:r>
          </a:p>
        </p:txBody>
      </p:sp>
      <p:sp>
        <p:nvSpPr>
          <p:cNvPr id="4" name="Полнота заголовок">
            <a:extLst>
              <a:ext uri="{FF2B5EF4-FFF2-40B4-BE49-F238E27FC236}">
                <ns2:creationId id="{40D1F852-1D02-4ABE-BDE4-093CF601E01E}"/>
              </a:ext>
            </a:extLst>
          </p:cNvPr>
          <p:cNvSpPr>
            <a:spLocks noGrp="1"/>
          </p:cNvSpPr>
          <p:nvPr/>
        </p:nvSpPr>
        <p:spPr>
          <a:xfrm>
            <a:off x="361950" y="1704975"/>
            <a:ext cx="3981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обнаружения, %</a:t>
            </a:r>
          </a:p>
        </p:txBody>
      </p:sp>
      <p:sp>
        <p:nvSpPr>
          <p:cNvPr id="5" name="Тревоги заголовок">
            <a:extLst>
              <a:ext uri="{FF2B5EF4-FFF2-40B4-BE49-F238E27FC236}">
                <ns2:creationId id="{5AD91DF0-2E47-418E-9AA8-2456FC670C60}"/>
              </a:ext>
            </a:extLst>
          </p:cNvPr>
          <p:cNvSpPr>
            <a:spLocks noGrp="1"/>
          </p:cNvSpPr>
          <p:nvPr/>
        </p:nvSpPr>
        <p:spPr>
          <a:xfrm>
            <a:off x="4762500" y="1704975"/>
            <a:ext cx="3981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Доля ложных тревог, %</a:t>
            </a:r>
          </a:p>
        </p:txBody>
      </p:sp>
      <p:graphicFrame>
        <p:nvGraphicFramePr>
          <p:cNvPr id="6" name="Chart">
            <a:extLst>
              <a:ext uri="{FF2B5EF4-FFF2-40B4-BE49-F238E27FC236}">
                <ns2:creationId id="{C0634018-5D0C-4E51-B429-C43022916A87}"/>
              </a:ext>
            </a:extLst>
          </p:cNvPr>
          <p:cNvGraphicFramePr/>
          <p:nvPr/>
        </p:nvGraphicFramePr>
        <p:xfrm>
          <a:off x="295275" y="2133600"/>
          <a:ext cx="4124325" cy="1819275"/>
        </p:xfrm>
        <a:graphic>
          <a:graphicData uri="http://schemas.openxmlformats.org/drawingml/2006/chart">
            <ns3:chart r:id="rIdResult2"/>
          </a:graphicData>
        </a:graphic>
      </p:graphicFrame>
      <p:graphicFrame>
        <p:nvGraphicFramePr>
          <p:cNvPr id="7" name="Chart">
            <a:extLst>
              <a:ext uri="{FF2B5EF4-FFF2-40B4-BE49-F238E27FC236}">
                <ns2:creationId id="{BD47AD2A-624E-4DC8-8D43-3D8E61B268D7}"/>
              </a:ext>
            </a:extLst>
          </p:cNvPr>
          <p:cNvGraphicFramePr/>
          <p:nvPr/>
        </p:nvGraphicFramePr>
        <p:xfrm>
          <a:off x="4705350" y="2133600"/>
          <a:ext cx="4124325" cy="1819275"/>
        </p:xfrm>
        <a:graphic>
          <a:graphicData uri="http://schemas.openxmlformats.org/drawingml/2006/chart">
            <ns3:chart r:id="rIdResult3"/>
          </a:graphicData>
        </a:graphic>
      </p:graphicFrame>
      <p:sp>
        <p:nvSpPr>
          <p:cNvPr id="8" name="Предел">
            <a:extLst>
              <a:ext uri="{FF2B5EF4-FFF2-40B4-BE49-F238E27FC236}">
                <ns2:creationId id="{1F6F78A7-65A3-45F1-8C8F-5C4F095AB233}"/>
              </a:ext>
            </a:extLst>
          </p:cNvPr>
          <p:cNvSpPr>
            <a:spLocks noGrp="1"/>
          </p:cNvSpPr>
          <p:nvPr/>
        </p:nvSpPr>
        <p:spPr>
          <a:xfrm>
            <a:off x="4752975" y="4010025"/>
            <a:ext cx="4048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Пунктир — допустимая доля ложных тревог 1 %</a:t>
            </a:r>
          </a:p>
        </p:txBody>
      </p:sp>
      <p:sp>
        <p:nvSpPr>
          <p:cNvPr id="9" name="Таблица 0 0">
            <a:extLst>
              <a:ext uri="{FF2B5EF4-FFF2-40B4-BE49-F238E27FC236}">
                <ns2:creationId id="{D82DD460-766A-46E3-9769-F0185D4393E3}"/>
              </a:ext>
            </a:extLst>
          </p:cNvPr>
          <p:cNvSpPr>
            <a:spLocks noGrp="1"/>
          </p:cNvSpPr>
          <p:nvPr/>
        </p:nvSpPr>
        <p:spPr>
          <a:xfrm>
            <a:off x="457200" y="4371975"/>
            <a:ext cx="7143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0" name="Текст 0 0">
            <a:extLst>
              <a:ext uri="{FF2B5EF4-FFF2-40B4-BE49-F238E27FC236}">
                <ns2:creationId id="{6DCB2F7C-44BC-4748-BF51-BD8C70DCF8C2}"/>
              </a:ext>
            </a:extLst>
          </p:cNvPr>
          <p:cNvSpPr>
            <a:spLocks noGrp="1"/>
          </p:cNvSpPr>
          <p:nvPr/>
        </p:nvSpPr>
        <p:spPr>
          <a:xfrm>
            <a:off x="495300" y="443865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Эпоха</a:t>
            </a:r>
          </a:p>
        </p:txBody>
      </p:sp>
      <p:sp>
        <p:nvSpPr>
          <p:cNvPr id="11" name="Таблица 0 1">
            <a:extLst>
              <a:ext uri="{FF2B5EF4-FFF2-40B4-BE49-F238E27FC236}">
                <ns2:creationId id="{4A60577D-209E-4E20-86E1-FBE3841DC99E}"/>
              </a:ext>
            </a:extLst>
          </p:cNvPr>
          <p:cNvSpPr>
            <a:spLocks noGrp="1"/>
          </p:cNvSpPr>
          <p:nvPr/>
        </p:nvSpPr>
        <p:spPr>
          <a:xfrm>
            <a:off x="1171575" y="4371975"/>
            <a:ext cx="15621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2" name="Текст 0 1">
            <a:extLst>
              <a:ext uri="{FF2B5EF4-FFF2-40B4-BE49-F238E27FC236}">
                <ns2:creationId id="{E6335656-EB37-4F4D-A52B-1E99F9D0C677}"/>
              </a:ext>
            </a:extLst>
          </p:cNvPr>
          <p:cNvSpPr>
            <a:spLocks noGrp="1"/>
          </p:cNvSpPr>
          <p:nvPr/>
        </p:nvSpPr>
        <p:spPr>
          <a:xfrm>
            <a:off x="1209675" y="443865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Полнота, %</a:t>
            </a:r>
          </a:p>
        </p:txBody>
      </p:sp>
      <p:sp>
        <p:nvSpPr>
          <p:cNvPr id="13" name="Таблица 0 2">
            <a:extLst>
              <a:ext uri="{FF2B5EF4-FFF2-40B4-BE49-F238E27FC236}">
                <ns2:creationId id="{E237534E-8511-4632-9296-BC3677CC0319}"/>
              </a:ext>
            </a:extLst>
          </p:cNvPr>
          <p:cNvSpPr>
            <a:spLocks noGrp="1"/>
          </p:cNvSpPr>
          <p:nvPr/>
        </p:nvSpPr>
        <p:spPr>
          <a:xfrm>
            <a:off x="2733675" y="4371975"/>
            <a:ext cx="19716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4" name="Текст 0 2">
            <a:extLst>
              <a:ext uri="{FF2B5EF4-FFF2-40B4-BE49-F238E27FC236}">
                <ns2:creationId id="{712DB6B9-AC17-41C6-B3EB-BFE988A05069}"/>
              </a:ext>
            </a:extLst>
          </p:cNvPr>
          <p:cNvSpPr>
            <a:spLocks noGrp="1"/>
          </p:cNvSpPr>
          <p:nvPr/>
        </p:nvSpPr>
        <p:spPr>
          <a:xfrm>
            <a:off x="2771775" y="443865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Ложные тревоги, %</a:t>
            </a:r>
          </a:p>
        </p:txBody>
      </p:sp>
      <p:sp>
        <p:nvSpPr>
          <p:cNvPr id="15" name="Таблица 0 3">
            <a:extLst>
              <a:ext uri="{FF2B5EF4-FFF2-40B4-BE49-F238E27FC236}">
                <ns2:creationId id="{5C4D8786-0A50-4944-9060-7B9A02958CBF}"/>
              </a:ext>
            </a:extLst>
          </p:cNvPr>
          <p:cNvSpPr>
            <a:spLocks noGrp="1"/>
          </p:cNvSpPr>
          <p:nvPr/>
        </p:nvSpPr>
        <p:spPr>
          <a:xfrm>
            <a:off x="4705350" y="4371975"/>
            <a:ext cx="16002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6" name="Текст 0 3">
            <a:extLst>
              <a:ext uri="{FF2B5EF4-FFF2-40B4-BE49-F238E27FC236}">
                <ns2:creationId id="{2C767524-F7A1-4E04-98B4-E455BC7DA955}"/>
              </a:ext>
            </a:extLst>
          </p:cNvPr>
          <p:cNvSpPr>
            <a:spLocks noGrp="1"/>
          </p:cNvSpPr>
          <p:nvPr/>
        </p:nvSpPr>
        <p:spPr>
          <a:xfrm>
            <a:off x="4743450" y="44386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AP принтера, %</a:t>
            </a:r>
          </a:p>
        </p:txBody>
      </p:sp>
      <p:sp>
        <p:nvSpPr>
          <p:cNvPr id="17" name="Таблица 0 4">
            <a:extLst>
              <a:ext uri="{FF2B5EF4-FFF2-40B4-BE49-F238E27FC236}">
                <ns2:creationId id="{4D6BCE2A-046A-4F35-8861-70CFA49BAC7A}"/>
              </a:ext>
            </a:extLst>
          </p:cNvPr>
          <p:cNvSpPr>
            <a:spLocks noGrp="1"/>
          </p:cNvSpPr>
          <p:nvPr/>
        </p:nvSpPr>
        <p:spPr>
          <a:xfrm>
            <a:off x="6305550" y="4371975"/>
            <a:ext cx="238125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8" name="Текст 0 4">
            <a:extLst>
              <a:ext uri="{FF2B5EF4-FFF2-40B4-BE49-F238E27FC236}">
                <ns2:creationId id="{48AF7EC4-DAA0-44BA-9DAD-26A97591B177}"/>
              </a:ext>
            </a:extLst>
          </p:cNvPr>
          <p:cNvSpPr>
            <a:spLocks noGrp="1"/>
          </p:cNvSpPr>
          <p:nvPr/>
        </p:nvSpPr>
        <p:spPr>
          <a:xfrm>
            <a:off x="6343650" y="443865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Решение</a:t>
            </a:r>
          </a:p>
        </p:txBody>
      </p:sp>
      <p:sp>
        <p:nvSpPr>
          <p:cNvPr id="19" name="Таблица 1 0">
            <a:extLst>
              <a:ext uri="{FF2B5EF4-FFF2-40B4-BE49-F238E27FC236}">
                <ns2:creationId id="{2FBB78F2-686F-4517-ADC4-5CD146D70368}"/>
              </a:ext>
            </a:extLst>
          </p:cNvPr>
          <p:cNvSpPr>
            <a:spLocks noGrp="1"/>
          </p:cNvSpPr>
          <p:nvPr/>
        </p:nvSpPr>
        <p:spPr>
          <a:xfrm>
            <a:off x="457200" y="4686300"/>
            <a:ext cx="7143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0" name="Текст 1 0">
            <a:extLst>
              <a:ext uri="{FF2B5EF4-FFF2-40B4-BE49-F238E27FC236}">
                <ns2:creationId id="{C2384BCE-877B-4F5D-B231-55DA4C65D224}"/>
              </a:ext>
            </a:extLst>
          </p:cNvPr>
          <p:cNvSpPr>
            <a:spLocks noGrp="1"/>
          </p:cNvSpPr>
          <p:nvPr/>
        </p:nvSpPr>
        <p:spPr>
          <a:xfrm>
            <a:off x="495300" y="4752975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</a:t>
            </a:r>
          </a:p>
        </p:txBody>
      </p:sp>
      <p:sp>
        <p:nvSpPr>
          <p:cNvPr id="21" name="Таблица 1 1">
            <a:extLst>
              <a:ext uri="{FF2B5EF4-FFF2-40B4-BE49-F238E27FC236}">
                <ns2:creationId id="{26864AA7-2F54-445D-B3E6-44225503FFFA}"/>
              </a:ext>
            </a:extLst>
          </p:cNvPr>
          <p:cNvSpPr>
            <a:spLocks noGrp="1"/>
          </p:cNvSpPr>
          <p:nvPr/>
        </p:nvSpPr>
        <p:spPr>
          <a:xfrm>
            <a:off x="1171575" y="4686300"/>
            <a:ext cx="15621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2" name="Текст 1 1">
            <a:extLst>
              <a:ext uri="{FF2B5EF4-FFF2-40B4-BE49-F238E27FC236}">
                <ns2:creationId id="{83797685-2B9B-45F0-B98C-BFD55FBAD7E0}"/>
              </a:ext>
            </a:extLst>
          </p:cNvPr>
          <p:cNvSpPr>
            <a:spLocks noGrp="1"/>
          </p:cNvSpPr>
          <p:nvPr/>
        </p:nvSpPr>
        <p:spPr>
          <a:xfrm>
            <a:off x="1209675" y="4752975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72,73</a:t>
            </a:r>
          </a:p>
        </p:txBody>
      </p:sp>
      <p:sp>
        <p:nvSpPr>
          <p:cNvPr id="23" name="Таблица 1 2">
            <a:extLst>
              <a:ext uri="{FF2B5EF4-FFF2-40B4-BE49-F238E27FC236}">
                <ns2:creationId id="{D893B8EB-8F4E-4D29-8749-C555EB1D5DB1}"/>
              </a:ext>
            </a:extLst>
          </p:cNvPr>
          <p:cNvSpPr>
            <a:spLocks noGrp="1"/>
          </p:cNvSpPr>
          <p:nvPr/>
        </p:nvSpPr>
        <p:spPr>
          <a:xfrm>
            <a:off x="2733675" y="4686300"/>
            <a:ext cx="19716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4" name="Текст 1 2">
            <a:extLst>
              <a:ext uri="{FF2B5EF4-FFF2-40B4-BE49-F238E27FC236}">
                <ns2:creationId id="{82B1DF74-DC72-4B8B-ACE6-6E2ABDCEC07F}"/>
              </a:ext>
            </a:extLst>
          </p:cNvPr>
          <p:cNvSpPr>
            <a:spLocks noGrp="1"/>
          </p:cNvSpPr>
          <p:nvPr/>
        </p:nvSpPr>
        <p:spPr>
          <a:xfrm>
            <a:off x="2771775" y="4752975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7,03</a:t>
            </a:r>
          </a:p>
        </p:txBody>
      </p:sp>
      <p:sp>
        <p:nvSpPr>
          <p:cNvPr id="25" name="Таблица 1 3">
            <a:extLst>
              <a:ext uri="{FF2B5EF4-FFF2-40B4-BE49-F238E27FC236}">
                <ns2:creationId id="{872B164B-0BA6-4EF0-A99A-FBBDDA1D6EA8}"/>
              </a:ext>
            </a:extLst>
          </p:cNvPr>
          <p:cNvSpPr>
            <a:spLocks noGrp="1"/>
          </p:cNvSpPr>
          <p:nvPr/>
        </p:nvSpPr>
        <p:spPr>
          <a:xfrm>
            <a:off x="4705350" y="4686300"/>
            <a:ext cx="16002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6" name="Текст 1 3">
            <a:extLst>
              <a:ext uri="{FF2B5EF4-FFF2-40B4-BE49-F238E27FC236}">
                <ns2:creationId id="{B82E5D5E-EA34-45A5-889C-A78A1810D269}"/>
              </a:ext>
            </a:extLst>
          </p:cNvPr>
          <p:cNvSpPr>
            <a:spLocks noGrp="1"/>
          </p:cNvSpPr>
          <p:nvPr/>
        </p:nvSpPr>
        <p:spPr>
          <a:xfrm>
            <a:off x="4743450" y="475297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75,12</a:t>
            </a:r>
          </a:p>
        </p:txBody>
      </p:sp>
      <p:sp>
        <p:nvSpPr>
          <p:cNvPr id="27" name="Таблица 1 4">
            <a:extLst>
              <a:ext uri="{FF2B5EF4-FFF2-40B4-BE49-F238E27FC236}">
                <ns2:creationId id="{F232415F-5837-4CD0-B78E-1E6471D1879B}"/>
              </a:ext>
            </a:extLst>
          </p:cNvPr>
          <p:cNvSpPr>
            <a:spLocks noGrp="1"/>
          </p:cNvSpPr>
          <p:nvPr/>
        </p:nvSpPr>
        <p:spPr>
          <a:xfrm>
            <a:off x="6305550" y="4686300"/>
            <a:ext cx="238125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8" name="Текст 1 4">
            <a:extLst>
              <a:ext uri="{FF2B5EF4-FFF2-40B4-BE49-F238E27FC236}">
                <ns2:creationId id="{E7059BB2-3060-4559-8995-8ADBDDC600AF}"/>
              </a:ext>
            </a:extLst>
          </p:cNvPr>
          <p:cNvSpPr>
            <a:spLocks noGrp="1"/>
          </p:cNvSpPr>
          <p:nvPr/>
        </p:nvSpPr>
        <p:spPr>
          <a:xfrm>
            <a:off x="6343650" y="4752975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Превышен предел 1 %</a:t>
            </a:r>
          </a:p>
        </p:txBody>
      </p:sp>
      <p:sp>
        <p:nvSpPr>
          <p:cNvPr id="29" name="Таблица 2 0">
            <a:extLst>
              <a:ext uri="{FF2B5EF4-FFF2-40B4-BE49-F238E27FC236}">
                <ns2:creationId id="{1382CA07-2741-4CDA-8FFA-C5D0B9A08053}"/>
              </a:ext>
            </a:extLst>
          </p:cNvPr>
          <p:cNvSpPr>
            <a:spLocks noGrp="1"/>
          </p:cNvSpPr>
          <p:nvPr/>
        </p:nvSpPr>
        <p:spPr>
          <a:xfrm>
            <a:off x="457200" y="5000625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0" name="Текст 2 0">
            <a:extLst>
              <a:ext uri="{FF2B5EF4-FFF2-40B4-BE49-F238E27FC236}">
                <ns2:creationId id="{8B897631-5547-4931-8E0E-6951CEC3065D}"/>
              </a:ext>
            </a:extLst>
          </p:cNvPr>
          <p:cNvSpPr>
            <a:spLocks noGrp="1"/>
          </p:cNvSpPr>
          <p:nvPr/>
        </p:nvSpPr>
        <p:spPr>
          <a:xfrm>
            <a:off x="495300" y="506730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18</a:t>
            </a:r>
          </a:p>
        </p:txBody>
      </p:sp>
      <p:sp>
        <p:nvSpPr>
          <p:cNvPr id="31" name="Таблица 2 1">
            <a:extLst>
              <a:ext uri="{FF2B5EF4-FFF2-40B4-BE49-F238E27FC236}">
                <ns2:creationId id="{36B26D90-7CFA-4FA2-82B3-5424A4C3119F}"/>
              </a:ext>
            </a:extLst>
          </p:cNvPr>
          <p:cNvSpPr>
            <a:spLocks noGrp="1"/>
          </p:cNvSpPr>
          <p:nvPr/>
        </p:nvSpPr>
        <p:spPr>
          <a:xfrm>
            <a:off x="1171575" y="5000625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2" name="Текст 2 1">
            <a:extLst>
              <a:ext uri="{FF2B5EF4-FFF2-40B4-BE49-F238E27FC236}">
                <ns2:creationId id="{E5812DA5-E984-4E7B-B8DA-067800B8E071}"/>
              </a:ext>
            </a:extLst>
          </p:cNvPr>
          <p:cNvSpPr>
            <a:spLocks noGrp="1"/>
          </p:cNvSpPr>
          <p:nvPr/>
        </p:nvSpPr>
        <p:spPr>
          <a:xfrm>
            <a:off x="1209675" y="506730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33" name="Таблица 2 2">
            <a:extLst>
              <a:ext uri="{FF2B5EF4-FFF2-40B4-BE49-F238E27FC236}">
                <ns2:creationId id="{A6F37E02-90EF-457C-A7A2-6A540937312E}"/>
              </a:ext>
            </a:extLst>
          </p:cNvPr>
          <p:cNvSpPr>
            <a:spLocks noGrp="1"/>
          </p:cNvSpPr>
          <p:nvPr/>
        </p:nvSpPr>
        <p:spPr>
          <a:xfrm>
            <a:off x="2733675" y="5000625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4" name="Текст 2 2">
            <a:extLst>
              <a:ext uri="{FF2B5EF4-FFF2-40B4-BE49-F238E27FC236}">
                <ns2:creationId id="{AD78D644-897B-4FF6-A4D3-DB184EC7F568}"/>
              </a:ext>
            </a:extLst>
          </p:cNvPr>
          <p:cNvSpPr>
            <a:spLocks noGrp="1"/>
          </p:cNvSpPr>
          <p:nvPr/>
        </p:nvSpPr>
        <p:spPr>
          <a:xfrm>
            <a:off x="2771775" y="506730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35" name="Таблица 2 3">
            <a:extLst>
              <a:ext uri="{FF2B5EF4-FFF2-40B4-BE49-F238E27FC236}">
                <ns2:creationId id="{B4152004-A69C-4809-AB41-B2A0D8AAEE10}"/>
              </a:ext>
            </a:extLst>
          </p:cNvPr>
          <p:cNvSpPr>
            <a:spLocks noGrp="1"/>
          </p:cNvSpPr>
          <p:nvPr/>
        </p:nvSpPr>
        <p:spPr>
          <a:xfrm>
            <a:off x="4705350" y="5000625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6" name="Текст 2 3">
            <a:extLst>
              <a:ext uri="{FF2B5EF4-FFF2-40B4-BE49-F238E27FC236}">
                <ns2:creationId id="{A3FBE9C0-A3BF-46C0-9245-A2008D72A3BA}"/>
              </a:ext>
            </a:extLst>
          </p:cNvPr>
          <p:cNvSpPr>
            <a:spLocks noGrp="1"/>
          </p:cNvSpPr>
          <p:nvPr/>
        </p:nvSpPr>
        <p:spPr>
          <a:xfrm>
            <a:off x="4743450" y="50673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92,31</a:t>
            </a:r>
          </a:p>
        </p:txBody>
      </p:sp>
      <p:sp>
        <p:nvSpPr>
          <p:cNvPr id="37" name="Таблица 2 4">
            <a:extLst>
              <a:ext uri="{FF2B5EF4-FFF2-40B4-BE49-F238E27FC236}">
                <ns2:creationId id="{9E7061B0-3FBA-4909-9BD8-2BC1AA91FEB8}"/>
              </a:ext>
            </a:extLst>
          </p:cNvPr>
          <p:cNvSpPr>
            <a:spLocks noGrp="1"/>
          </p:cNvSpPr>
          <p:nvPr/>
        </p:nvSpPr>
        <p:spPr>
          <a:xfrm>
            <a:off x="6305550" y="5000625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8" name="Текст 2 4">
            <a:extLst>
              <a:ext uri="{FF2B5EF4-FFF2-40B4-BE49-F238E27FC236}">
                <ns2:creationId id="{50AE1C3A-D7A2-46CC-B4B2-DAD40DA6B819}"/>
              </a:ext>
            </a:extLst>
          </p:cNvPr>
          <p:cNvSpPr>
            <a:spLocks noGrp="1"/>
          </p:cNvSpPr>
          <p:nvPr/>
        </p:nvSpPr>
        <p:spPr>
          <a:xfrm>
            <a:off x="6343650" y="506730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AP принтера ниже</a:t>
            </a:r>
          </a:p>
        </p:txBody>
      </p:sp>
      <p:sp>
        <p:nvSpPr>
          <p:cNvPr id="39" name="Таблица 3 0">
            <a:extLst>
              <a:ext uri="{FF2B5EF4-FFF2-40B4-BE49-F238E27FC236}">
                <ns2:creationId id="{10C22AB6-BE91-4B9B-9AE3-3B97AB225D4C}"/>
              </a:ext>
            </a:extLst>
          </p:cNvPr>
          <p:cNvSpPr>
            <a:spLocks noGrp="1"/>
          </p:cNvSpPr>
          <p:nvPr/>
        </p:nvSpPr>
        <p:spPr>
          <a:xfrm>
            <a:off x="457200" y="5314950"/>
            <a:ext cx="7143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0" name="Текст 3 0">
            <a:extLst>
              <a:ext uri="{FF2B5EF4-FFF2-40B4-BE49-F238E27FC236}">
                <ns2:creationId id="{927851D9-8B1F-4D86-B5B9-D9F24A830EF1}"/>
              </a:ext>
            </a:extLst>
          </p:cNvPr>
          <p:cNvSpPr>
            <a:spLocks noGrp="1"/>
          </p:cNvSpPr>
          <p:nvPr/>
        </p:nvSpPr>
        <p:spPr>
          <a:xfrm>
            <a:off x="495300" y="5381625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19</a:t>
            </a:r>
          </a:p>
        </p:txBody>
      </p:sp>
      <p:sp>
        <p:nvSpPr>
          <p:cNvPr id="41" name="Таблица 3 1">
            <a:extLst>
              <a:ext uri="{FF2B5EF4-FFF2-40B4-BE49-F238E27FC236}">
                <ns2:creationId id="{8F232205-46B3-4D19-94EA-0A83D2C63ED1}"/>
              </a:ext>
            </a:extLst>
          </p:cNvPr>
          <p:cNvSpPr>
            <a:spLocks noGrp="1"/>
          </p:cNvSpPr>
          <p:nvPr/>
        </p:nvSpPr>
        <p:spPr>
          <a:xfrm>
            <a:off x="1171575" y="5314950"/>
            <a:ext cx="15621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2" name="Текст 3 1">
            <a:extLst>
              <a:ext uri="{FF2B5EF4-FFF2-40B4-BE49-F238E27FC236}">
                <ns2:creationId id="{8238381B-CD3F-40FA-8BF1-7B8A01D18DA7}"/>
              </a:ext>
            </a:extLst>
          </p:cNvPr>
          <p:cNvSpPr>
            <a:spLocks noGrp="1"/>
          </p:cNvSpPr>
          <p:nvPr/>
        </p:nvSpPr>
        <p:spPr>
          <a:xfrm>
            <a:off x="1209675" y="5381625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43" name="Таблица 3 2">
            <a:extLst>
              <a:ext uri="{FF2B5EF4-FFF2-40B4-BE49-F238E27FC236}">
                <ns2:creationId id="{4A7C2A81-DAB9-47FE-ADEB-431EB0FAC0EB}"/>
              </a:ext>
            </a:extLst>
          </p:cNvPr>
          <p:cNvSpPr>
            <a:spLocks noGrp="1"/>
          </p:cNvSpPr>
          <p:nvPr/>
        </p:nvSpPr>
        <p:spPr>
          <a:xfrm>
            <a:off x="2733675" y="5314950"/>
            <a:ext cx="19716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4" name="Текст 3 2">
            <a:extLst>
              <a:ext uri="{FF2B5EF4-FFF2-40B4-BE49-F238E27FC236}">
                <ns2:creationId id="{DAF005FC-A751-44FF-9857-3042F2092E79}"/>
              </a:ext>
            </a:extLst>
          </p:cNvPr>
          <p:cNvSpPr>
            <a:spLocks noGrp="1"/>
          </p:cNvSpPr>
          <p:nvPr/>
        </p:nvSpPr>
        <p:spPr>
          <a:xfrm>
            <a:off x="2771775" y="5381625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45" name="Таблица 3 3">
            <a:extLst>
              <a:ext uri="{FF2B5EF4-FFF2-40B4-BE49-F238E27FC236}">
                <ns2:creationId id="{65D4AA72-EBE5-4AB5-96B3-ACBB5BEE53CB}"/>
              </a:ext>
            </a:extLst>
          </p:cNvPr>
          <p:cNvSpPr>
            <a:spLocks noGrp="1"/>
          </p:cNvSpPr>
          <p:nvPr/>
        </p:nvSpPr>
        <p:spPr>
          <a:xfrm>
            <a:off x="4705350" y="5314950"/>
            <a:ext cx="16002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6" name="Текст 3 3">
            <a:extLst>
              <a:ext uri="{FF2B5EF4-FFF2-40B4-BE49-F238E27FC236}">
                <ns2:creationId id="{D1C6FCB1-4052-4B98-BCD6-8AE97C0BE15A}"/>
              </a:ext>
            </a:extLst>
          </p:cNvPr>
          <p:cNvSpPr>
            <a:spLocks noGrp="1"/>
          </p:cNvSpPr>
          <p:nvPr/>
        </p:nvSpPr>
        <p:spPr>
          <a:xfrm>
            <a:off x="4743450" y="538162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94,63</a:t>
            </a:r>
          </a:p>
        </p:txBody>
      </p:sp>
      <p:sp>
        <p:nvSpPr>
          <p:cNvPr id="47" name="Таблица 3 4">
            <a:extLst>
              <a:ext uri="{FF2B5EF4-FFF2-40B4-BE49-F238E27FC236}">
                <ns2:creationId id="{94072CBF-C4E3-4C5E-862A-C7B178A2CE78}"/>
              </a:ext>
            </a:extLst>
          </p:cNvPr>
          <p:cNvSpPr>
            <a:spLocks noGrp="1"/>
          </p:cNvSpPr>
          <p:nvPr/>
        </p:nvSpPr>
        <p:spPr>
          <a:xfrm>
            <a:off x="6305550" y="5314950"/>
            <a:ext cx="238125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8" name="Текст 3 4">
            <a:extLst>
              <a:ext uri="{FF2B5EF4-FFF2-40B4-BE49-F238E27FC236}">
                <ns2:creationId id="{F5C75290-7A49-4921-AA70-BD0AE72DF488}"/>
              </a:ext>
            </a:extLst>
          </p:cNvPr>
          <p:cNvSpPr>
            <a:spLocks noGrp="1"/>
          </p:cNvSpPr>
          <p:nvPr/>
        </p:nvSpPr>
        <p:spPr>
          <a:xfrm>
            <a:off x="6343650" y="5381625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Выбрана</a:t>
            </a:r>
          </a:p>
        </p:txBody>
      </p:sp>
      <p:sp>
        <p:nvSpPr>
          <p:cNvPr id="49" name="Таблица 4 0">
            <a:extLst>
              <a:ext uri="{FF2B5EF4-FFF2-40B4-BE49-F238E27FC236}">
                <ns2:creationId id="{AFC551AB-4FCA-42BB-8411-E784C04DC2CD}"/>
              </a:ext>
            </a:extLst>
          </p:cNvPr>
          <p:cNvSpPr>
            <a:spLocks noGrp="1"/>
          </p:cNvSpPr>
          <p:nvPr/>
        </p:nvSpPr>
        <p:spPr>
          <a:xfrm>
            <a:off x="457200" y="5629275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0" name="Текст 4 0">
            <a:extLst>
              <a:ext uri="{FF2B5EF4-FFF2-40B4-BE49-F238E27FC236}">
                <ns2:creationId id="{D26EAEB4-742D-41D3-8250-76B3767021C8}"/>
              </a:ext>
            </a:extLst>
          </p:cNvPr>
          <p:cNvSpPr>
            <a:spLocks noGrp="1"/>
          </p:cNvSpPr>
          <p:nvPr/>
        </p:nvSpPr>
        <p:spPr>
          <a:xfrm>
            <a:off x="495300" y="569595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20</a:t>
            </a:r>
          </a:p>
        </p:txBody>
      </p:sp>
      <p:sp>
        <p:nvSpPr>
          <p:cNvPr id="51" name="Таблица 4 1">
            <a:extLst>
              <a:ext uri="{FF2B5EF4-FFF2-40B4-BE49-F238E27FC236}">
                <ns2:creationId id="{A58190B9-B18E-45A2-9AC6-64E26E8CA65C}"/>
              </a:ext>
            </a:extLst>
          </p:cNvPr>
          <p:cNvSpPr>
            <a:spLocks noGrp="1"/>
          </p:cNvSpPr>
          <p:nvPr/>
        </p:nvSpPr>
        <p:spPr>
          <a:xfrm>
            <a:off x="1171575" y="5629275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2" name="Текст 4 1">
            <a:extLst>
              <a:ext uri="{FF2B5EF4-FFF2-40B4-BE49-F238E27FC236}">
                <ns2:creationId id="{0ECCBC06-18A8-4900-A3E1-BF08DDA3622F}"/>
              </a:ext>
            </a:extLst>
          </p:cNvPr>
          <p:cNvSpPr>
            <a:spLocks noGrp="1"/>
          </p:cNvSpPr>
          <p:nvPr/>
        </p:nvSpPr>
        <p:spPr>
          <a:xfrm>
            <a:off x="1209675" y="569595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53" name="Таблица 4 2">
            <a:extLst>
              <a:ext uri="{FF2B5EF4-FFF2-40B4-BE49-F238E27FC236}">
                <ns2:creationId id="{40421F61-AE0D-493F-AF0D-11361070331D}"/>
              </a:ext>
            </a:extLst>
          </p:cNvPr>
          <p:cNvSpPr>
            <a:spLocks noGrp="1"/>
          </p:cNvSpPr>
          <p:nvPr/>
        </p:nvSpPr>
        <p:spPr>
          <a:xfrm>
            <a:off x="2733675" y="5629275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4" name="Текст 4 2">
            <a:extLst>
              <a:ext uri="{FF2B5EF4-FFF2-40B4-BE49-F238E27FC236}">
                <ns2:creationId id="{A1E1558B-154B-4595-B5F7-7B20E6D4A0A7}"/>
              </a:ext>
            </a:extLst>
          </p:cNvPr>
          <p:cNvSpPr>
            <a:spLocks noGrp="1"/>
          </p:cNvSpPr>
          <p:nvPr/>
        </p:nvSpPr>
        <p:spPr>
          <a:xfrm>
            <a:off x="2771775" y="569595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55" name="Таблица 4 3">
            <a:extLst>
              <a:ext uri="{FF2B5EF4-FFF2-40B4-BE49-F238E27FC236}">
                <ns2:creationId id="{577B673E-ACEE-4030-8905-B8327B441284}"/>
              </a:ext>
            </a:extLst>
          </p:cNvPr>
          <p:cNvSpPr>
            <a:spLocks noGrp="1"/>
          </p:cNvSpPr>
          <p:nvPr/>
        </p:nvSpPr>
        <p:spPr>
          <a:xfrm>
            <a:off x="4705350" y="5629275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6" name="Текст 4 3">
            <a:extLst>
              <a:ext uri="{FF2B5EF4-FFF2-40B4-BE49-F238E27FC236}">
                <ns2:creationId id="{EE586FA8-55EF-4988-A209-71D4CE3D4F2F}"/>
              </a:ext>
            </a:extLst>
          </p:cNvPr>
          <p:cNvSpPr>
            <a:spLocks noGrp="1"/>
          </p:cNvSpPr>
          <p:nvPr/>
        </p:nvSpPr>
        <p:spPr>
          <a:xfrm>
            <a:off x="4743450" y="56959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92,45</a:t>
            </a:r>
          </a:p>
        </p:txBody>
      </p:sp>
      <p:sp>
        <p:nvSpPr>
          <p:cNvPr id="57" name="Таблица 4 4">
            <a:extLst>
              <a:ext uri="{FF2B5EF4-FFF2-40B4-BE49-F238E27FC236}">
                <ns2:creationId id="{21C51AD8-AA13-42E7-B6A9-15EAA332C700}"/>
              </a:ext>
            </a:extLst>
          </p:cNvPr>
          <p:cNvSpPr>
            <a:spLocks noGrp="1"/>
          </p:cNvSpPr>
          <p:nvPr/>
        </p:nvSpPr>
        <p:spPr>
          <a:xfrm>
            <a:off x="6305550" y="5629275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8" name="Текст 4 4">
            <a:extLst>
              <a:ext uri="{FF2B5EF4-FFF2-40B4-BE49-F238E27FC236}">
                <ns2:creationId id="{1561F6BB-D647-4C42-9E26-C4F208CEEACC}"/>
              </a:ext>
            </a:extLst>
          </p:cNvPr>
          <p:cNvSpPr>
            <a:spLocks noGrp="1"/>
          </p:cNvSpPr>
          <p:nvPr/>
        </p:nvSpPr>
        <p:spPr>
          <a:xfrm>
            <a:off x="6343650" y="569595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AP принтера ниже</a:t>
            </a:r>
          </a:p>
        </p:txBody>
      </p:sp>
      <p:sp>
        <p:nvSpPr>
          <p:cNvPr id="59" name="Обоснование">
            <a:extLst>
              <a:ext uri="{FF2B5EF4-FFF2-40B4-BE49-F238E27FC236}">
                <ns2:creationId id="{9E892A61-C652-43ED-B055-F904856CA217}"/>
              </a:ext>
            </a:extLst>
          </p:cNvPr>
          <p:cNvSpPr>
            <a:spLocks noGrp="1"/>
          </p:cNvSpPr>
          <p:nvPr/>
        </p:nvSpPr>
        <p:spPr>
          <a:xfrm>
            <a:off x="457200" y="6124575"/>
            <a:ext cx="82296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19-я эпоха обнаружила 6 из 11 дефектных кадров без ложных тревог. Среди эпох с той же полнотой у неё наибольшая AP принтера.</a:t>
            </a:r>
          </a:p>
        </p:txBody>
      </p:sp>
      <p:sp>
        <p:nvSpPr>
          <p:cNvPr id="60" name="Номер">
            <a:extLst>
              <a:ext uri="{FF2B5EF4-FFF2-40B4-BE49-F238E27FC236}">
                <ns2:creationId id="{FA89F12A-C7EC-4E8C-991F-1121884E6059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</p:spTree>
    <p:extLst>
      <p:ext uri="{BB962C8B-B14F-4D97-AF65-F5344CB8AC3E}">
        <ns5:creationId val="30254475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1101</Words>
  <Application>Microsoft Office PowerPoint</Application>
  <DocSecurity>0</DocSecurity>
  <PresentationFormat>Экран (4:3)</PresentationFormat>
  <Paragraphs>87</Paragraphs>
  <Slides>11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Arial,Sans-Serif</vt:lpstr>
      <vt:lpstr>Calibri</vt:lpstr>
      <vt:lpstr>Calibri Light</vt:lpstr>
      <vt:lpstr>Times New Roman</vt:lpstr>
      <vt:lpstr>Тема Office</vt:lpstr>
      <vt:lpstr>Автоматическое выявление дефектов в процессе 3D-печати</vt:lpstr>
      <vt:lpstr>Цель работы</vt:lpstr>
      <vt:lpstr>В чем заключается проблема:</vt:lpstr>
      <vt:lpstr>Подготовка к обучению нейросети</vt:lpstr>
      <vt:lpstr>Результат обучения нейросети</vt:lpstr>
      <vt:lpstr>Обработка на сервере</vt:lpstr>
      <vt:lpstr>Обработка на принтере</vt:lpstr>
      <vt:lpstr>Электросхема 3D-принтера</vt:lpstr>
      <vt:lpstr>Тестирование на реальной печати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Yawllen</cp:lastModifiedBy>
  <cp:revision>30</cp:revision>
  <dcterms:created xsi:type="dcterms:W3CDTF">2026-10-07T12:47:26Z</dcterms:created>
  <dcterms:modified xsi:type="dcterms:W3CDTF">2026-10-08T19:38:56Z</dcterms:modified>
</cp:coreProperties>
</file>