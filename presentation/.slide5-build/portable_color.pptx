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5_result/ppt/slides/charts/chart1.xml" ContentType="application/vnd.openxmlformats-officedocument.drawingml.chart+xml"/>
  <Override PartName="/ppt/slide5_result/ppt/slides/charts/chart2.xml" ContentType="application/vnd.openxmlformats-officedocument.drawingml.chart+xml"/>
  <Override PartName="/ppt/slide5_result/ppt/notesMasters/theme/theme3.xml" ContentType="application/vnd.openxmlformats-officedocument.theme+xml"/>
  <Override PartName="/ppt/slide5_result/ppt/notesMasters/notesMaster1.xml" ContentType="application/vnd.openxmlformats-officedocument.presentationml.notesMaster+xml"/>
  <Override PartName="/ppt/slide5_result/ppt/notesSlides/notesSlide1.xml" ContentType="application/vnd.openxmlformats-officedocument.presentationml.notesSlide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75" r:id="rId5"/>
    <p:sldId id="273" r:id="rId6"/>
    <p:sldId id="270" r:id="rId7"/>
    <p:sldId id="271" r:id="rId8"/>
    <p:sldId id="272" r:id="rId9"/>
    <p:sldId id="274" r:id="rId10"/>
    <p:sldId id="266" r:id="rId11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98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5_result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d5b23ffa9f364f62" /></ns0:Relationships>
</file>

<file path=ppt/slide5_result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lide5_result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5_result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5.xml" Id="R6ca777ba52724b32" /><ns0:Relationship Type="http://schemas.openxmlformats.org/officeDocument/2006/relationships/notesMaster" Target="../notesMasters/notesMaster1.xml" Id="Rd0c0d4954f9b4586" /></ns0:Relationships>
</file>

<file path=ppt/slide5_result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slides/charts/_rels/chart1.xml.rels><Relationships xmlns="http://schemas.openxmlformats.org/package/2006/relationships"><Relationship Id="rIdChartSnapshot1" Type="http://schemas.openxmlformats.org/officeDocument/2006/relationships/package" Target="../../../../embeddings/chart-data-snapshot-001.xlsx"/></Relationships>
</file>

<file path=ppt/slide5_result/ppt/slides/charts/_rels/chart2.xml.rels><Relationships xmlns="http://schemas.openxmlformats.org/package/2006/relationships"><Relationship Id="rIdChartSnapshot1" Type="http://schemas.openxmlformats.org/officeDocument/2006/relationships/package" Target="../../../../embeddings/chart-data-snapshot-002.xlsx"/></Relationships>
</file>

<file path=ppt/slide5_result/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Ошибка обучения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0.000</c:formatCode>
                <c:ptCount val="20"/>
                <c:pt idx="0">
                  <c:v>0.005552</c:v>
                </c:pt>
                <c:pt idx="1">
                  <c:v>0.00241</c:v>
                </c:pt>
                <c:pt idx="2">
                  <c:v>0.009237</c:v>
                </c:pt>
                <c:pt idx="3">
                  <c:v>0.00326</c:v>
                </c:pt>
                <c:pt idx="4">
                  <c:v>0.002323</c:v>
                </c:pt>
                <c:pt idx="5">
                  <c:v>0.001774</c:v>
                </c:pt>
                <c:pt idx="6">
                  <c:v>0.001328</c:v>
                </c:pt>
                <c:pt idx="7">
                  <c:v>0.000871</c:v>
                </c:pt>
                <c:pt idx="8">
                  <c:v>0.001206</c:v>
                </c:pt>
                <c:pt idx="9">
                  <c:v>0.004558</c:v>
                </c:pt>
                <c:pt idx="10">
                  <c:v>0.001092</c:v>
                </c:pt>
                <c:pt idx="11">
                  <c:v>0.003142</c:v>
                </c:pt>
                <c:pt idx="12">
                  <c:v>0.001619</c:v>
                </c:pt>
                <c:pt idx="13">
                  <c:v>0.001099</c:v>
                </c:pt>
                <c:pt idx="14">
                  <c:v>0.000973</c:v>
                </c:pt>
                <c:pt idx="15">
                  <c:v>0.000976</c:v>
                </c:pt>
                <c:pt idx="16">
                  <c:v>0.001178</c:v>
                </c:pt>
                <c:pt idx="17">
                  <c:v>0.001012</c:v>
                </c:pt>
                <c:pt idx="18">
                  <c:v>0.002217</c:v>
                </c:pt>
                <c:pt idx="19">
                  <c:v>0.002233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00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AP, %</c:v>
          </c:tx>
          <c:spPr>
            <a:ln xmlns:a="http://schemas.openxmlformats.org/drawingml/2006/main" w="22860">
              <a:solidFill>
                <a:srgbClr val="7C4BB1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0.0" %"</c:formatCode>
                <c:ptCount val="20"/>
                <c:pt idx="0">
                  <c:v>98.972764</c:v>
                </c:pt>
                <c:pt idx="1">
                  <c:v>98.861859</c:v>
                </c:pt>
                <c:pt idx="2">
                  <c:v>99.57373</c:v>
                </c:pt>
                <c:pt idx="3">
                  <c:v>99.689363</c:v>
                </c:pt>
                <c:pt idx="4">
                  <c:v>99.276485</c:v>
                </c:pt>
                <c:pt idx="5">
                  <c:v>99.174207</c:v>
                </c:pt>
                <c:pt idx="6">
                  <c:v>99.55193</c:v>
                </c:pt>
                <c:pt idx="7">
                  <c:v>99.323224</c:v>
                </c:pt>
                <c:pt idx="8">
                  <c:v>99.462997</c:v>
                </c:pt>
                <c:pt idx="9">
                  <c:v>99.10293</c:v>
                </c:pt>
                <c:pt idx="10">
                  <c:v>99.325666</c:v>
                </c:pt>
                <c:pt idx="11">
                  <c:v>99.34298</c:v>
                </c:pt>
                <c:pt idx="12">
                  <c:v>99.213706</c:v>
                </c:pt>
                <c:pt idx="13">
                  <c:v>99.211031</c:v>
                </c:pt>
                <c:pt idx="14">
                  <c:v>99.315382</c:v>
                </c:pt>
                <c:pt idx="15">
                  <c:v>99.234098</c:v>
                </c:pt>
                <c:pt idx="16">
                  <c:v>99.280321</c:v>
                </c:pt>
                <c:pt idx="17">
                  <c:v>99.311447</c:v>
                </c:pt>
                <c:pt idx="18">
                  <c:v>99.245392</c:v>
                </c:pt>
                <c:pt idx="19">
                  <c:v>99.336899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1.xml" Id="rIdResult2" /><ns0:Relationship Type="http://schemas.openxmlformats.org/officeDocument/2006/relationships/chart" Target="../slide5_result/ppt/slides/charts/chart2.xml" Id="rIdResult3" /><ns0:Relationship Type="http://schemas.openxmlformats.org/officeDocument/2006/relationships/notesSlide" Target="../slide5_result/ppt/notesSlides/notesSlide1.xml" Id="rIdResult4" /></ns0: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6" name="Заголовок">
            <a:extLst>
              <a:ext uri="{FF2B5EF4-FFF2-40B4-BE49-F238E27FC236}">
                <ns2:creationId id="{2F18644C-CC99-47B3-8AB1-E0668460696C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ns2:creationId id="{1EBD7C28-1DB8-46BC-BD87-CE0D7D83B30F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 (BCE)</a:t>
            </a:r>
          </a:p>
        </p:txBody>
      </p:sp>
      <p:sp>
        <p:nvSpPr>
          <p:cNvPr id="3" name="Валидация">
            <a:extLst>
              <a:ext uri="{FF2B5EF4-FFF2-40B4-BE49-F238E27FC236}">
                <ns2:creationId id="{D0DC7B4A-F279-44DB-A684-78FC3843C298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FF0F4709-2B8A-4EF0-8748-146ACD2751CD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5" name="Chart">
            <a:extLst>
              <a:ext uri="{FF2B5EF4-FFF2-40B4-BE49-F238E27FC236}">
                <ns2:creationId id="{AF188343-AE6D-4985-967F-2A3334B8E352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6" name="Матрица ошибок">
            <a:extLst>
              <a:ext uri="{FF2B5EF4-FFF2-40B4-BE49-F238E27FC236}">
                <ns2:creationId id="{2F2B019A-CEA3-4D92-A61B-31424400D757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7" name="Порог">
            <a:extLst>
              <a:ext uri="{FF2B5EF4-FFF2-40B4-BE49-F238E27FC236}">
                <ns2:creationId id="{464A1FAB-F591-4FED-A605-21D5C54D16D9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8" name="Предсказание">
            <a:extLst>
              <a:ext uri="{FF2B5EF4-FFF2-40B4-BE49-F238E27FC236}">
                <ns2:creationId id="{EC8881E7-8702-46B8-9926-B901ECF892FF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ns2:creationId id="{CE25A9E5-8F36-4A10-B189-CD0A51D754CD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ns2:creationId id="{D59CBBE3-6A10-4BF0-8DA8-2345085CC5E1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ns2:creationId id="{8A6902A4-9088-407E-9067-6E4ABFB03A7E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ns2:creationId id="{6402B5F6-90C4-47C1-B71C-A36E38F5AFA3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ns2:creationId id="{3D91A232-8B33-41C7-93D0-C0B6F6911286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ns2:creationId id="{E5A05422-E780-4226-8815-33FA6DA76DDE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ns2:creationId id="{11A9ED47-8D9A-462E-9A4E-026C53D26E73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6" name="Смысл TN">
            <a:extLst>
              <a:ext uri="{FF2B5EF4-FFF2-40B4-BE49-F238E27FC236}">
                <ns2:creationId id="{140243C7-51A1-44DC-B6A7-61E8C0BF3245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ns2:creationId id="{6654A3B0-2216-4551-9D8C-FFADDFE3F046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ns2:creationId id="{EE0BC632-9CED-4901-B2EA-1FC5F7B7BB83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9" name="Смысл FP">
            <a:extLst>
              <a:ext uri="{FF2B5EF4-FFF2-40B4-BE49-F238E27FC236}">
                <ns2:creationId id="{53F8E502-A671-4769-B5C4-0167D9CC380F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ns2:creationId id="{60541EFD-1B04-466E-958C-038AF200DA79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ns2:creationId id="{C75C4D6D-10B0-4C10-9F14-C15F98B8D55A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22" name="Смысл FN">
            <a:extLst>
              <a:ext uri="{FF2B5EF4-FFF2-40B4-BE49-F238E27FC236}">
                <ns2:creationId id="{B2167587-2C96-45ED-8A1D-336B5BA4F861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ns2:creationId id="{6D9676D5-BC2E-404A-A93B-813A52B7E755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ns2:creationId id="{10AAE2A8-E09C-48D2-8568-FE4F33AB1A12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25" name="Смысл TP">
            <a:extLst>
              <a:ext uri="{FF2B5EF4-FFF2-40B4-BE49-F238E27FC236}">
                <ns2:creationId id="{2EE895FB-7CE0-44EE-BAFF-E4F8482C4A38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ns2:creationId id="{335BADD4-7C06-45FB-90A9-9D71F24F5682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27" name="Рамка метрик">
            <a:extLst>
              <a:ext uri="{FF2B5EF4-FFF2-40B4-BE49-F238E27FC236}">
                <ns2:creationId id="{F61B9408-BFDB-470D-9B58-AEC8ECEE6BA0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362075"/>
          </a:xfrm>
          <a:prstGeom prst="rect">
            <a:avLst/>
          </a:prstGeom>
          <a:noFill/>
          <a:ln w="9525">
            <a:solidFill>
              <a:srgbClr val="2467B2"/>
            </a:solidFill>
            <a:prstDash val="dash"/>
          </a:ln>
        </p:spPr>
      </p:sp>
      <p:sp>
        <p:nvSpPr>
          <p:cNvPr id="28" name="Метрика Precision">
            <a:extLst>
              <a:ext uri="{FF2B5EF4-FFF2-40B4-BE49-F238E27FC236}">
                <ns2:creationId id="{BF8EB7BD-A46E-46D8-B613-B232D86CF67F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Precision 98,71 %</a:t>
            </a:r>
            <a:r>
              <a:t> — верные срабатывания</a:t>
            </a:r>
          </a:p>
        </p:txBody>
      </p:sp>
      <p:sp>
        <p:nvSpPr>
          <p:cNvPr id="29" name="Метрика Recall">
            <a:extLst>
              <a:ext uri="{FF2B5EF4-FFF2-40B4-BE49-F238E27FC236}">
                <ns2:creationId id="{55BB5AFA-59A9-4702-AC21-3053C04494A3}"/>
              </a:ext>
            </a:extLst>
          </p:cNvPr>
          <p:cNvSpPr>
            <a:spLocks noGrp="1"/>
          </p:cNvSpPr>
          <p:nvPr/>
        </p:nvSpPr>
        <p:spPr>
          <a:xfrm>
            <a:off x="4848225" y="39719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Recall 99,89 %</a:t>
            </a:r>
            <a:r>
              <a:t> — найденные дефекты</a:t>
            </a:r>
          </a:p>
        </p:txBody>
      </p:sp>
      <p:sp>
        <p:nvSpPr>
          <p:cNvPr id="30" name="Метрика F1">
            <a:extLst>
              <a:ext uri="{FF2B5EF4-FFF2-40B4-BE49-F238E27FC236}">
                <ns2:creationId id="{C5AC6060-F471-4462-8027-8A549FDA775E}"/>
              </a:ext>
            </a:extLst>
          </p:cNvPr>
          <p:cNvSpPr>
            <a:spLocks noGrp="1"/>
          </p:cNvSpPr>
          <p:nvPr/>
        </p:nvSpPr>
        <p:spPr>
          <a:xfrm>
            <a:off x="4848225" y="42195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F1 99,30 %</a:t>
            </a:r>
            <a:r>
              <a:t> — баланс Precision и Recall</a:t>
            </a:r>
          </a:p>
        </p:txBody>
      </p:sp>
      <p:sp>
        <p:nvSpPr>
          <p:cNvPr id="31" name="Метрика Accuracy">
            <a:extLst>
              <a:ext uri="{FF2B5EF4-FFF2-40B4-BE49-F238E27FC236}">
                <ns2:creationId id="{226659E8-FFA5-4994-AB77-384AE7015653}"/>
              </a:ext>
            </a:extLst>
          </p:cNvPr>
          <p:cNvSpPr>
            <a:spLocks noGrp="1"/>
          </p:cNvSpPr>
          <p:nvPr/>
        </p:nvSpPr>
        <p:spPr>
          <a:xfrm>
            <a:off x="4848225" y="44672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Accuracy 99,61 %</a:t>
            </a:r>
            <a:r>
              <a:t> — все верные ответы</a:t>
            </a:r>
          </a:p>
        </p:txBody>
      </p:sp>
      <p:sp>
        <p:nvSpPr>
          <p:cNvPr id="32" name="Метрика AP">
            <a:extLst>
              <a:ext uri="{FF2B5EF4-FFF2-40B4-BE49-F238E27FC236}">
                <ns2:creationId id="{A1C93CB8-FFAD-4475-98B8-93D8688480AA}"/>
              </a:ext>
            </a:extLst>
          </p:cNvPr>
          <p:cNvSpPr>
            <a:spLocks noGrp="1"/>
          </p:cNvSpPr>
          <p:nvPr/>
        </p:nvSpPr>
        <p:spPr>
          <a:xfrm>
            <a:off x="4848225" y="47148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AP 99,72 %</a:t>
            </a:r>
            <a:r>
              <a:t> — оценка по разным порогам</a:t>
            </a:r>
          </a:p>
        </p:txBody>
      </p:sp>
      <p:sp>
        <p:nvSpPr>
          <p:cNvPr id="33" name="Почему высокие">
            <a:extLst>
              <a:ext uri="{FF2B5EF4-FFF2-40B4-BE49-F238E27FC236}">
                <ns2:creationId id="{3DA0BEB6-8448-4B1F-9E91-D3BBBFCA0E94}"/>
              </a:ext>
            </a:extLst>
          </p:cNvPr>
          <p:cNvSpPr>
            <a:spLocks noGrp="1"/>
          </p:cNvSpPr>
          <p:nvPr/>
        </p:nvSpPr>
        <p:spPr>
          <a:xfrm>
            <a:off x="4743450" y="5181600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показатели около 99 %</a:t>
            </a:r>
          </a:p>
        </p:txBody>
      </p:sp>
      <p:sp>
        <p:nvSpPr>
          <p:cNvPr id="34" name="Объяснение">
            <a:extLst>
              <a:ext uri="{FF2B5EF4-FFF2-40B4-BE49-F238E27FC236}">
                <ns2:creationId id="{87BE829C-5860-42AC-9A42-13DE716D6D3A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40386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Всего 13 ошибок из 3 337 кадров. Задача — обнаружить один вид дефекта. Похожие кадры и использование теста при разработке могут завышать оценку. Для проверки нужны новые сессии печати.</a:t>
            </a:r>
          </a:p>
        </p:txBody>
      </p:sp>
      <p:sp>
        <p:nvSpPr>
          <p:cNvPr id="35" name="Номер">
            <a:extLst>
              <a:ext uri="{FF2B5EF4-FFF2-40B4-BE49-F238E27FC236}">
                <ns2:creationId id="{FF06EE8E-2F12-47B0-894D-E981D3531A7F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6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1101</Words>
  <Application>Microsoft Office PowerPoint</Application>
  <DocSecurity>0</DocSecurity>
  <PresentationFormat>Экран (4:3)</PresentationFormat>
  <Paragraphs>87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Результат обучения нейросети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30</cp:revision>
  <dcterms:created xsi:type="dcterms:W3CDTF">2026-10-07T12:47:26Z</dcterms:created>
  <dcterms:modified xsi:type="dcterms:W3CDTF">2026-10-08T19:38:56Z</dcterms:modified>
</cp:coreProperties>
</file>