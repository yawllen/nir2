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5_result/ppt/slides/charts/chart1.xml" ContentType="application/vnd.openxmlformats-officedocument.drawingml.chart+xml"/>
  <Override PartName="/ppt/slide5_result/ppt/slides/charts/chart2.xml" ContentType="application/vnd.openxmlformats-officedocument.drawingml.chart+xml"/>
  <Override PartName="/ppt/slide5_result/ppt/notesMasters/theme/theme3.xml" ContentType="application/vnd.openxmlformats-officedocument.theme+xml"/>
  <Override PartName="/ppt/slide5_result/ppt/notesMasters/notesMaster1.xml" ContentType="application/vnd.openxmlformats-officedocument.presentationml.notesMaster+xml"/>
  <Override PartName="/ppt/slide5_result/ppt/notesSlides/notesSlide1.xml" ContentType="application/vnd.openxmlformats-officedocument.presentationml.notes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75" r:id="rId5"/>
    <p:sldId id="273" r:id="rId6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5_result/ppt/notesMasters/_rels/notesMaster1.xml.rels><?xml version='1.0' encoding='utf-8'?>
<ns0:Relationships xmlns:ns0="http://schemas.openxmlformats.org/package/2006/relationships"><ns0:Relationship Type="http://schemas.openxmlformats.org/officeDocument/2006/relationships/theme" Target="theme/theme3.xml" Id="Rfb9dff8625984b82" /></ns0:Relationships>
</file>

<file path=ppt/slide5_result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slide5_result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5_result/ppt/notesSlides/_rels/notesSlide1.xml.rels><?xml version='1.0' encoding='utf-8'?>
<ns0:Relationships xmlns:ns0="http://schemas.openxmlformats.org/package/2006/relationships"><ns0:Relationship Type="http://schemas.openxmlformats.org/officeDocument/2006/relationships/slide" Target="../../../slides/slide5.xml" Id="R07bbcbf500ae4c6e" /><ns0:Relationship Type="http://schemas.openxmlformats.org/officeDocument/2006/relationships/notesMaster" Target="../notesMasters/notesMaster1.xml" Id="Reb0321e8d09a4d55" /></ns0:Relationships>
</file>

<file path=ppt/slide5_result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C:/Users/Yawllen/Documents/GitHub/Nir2/outputs/model_v12_report/metrics_v12.json; C:/Users/Yawllen/Documents/GitHub/printer-defect-server/models/spaghetti_presence_v12/history.json; C:/Users/Yawllen/Documents/GitHub/printer-defect-server/models/spaghetti_presence_v12/dataset_manifest.csv; C:/Users/Yawllen/Documents/GitHub/printer-defect-server/models/spaghetti_presence_v12/training_config.json. Показатели относятся к классификации полного кадра, порог 0,3. В отчёте исправлена метка одного тестового кадра. Полнота валидации собственного принтера: 6/11=54,55 %. Лучшие веса выбраны по валидации, не по тесту.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5_result/ppt/slides/charts/_rels/chart1.xml.rels><Relationships xmlns="http://schemas.openxmlformats.org/package/2006/relationships"><Relationship Id="rIdChartSnapshot1" Type="http://schemas.openxmlformats.org/officeDocument/2006/relationships/package" Target="../../../../embeddings/chart-data-snapshot-001.xlsx"/></Relationships>
</file>

<file path=ppt/slide5_result/ppt/slides/charts/_rels/chart2.xml.rels><Relationships xmlns="http://schemas.openxmlformats.org/package/2006/relationships"><Relationship Id="rIdChartSnapshot1" Type="http://schemas.openxmlformats.org/officeDocument/2006/relationships/package" Target="../../../../embeddings/chart-data-snapshot-002.xlsx"/></Relationships>
</file>

<file path=ppt/slide5_result/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Ошибка обучения</c:v>
          </c:tx>
          <c:spPr>
            <a:ln xmlns:a="http://schemas.openxmlformats.org/drawingml/2006/main" w="22860">
              <a:solidFill>
                <a:srgbClr val="2467B2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0.000</c:formatCode>
                <c:ptCount val="20"/>
                <c:pt idx="0">
                  <c:v>0.005552</c:v>
                </c:pt>
                <c:pt idx="1">
                  <c:v>0.00241</c:v>
                </c:pt>
                <c:pt idx="2">
                  <c:v>0.009237</c:v>
                </c:pt>
                <c:pt idx="3">
                  <c:v>0.00326</c:v>
                </c:pt>
                <c:pt idx="4">
                  <c:v>0.002323</c:v>
                </c:pt>
                <c:pt idx="5">
                  <c:v>0.001774</c:v>
                </c:pt>
                <c:pt idx="6">
                  <c:v>0.001328</c:v>
                </c:pt>
                <c:pt idx="7">
                  <c:v>0.000871</c:v>
                </c:pt>
                <c:pt idx="8">
                  <c:v>0.001206</c:v>
                </c:pt>
                <c:pt idx="9">
                  <c:v>0.004558</c:v>
                </c:pt>
                <c:pt idx="10">
                  <c:v>0.001092</c:v>
                </c:pt>
                <c:pt idx="11">
                  <c:v>0.003142</c:v>
                </c:pt>
                <c:pt idx="12">
                  <c:v>0.001619</c:v>
                </c:pt>
                <c:pt idx="13">
                  <c:v>0.001099</c:v>
                </c:pt>
                <c:pt idx="14">
                  <c:v>0.000973</c:v>
                </c:pt>
                <c:pt idx="15">
                  <c:v>0.000976</c:v>
                </c:pt>
                <c:pt idx="16">
                  <c:v>0.001178</c:v>
                </c:pt>
                <c:pt idx="17">
                  <c:v>0.001012</c:v>
                </c:pt>
                <c:pt idx="18">
                  <c:v>0.002217</c:v>
                </c:pt>
                <c:pt idx="19">
                  <c:v>0.002233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0.01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00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5_result/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AP, %</c:v>
          </c:tx>
          <c:spPr>
            <a:ln xmlns:a="http://schemas.openxmlformats.org/drawingml/2006/main" w="22860">
              <a:solidFill>
                <a:srgbClr val="7C4BB1"/>
              </a:solidFill>
            </a:ln>
          </c:spPr>
          <c:marker>
            <c:symbol val="none"/>
          </c:marker>
          <c:cat>
            <c:numRef>
              <c:f>'Chart Data'!$A$2:$A$21</c:f>
              <c:numCache>
                <c:formatCode>General</c:formatCode>
                <c:ptCount val="2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</c:numCache>
            </c:numRef>
          </c:cat>
          <c:val>
            <c:numRef>
              <c:f>'Chart Data'!$B$2:$B$21</c:f>
              <c:numCache>
                <c:formatCode>0.0" %"</c:formatCode>
                <c:ptCount val="20"/>
                <c:pt idx="0">
                  <c:v>98.972764</c:v>
                </c:pt>
                <c:pt idx="1">
                  <c:v>98.861859</c:v>
                </c:pt>
                <c:pt idx="2">
                  <c:v>99.57373</c:v>
                </c:pt>
                <c:pt idx="3">
                  <c:v>99.689363</c:v>
                </c:pt>
                <c:pt idx="4">
                  <c:v>99.276485</c:v>
                </c:pt>
                <c:pt idx="5">
                  <c:v>99.174207</c:v>
                </c:pt>
                <c:pt idx="6">
                  <c:v>99.55193</c:v>
                </c:pt>
                <c:pt idx="7">
                  <c:v>99.323224</c:v>
                </c:pt>
                <c:pt idx="8">
                  <c:v>99.462997</c:v>
                </c:pt>
                <c:pt idx="9">
                  <c:v>99.10293</c:v>
                </c:pt>
                <c:pt idx="10">
                  <c:v>99.325666</c:v>
                </c:pt>
                <c:pt idx="11">
                  <c:v>99.34298</c:v>
                </c:pt>
                <c:pt idx="12">
                  <c:v>99.213706</c:v>
                </c:pt>
                <c:pt idx="13">
                  <c:v>99.211031</c:v>
                </c:pt>
                <c:pt idx="14">
                  <c:v>99.315382</c:v>
                </c:pt>
                <c:pt idx="15">
                  <c:v>99.234098</c:v>
                </c:pt>
                <c:pt idx="16">
                  <c:v>99.280321</c:v>
                </c:pt>
                <c:pt idx="17">
                  <c:v>99.311447</c:v>
                </c:pt>
                <c:pt idx="18">
                  <c:v>99.245392</c:v>
                </c:pt>
                <c:pt idx="19">
                  <c:v>99.336899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Times New Roman"/>
                    <a:ea typeface="Times New Roman"/>
                    <a:cs typeface="Times New Roman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98.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0D0D0"/>
              </a:solidFill>
            </a:ln>
          </c:spPr>
        </c:majorGridlines>
        <c:numFmt formatCode="0.0&quot; 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'1.0' encoding='utf-8'?>
<ns0:Relationships xmlns:ns0="http://schemas.openxmlformats.org/package/2006/relationships"><ns0:Relationship Id="rIdOriginalLayout" Type="http://schemas.openxmlformats.org/officeDocument/2006/relationships/slideLayout" Target="../slideLayouts/slideLayout2.xml" /><ns0:Relationship Type="http://schemas.openxmlformats.org/officeDocument/2006/relationships/chart" Target="../slide5_result/ppt/slides/charts/chart1.xml" Id="rIdResult2" /><ns0:Relationship Type="http://schemas.openxmlformats.org/officeDocument/2006/relationships/chart" Target="../slide5_result/ppt/slides/charts/chart2.xml" Id="rIdResult3" /><ns0:Relationship Type="http://schemas.openxmlformats.org/officeDocument/2006/relationships/notesSlide" Target="../slide5_result/ppt/notesSlides/notesSlide1.xml" Id="rIdResult4" /></ns0: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16 129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9 787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3 005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5 522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29 361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изображение: к каждому исходному кадру добавлены два варианта. Валидационная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7957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sp>
        <p:nvSpPr>
          <p:cNvPr id="36" name="Заголовок">
            <a:extLst>
              <a:ext uri="{FF2B5EF4-FFF2-40B4-BE49-F238E27FC236}">
                <ns2:creationId id="{B41E74BE-534B-4970-85C7-3A4DAB53BD0B}"/>
              </a:ext>
            </a:extLst>
          </p:cNvPr>
          <p:cNvSpPr>
            <a:spLocks noGrp="1"/>
          </p:cNvSpPr>
          <p:nvPr/>
        </p:nvSpPr>
        <p:spPr>
          <a:xfrm>
            <a:off x="571500" y="47625"/>
            <a:ext cx="8001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4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Результат обучения нейросети</a:t>
            </a:r>
          </a:p>
        </p:txBody>
      </p:sp>
      <p:sp>
        <p:nvSpPr>
          <p:cNvPr id="2" name="Ошибка обучения">
            <a:extLst>
              <a:ext uri="{FF2B5EF4-FFF2-40B4-BE49-F238E27FC236}">
                <ns2:creationId id="{7D962EE9-7DF0-4B9D-B23A-E5E2F7D71162}"/>
              </a:ext>
            </a:extLst>
          </p:cNvPr>
          <p:cNvSpPr>
            <a:spLocks noGrp="1"/>
          </p:cNvSpPr>
          <p:nvPr/>
        </p:nvSpPr>
        <p:spPr>
          <a:xfrm>
            <a:off x="3619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2467B2"/>
                </a:solidFill>
                <a:latin typeface="Times New Roman"/>
                <a:ea typeface="Times New Roman"/>
                <a:cs typeface="Times New Roman"/>
              </a:defRPr>
            </a:pPr>
            <a:r>
              <a:t>Ошибка обучения (BCE)</a:t>
            </a:r>
          </a:p>
        </p:txBody>
      </p:sp>
      <p:sp>
        <p:nvSpPr>
          <p:cNvPr id="3" name="Валидация">
            <a:extLst>
              <a:ext uri="{FF2B5EF4-FFF2-40B4-BE49-F238E27FC236}">
                <ns2:creationId id="{1D8CFE98-C6F6-41C1-B058-4C8AC1959665}"/>
              </a:ext>
            </a:extLst>
          </p:cNvPr>
          <p:cNvSpPr>
            <a:spLocks noGrp="1"/>
          </p:cNvSpPr>
          <p:nvPr/>
        </p:nvSpPr>
        <p:spPr>
          <a:xfrm>
            <a:off x="4781550" y="8382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Средняя точность на валидации</a:t>
            </a:r>
          </a:p>
        </p:txBody>
      </p:sp>
      <p:graphicFrame>
        <p:nvGraphicFramePr>
          <p:cNvPr id="4" name="Chart">
            <a:extLst>
              <a:ext uri="{FF2B5EF4-FFF2-40B4-BE49-F238E27FC236}">
                <ns2:creationId id="{A963B0B1-CC73-40F0-A438-6346212733FB}"/>
              </a:ext>
            </a:extLst>
          </p:cNvPr>
          <p:cNvGraphicFramePr/>
          <p:nvPr/>
        </p:nvGraphicFramePr>
        <p:xfrm>
          <a:off x="295275" y="1247775"/>
          <a:ext cx="4124325" cy="1762125"/>
        </p:xfrm>
        <a:graphic>
          <a:graphicData uri="http://schemas.openxmlformats.org/drawingml/2006/chart">
            <ns3:chart r:id="rIdResult2"/>
          </a:graphicData>
        </a:graphic>
      </p:graphicFrame>
      <p:graphicFrame>
        <p:nvGraphicFramePr>
          <p:cNvPr id="5" name="Chart">
            <a:extLst>
              <a:ext uri="{FF2B5EF4-FFF2-40B4-BE49-F238E27FC236}">
                <ns2:creationId id="{279085E2-0960-4AD1-A10B-1E4A31F05207}"/>
              </a:ext>
            </a:extLst>
          </p:cNvPr>
          <p:cNvGraphicFramePr/>
          <p:nvPr/>
        </p:nvGraphicFramePr>
        <p:xfrm>
          <a:off x="4705350" y="1247775"/>
          <a:ext cx="4124325" cy="1762125"/>
        </p:xfrm>
        <a:graphic>
          <a:graphicData uri="http://schemas.openxmlformats.org/drawingml/2006/chart">
            <ns3:chart r:id="rIdResult3"/>
          </a:graphicData>
        </a:graphic>
      </p:graphicFrame>
      <p:sp>
        <p:nvSpPr>
          <p:cNvPr id="6" name="Матрица ошибок">
            <a:extLst>
              <a:ext uri="{FF2B5EF4-FFF2-40B4-BE49-F238E27FC236}">
                <ns2:creationId id="{3AA5AB9F-CC5B-499E-9C82-428611C0D7B2}"/>
              </a:ext>
            </a:extLst>
          </p:cNvPr>
          <p:cNvSpPr>
            <a:spLocks noGrp="1"/>
          </p:cNvSpPr>
          <p:nvPr/>
        </p:nvSpPr>
        <p:spPr>
          <a:xfrm>
            <a:off x="361950" y="3286125"/>
            <a:ext cx="3924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Матрица ошибок на тесте</a:t>
            </a:r>
          </a:p>
        </p:txBody>
      </p:sp>
      <p:sp>
        <p:nvSpPr>
          <p:cNvPr id="7" name="Порог">
            <a:extLst>
              <a:ext uri="{FF2B5EF4-FFF2-40B4-BE49-F238E27FC236}">
                <ns2:creationId id="{94D7877A-892E-43DB-B3AA-9C7B6A44F51E}"/>
              </a:ext>
            </a:extLst>
          </p:cNvPr>
          <p:cNvSpPr>
            <a:spLocks noGrp="1"/>
          </p:cNvSpPr>
          <p:nvPr/>
        </p:nvSpPr>
        <p:spPr>
          <a:xfrm>
            <a:off x="390525" y="3629025"/>
            <a:ext cx="3857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3 337 кадров; порог срабатывания 0,3</a:t>
            </a:r>
          </a:p>
        </p:txBody>
      </p:sp>
      <p:sp>
        <p:nvSpPr>
          <p:cNvPr id="8" name="Предсказание">
            <a:extLst>
              <a:ext uri="{FF2B5EF4-FFF2-40B4-BE49-F238E27FC236}">
                <ns2:creationId id="{6A3A3B67-B2C3-4B47-97DC-F34DE649C091}"/>
              </a:ext>
            </a:extLst>
          </p:cNvPr>
          <p:cNvSpPr>
            <a:spLocks noGrp="1"/>
          </p:cNvSpPr>
          <p:nvPr/>
        </p:nvSpPr>
        <p:spPr>
          <a:xfrm>
            <a:off x="1666875" y="3943350"/>
            <a:ext cx="2524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Ответ модели</a:t>
            </a:r>
          </a:p>
        </p:txBody>
      </p:sp>
      <p:sp>
        <p:nvSpPr>
          <p:cNvPr id="9" name="Разметка">
            <a:extLst>
              <a:ext uri="{FF2B5EF4-FFF2-40B4-BE49-F238E27FC236}">
                <ns2:creationId id="{6A398D02-83FE-4DFE-BF74-9A26190239BC}"/>
              </a:ext>
            </a:extLst>
          </p:cNvPr>
          <p:cNvSpPr>
            <a:spLocks noGrp="1"/>
          </p:cNvSpPr>
          <p:nvPr/>
        </p:nvSpPr>
        <p:spPr>
          <a:xfrm>
            <a:off x="428625" y="4038600"/>
            <a:ext cx="10572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По</a:t>
            </a:r>
          </a:p>
          <a:p>
            <a:pPr algn="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разметке</a:t>
            </a:r>
          </a:p>
        </p:txBody>
      </p:sp>
      <p:sp>
        <p:nvSpPr>
          <p:cNvPr id="10" name="Нет дефекта">
            <a:extLst>
              <a:ext uri="{FF2B5EF4-FFF2-40B4-BE49-F238E27FC236}">
                <ns2:creationId id="{D11DD2C0-4A03-4E4A-AD7E-2E1E410C35B1}"/>
              </a:ext>
            </a:extLst>
          </p:cNvPr>
          <p:cNvSpPr>
            <a:spLocks noGrp="1"/>
          </p:cNvSpPr>
          <p:nvPr/>
        </p:nvSpPr>
        <p:spPr>
          <a:xfrm>
            <a:off x="16192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 дефекта</a:t>
            </a:r>
          </a:p>
        </p:txBody>
      </p:sp>
      <p:sp>
        <p:nvSpPr>
          <p:cNvPr id="11" name="Спагетти">
            <a:extLst>
              <a:ext uri="{FF2B5EF4-FFF2-40B4-BE49-F238E27FC236}">
                <ns2:creationId id="{3869DBBF-2386-48F9-B412-3375F5BB4F54}"/>
              </a:ext>
            </a:extLst>
          </p:cNvPr>
          <p:cNvSpPr>
            <a:spLocks noGrp="1"/>
          </p:cNvSpPr>
          <p:nvPr/>
        </p:nvSpPr>
        <p:spPr>
          <a:xfrm>
            <a:off x="2952750" y="4191000"/>
            <a:ext cx="12477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2" name="Истинный нет">
            <a:extLst>
              <a:ext uri="{FF2B5EF4-FFF2-40B4-BE49-F238E27FC236}">
                <ns2:creationId id="{92BF24E4-3946-49AA-92A9-4A3FE4ACA3E6}"/>
              </a:ext>
            </a:extLst>
          </p:cNvPr>
          <p:cNvSpPr>
            <a:spLocks noGrp="1"/>
          </p:cNvSpPr>
          <p:nvPr/>
        </p:nvSpPr>
        <p:spPr>
          <a:xfrm>
            <a:off x="428625" y="4610100"/>
            <a:ext cx="10572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Нет</a:t>
            </a:r>
          </a:p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</a:t>
            </a:r>
          </a:p>
        </p:txBody>
      </p:sp>
      <p:sp>
        <p:nvSpPr>
          <p:cNvPr id="13" name="Истинный да">
            <a:extLst>
              <a:ext uri="{FF2B5EF4-FFF2-40B4-BE49-F238E27FC236}">
                <ns2:creationId id="{5B5BB3C0-F047-411C-B6DD-5BA5CC95E91E}"/>
              </a:ext>
            </a:extLst>
          </p:cNvPr>
          <p:cNvSpPr>
            <a:spLocks noGrp="1"/>
          </p:cNvSpPr>
          <p:nvPr/>
        </p:nvSpPr>
        <p:spPr>
          <a:xfrm>
            <a:off x="381000" y="5600700"/>
            <a:ext cx="1104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15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«Спагетти»</a:t>
            </a:r>
          </a:p>
        </p:txBody>
      </p:sp>
      <p:sp>
        <p:nvSpPr>
          <p:cNvPr id="14" name="TN">
            <a:extLst>
              <a:ext uri="{FF2B5EF4-FFF2-40B4-BE49-F238E27FC236}">
                <ns2:creationId id="{941AA0FE-D03C-4D05-A142-6C15CA2D612E}"/>
              </a:ext>
            </a:extLst>
          </p:cNvPr>
          <p:cNvSpPr>
            <a:spLocks noGrp="1"/>
          </p:cNvSpPr>
          <p:nvPr/>
        </p:nvSpPr>
        <p:spPr>
          <a:xfrm>
            <a:off x="1619250" y="4467225"/>
            <a:ext cx="1314450" cy="857250"/>
          </a:xfrm>
          <a:prstGeom prst="rect">
            <a:avLst/>
          </a:prstGeom>
          <a:solidFill>
            <a:srgbClr val="E3F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Число TN">
            <a:extLst>
              <a:ext uri="{FF2B5EF4-FFF2-40B4-BE49-F238E27FC236}">
                <ns2:creationId id="{22F8F41B-9D8D-4E12-812D-0BE39A7ED128}"/>
              </a:ext>
            </a:extLst>
          </p:cNvPr>
          <p:cNvSpPr>
            <a:spLocks noGrp="1"/>
          </p:cNvSpPr>
          <p:nvPr/>
        </p:nvSpPr>
        <p:spPr>
          <a:xfrm>
            <a:off x="161925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2408</a:t>
            </a:r>
          </a:p>
        </p:txBody>
      </p:sp>
      <p:sp>
        <p:nvSpPr>
          <p:cNvPr id="16" name="Смысл TN">
            <a:extLst>
              <a:ext uri="{FF2B5EF4-FFF2-40B4-BE49-F238E27FC236}">
                <ns2:creationId id="{1A2D42FE-E65C-47FA-90F3-1F6947ABB328}"/>
              </a:ext>
            </a:extLst>
          </p:cNvPr>
          <p:cNvSpPr>
            <a:spLocks noGrp="1"/>
          </p:cNvSpPr>
          <p:nvPr/>
        </p:nvSpPr>
        <p:spPr>
          <a:xfrm>
            <a:off x="164782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Дефекта нет</a:t>
            </a:r>
          </a:p>
        </p:txBody>
      </p:sp>
      <p:sp>
        <p:nvSpPr>
          <p:cNvPr id="17" name="FP">
            <a:extLst>
              <a:ext uri="{FF2B5EF4-FFF2-40B4-BE49-F238E27FC236}">
                <ns2:creationId id="{A90FA53D-A81E-4200-8C00-57033468B06C}"/>
              </a:ext>
            </a:extLst>
          </p:cNvPr>
          <p:cNvSpPr>
            <a:spLocks noGrp="1"/>
          </p:cNvSpPr>
          <p:nvPr/>
        </p:nvSpPr>
        <p:spPr>
          <a:xfrm>
            <a:off x="2933700" y="4467225"/>
            <a:ext cx="1314450" cy="857250"/>
          </a:xfrm>
          <a:prstGeom prst="rect">
            <a:avLst/>
          </a:prstGeom>
          <a:solidFill>
            <a:srgbClr val="FFE7B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Число FP">
            <a:extLst>
              <a:ext uri="{FF2B5EF4-FFF2-40B4-BE49-F238E27FC236}">
                <ns2:creationId id="{1694B343-00B3-432E-9054-F90FD9C51780}"/>
              </a:ext>
            </a:extLst>
          </p:cNvPr>
          <p:cNvSpPr>
            <a:spLocks noGrp="1"/>
          </p:cNvSpPr>
          <p:nvPr/>
        </p:nvSpPr>
        <p:spPr>
          <a:xfrm>
            <a:off x="2933700" y="458152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12</a:t>
            </a:r>
          </a:p>
        </p:txBody>
      </p:sp>
      <p:sp>
        <p:nvSpPr>
          <p:cNvPr id="19" name="Смысл FP">
            <a:extLst>
              <a:ext uri="{FF2B5EF4-FFF2-40B4-BE49-F238E27FC236}">
                <ns2:creationId id="{4CB5CE3B-8F6F-46F2-92DA-5BB78FE9CA5B}"/>
              </a:ext>
            </a:extLst>
          </p:cNvPr>
          <p:cNvSpPr>
            <a:spLocks noGrp="1"/>
          </p:cNvSpPr>
          <p:nvPr/>
        </p:nvSpPr>
        <p:spPr>
          <a:xfrm>
            <a:off x="2962275" y="500062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92510C"/>
                </a:solidFill>
                <a:latin typeface="Times New Roman"/>
                <a:ea typeface="Times New Roman"/>
                <a:cs typeface="Times New Roman"/>
              </a:defRPr>
            </a:pPr>
            <a:r>
              <a:t>Ложная тревога</a:t>
            </a:r>
          </a:p>
        </p:txBody>
      </p:sp>
      <p:sp>
        <p:nvSpPr>
          <p:cNvPr id="20" name="FN">
            <a:extLst>
              <a:ext uri="{FF2B5EF4-FFF2-40B4-BE49-F238E27FC236}">
                <ns2:creationId id="{95273C90-820A-434E-972A-A78C777BA45D}"/>
              </a:ext>
            </a:extLst>
          </p:cNvPr>
          <p:cNvSpPr>
            <a:spLocks noGrp="1"/>
          </p:cNvSpPr>
          <p:nvPr/>
        </p:nvSpPr>
        <p:spPr>
          <a:xfrm>
            <a:off x="1619250" y="5324475"/>
            <a:ext cx="1314450" cy="857250"/>
          </a:xfrm>
          <a:prstGeom prst="rect">
            <a:avLst/>
          </a:prstGeom>
          <a:solidFill>
            <a:srgbClr val="FFDDD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Число FN">
            <a:extLst>
              <a:ext uri="{FF2B5EF4-FFF2-40B4-BE49-F238E27FC236}">
                <ns2:creationId id="{681FCBA9-D27D-48DF-804A-62868F8BC52F}"/>
              </a:ext>
            </a:extLst>
          </p:cNvPr>
          <p:cNvSpPr>
            <a:spLocks noGrp="1"/>
          </p:cNvSpPr>
          <p:nvPr/>
        </p:nvSpPr>
        <p:spPr>
          <a:xfrm>
            <a:off x="161925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1</a:t>
            </a:r>
          </a:p>
        </p:txBody>
      </p:sp>
      <p:sp>
        <p:nvSpPr>
          <p:cNvPr id="22" name="Смысл FN">
            <a:extLst>
              <a:ext uri="{FF2B5EF4-FFF2-40B4-BE49-F238E27FC236}">
                <ns2:creationId id="{F0541B33-C021-41AA-8DD4-B0E188E88AA4}"/>
              </a:ext>
            </a:extLst>
          </p:cNvPr>
          <p:cNvSpPr>
            <a:spLocks noGrp="1"/>
          </p:cNvSpPr>
          <p:nvPr/>
        </p:nvSpPr>
        <p:spPr>
          <a:xfrm>
            <a:off x="164782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A52B37"/>
                </a:solidFill>
                <a:latin typeface="Times New Roman"/>
                <a:ea typeface="Times New Roman"/>
                <a:cs typeface="Times New Roman"/>
              </a:defRPr>
            </a:pPr>
            <a:r>
              <a:t>Пропуск дефекта</a:t>
            </a:r>
          </a:p>
        </p:txBody>
      </p:sp>
      <p:sp>
        <p:nvSpPr>
          <p:cNvPr id="23" name="TP">
            <a:extLst>
              <a:ext uri="{FF2B5EF4-FFF2-40B4-BE49-F238E27FC236}">
                <ns2:creationId id="{68C37EEF-DCBC-4854-9D6E-F14E5AAE9477}"/>
              </a:ext>
            </a:extLst>
          </p:cNvPr>
          <p:cNvSpPr>
            <a:spLocks noGrp="1"/>
          </p:cNvSpPr>
          <p:nvPr/>
        </p:nvSpPr>
        <p:spPr>
          <a:xfrm>
            <a:off x="2933700" y="5324475"/>
            <a:ext cx="1314450" cy="857250"/>
          </a:xfrm>
          <a:prstGeom prst="rect">
            <a:avLst/>
          </a:prstGeom>
          <a:solidFill>
            <a:srgbClr val="CCEBD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Число TP">
            <a:extLst>
              <a:ext uri="{FF2B5EF4-FFF2-40B4-BE49-F238E27FC236}">
                <ns2:creationId id="{EEADF0F5-60B5-4C61-BB2F-2A4C98B38CFF}"/>
              </a:ext>
            </a:extLst>
          </p:cNvPr>
          <p:cNvSpPr>
            <a:spLocks noGrp="1"/>
          </p:cNvSpPr>
          <p:nvPr/>
        </p:nvSpPr>
        <p:spPr>
          <a:xfrm>
            <a:off x="2933700" y="5438775"/>
            <a:ext cx="1314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2400" b="1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916</a:t>
            </a:r>
          </a:p>
        </p:txBody>
      </p:sp>
      <p:sp>
        <p:nvSpPr>
          <p:cNvPr id="25" name="Смысл TP">
            <a:extLst>
              <a:ext uri="{FF2B5EF4-FFF2-40B4-BE49-F238E27FC236}">
                <ns2:creationId id="{03602AE4-D643-4E30-A1C5-5BD4E24842E4}"/>
              </a:ext>
            </a:extLst>
          </p:cNvPr>
          <p:cNvSpPr>
            <a:spLocks noGrp="1"/>
          </p:cNvSpPr>
          <p:nvPr/>
        </p:nvSpPr>
        <p:spPr>
          <a:xfrm>
            <a:off x="2962275" y="5857875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300" b="0">
                <a:solidFill>
                  <a:srgbClr val="176749"/>
                </a:solidFill>
                <a:latin typeface="Times New Roman"/>
                <a:ea typeface="Times New Roman"/>
                <a:cs typeface="Times New Roman"/>
              </a:defRPr>
            </a:pPr>
            <a:r>
              <a:t>Дефект найден</a:t>
            </a:r>
          </a:p>
        </p:txBody>
      </p:sp>
      <p:sp>
        <p:nvSpPr>
          <p:cNvPr id="26" name="Метрики заголовок">
            <a:extLst>
              <a:ext uri="{FF2B5EF4-FFF2-40B4-BE49-F238E27FC236}">
                <ns2:creationId id="{13F49358-41E4-4D0C-8BF4-EDAE6F5F4436}"/>
              </a:ext>
            </a:extLst>
          </p:cNvPr>
          <p:cNvSpPr>
            <a:spLocks noGrp="1"/>
          </p:cNvSpPr>
          <p:nvPr/>
        </p:nvSpPr>
        <p:spPr>
          <a:xfrm>
            <a:off x="4762500" y="3286125"/>
            <a:ext cx="401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900" b="1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Итоговые показатели на тесте</a:t>
            </a:r>
          </a:p>
        </p:txBody>
      </p:sp>
      <p:sp>
        <p:nvSpPr>
          <p:cNvPr id="27" name="Рамка метрик">
            <a:extLst>
              <a:ext uri="{FF2B5EF4-FFF2-40B4-BE49-F238E27FC236}">
                <ns2:creationId id="{30663A6D-E222-4A36-8B52-D47F99BEC99C}"/>
              </a:ext>
            </a:extLst>
          </p:cNvPr>
          <p:cNvSpPr>
            <a:spLocks noGrp="1"/>
          </p:cNvSpPr>
          <p:nvPr/>
        </p:nvSpPr>
        <p:spPr>
          <a:xfrm>
            <a:off x="4743450" y="3629025"/>
            <a:ext cx="4038600" cy="1362075"/>
          </a:xfrm>
          <a:prstGeom prst="rect">
            <a:avLst/>
          </a:prstGeom>
          <a:noFill/>
          <a:ln w="9525">
            <a:solidFill>
              <a:srgbClr val="2467B2"/>
            </a:solidFill>
            <a:prstDash val="dash"/>
          </a:ln>
        </p:spPr>
      </p:sp>
      <p:sp>
        <p:nvSpPr>
          <p:cNvPr id="28" name="Метрика Precision">
            <a:extLst>
              <a:ext uri="{FF2B5EF4-FFF2-40B4-BE49-F238E27FC236}">
                <ns2:creationId id="{D9F45C53-3138-4896-AE70-D8D8342E01F1}"/>
              </a:ext>
            </a:extLst>
          </p:cNvPr>
          <p:cNvSpPr>
            <a:spLocks noGrp="1"/>
          </p:cNvSpPr>
          <p:nvPr/>
        </p:nvSpPr>
        <p:spPr>
          <a:xfrm>
            <a:off x="4848225" y="37242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Precision 98,71 %</a:t>
            </a:r>
            <a:r>
              <a:t> — верные срабатывания</a:t>
            </a:r>
          </a:p>
        </p:txBody>
      </p:sp>
      <p:sp>
        <p:nvSpPr>
          <p:cNvPr id="29" name="Метрика Recall">
            <a:extLst>
              <a:ext uri="{FF2B5EF4-FFF2-40B4-BE49-F238E27FC236}">
                <ns2:creationId id="{2EA079E8-2DF0-43E2-97A5-35EBD330CA0B}"/>
              </a:ext>
            </a:extLst>
          </p:cNvPr>
          <p:cNvSpPr>
            <a:spLocks noGrp="1"/>
          </p:cNvSpPr>
          <p:nvPr/>
        </p:nvSpPr>
        <p:spPr>
          <a:xfrm>
            <a:off x="4848225" y="39719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Recall 99,89 %</a:t>
            </a:r>
            <a:r>
              <a:t> — найденные дефекты</a:t>
            </a:r>
          </a:p>
        </p:txBody>
      </p:sp>
      <p:sp>
        <p:nvSpPr>
          <p:cNvPr id="30" name="Метрика F1">
            <a:extLst>
              <a:ext uri="{FF2B5EF4-FFF2-40B4-BE49-F238E27FC236}">
                <ns2:creationId id="{32F7919D-DDE3-4106-A727-E5AEE284678B}"/>
              </a:ext>
            </a:extLst>
          </p:cNvPr>
          <p:cNvSpPr>
            <a:spLocks noGrp="1"/>
          </p:cNvSpPr>
          <p:nvPr/>
        </p:nvSpPr>
        <p:spPr>
          <a:xfrm>
            <a:off x="4848225" y="42195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F1 99,30 %</a:t>
            </a:r>
            <a:r>
              <a:t> — баланс Precision и Recall</a:t>
            </a:r>
          </a:p>
        </p:txBody>
      </p:sp>
      <p:sp>
        <p:nvSpPr>
          <p:cNvPr id="31" name="Метрика Accuracy">
            <a:extLst>
              <a:ext uri="{FF2B5EF4-FFF2-40B4-BE49-F238E27FC236}">
                <ns2:creationId id="{BF3D9B6A-6862-408F-95C3-202479BDF6C5}"/>
              </a:ext>
            </a:extLst>
          </p:cNvPr>
          <p:cNvSpPr>
            <a:spLocks noGrp="1"/>
          </p:cNvSpPr>
          <p:nvPr/>
        </p:nvSpPr>
        <p:spPr>
          <a:xfrm>
            <a:off x="4848225" y="446722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Accuracy 99,61 %</a:t>
            </a:r>
            <a:r>
              <a:t> — все верные ответы</a:t>
            </a:r>
          </a:p>
        </p:txBody>
      </p:sp>
      <p:sp>
        <p:nvSpPr>
          <p:cNvPr id="32" name="Метрика AP">
            <a:extLst>
              <a:ext uri="{FF2B5EF4-FFF2-40B4-BE49-F238E27FC236}">
                <ns2:creationId id="{C28A3B2D-E11B-423A-9D14-4375F20C201C}"/>
              </a:ext>
            </a:extLst>
          </p:cNvPr>
          <p:cNvSpPr>
            <a:spLocks noGrp="1"/>
          </p:cNvSpPr>
          <p:nvPr/>
        </p:nvSpPr>
        <p:spPr>
          <a:xfrm>
            <a:off x="4848225" y="4714875"/>
            <a:ext cx="3857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rPr b="1">
                <a:solidFill>
                  <a:srgbClr val="2467B2"/>
                </a:solidFill>
              </a:rPr>
              <a:t>AP 99,72 %</a:t>
            </a:r>
            <a:r>
              <a:t> — оценка по разным порогам</a:t>
            </a:r>
          </a:p>
        </p:txBody>
      </p:sp>
      <p:sp>
        <p:nvSpPr>
          <p:cNvPr id="33" name="Почему высокие">
            <a:extLst>
              <a:ext uri="{FF2B5EF4-FFF2-40B4-BE49-F238E27FC236}">
                <ns2:creationId id="{8CDEAADF-B149-47ED-BBE9-59CE7B144B26}"/>
              </a:ext>
            </a:extLst>
          </p:cNvPr>
          <p:cNvSpPr>
            <a:spLocks noGrp="1"/>
          </p:cNvSpPr>
          <p:nvPr/>
        </p:nvSpPr>
        <p:spPr>
          <a:xfrm>
            <a:off x="4743450" y="5181600"/>
            <a:ext cx="40386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1">
                <a:solidFill>
                  <a:srgbClr val="7C4BB1"/>
                </a:solidFill>
                <a:latin typeface="Times New Roman"/>
                <a:ea typeface="Times New Roman"/>
                <a:cs typeface="Times New Roman"/>
              </a:defRPr>
            </a:pPr>
            <a:r>
              <a:t>Как понимать показатели около 99 %</a:t>
            </a:r>
          </a:p>
        </p:txBody>
      </p:sp>
      <p:sp>
        <p:nvSpPr>
          <p:cNvPr id="34" name="Объяснение">
            <a:extLst>
              <a:ext uri="{FF2B5EF4-FFF2-40B4-BE49-F238E27FC236}">
                <ns2:creationId id="{CDE9547A-AB67-4543-BAF0-45B3E1C0CA19}"/>
              </a:ext>
            </a:extLst>
          </p:cNvPr>
          <p:cNvSpPr>
            <a:spLocks noGrp="1"/>
          </p:cNvSpPr>
          <p:nvPr/>
        </p:nvSpPr>
        <p:spPr>
          <a:xfrm>
            <a:off x="4743450" y="5505450"/>
            <a:ext cx="4038600" cy="1038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45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Сеть дообучалась из ранее полученных весов: AP после первой эпохи уже 98,97 %. На тесте всего 13 ошибок из 3 337 кадров. Похожие кадры и использование теста при разработке могут завышать оценку.</a:t>
            </a:r>
          </a:p>
        </p:txBody>
      </p:sp>
      <p:sp>
        <p:nvSpPr>
          <p:cNvPr id="35" name="Номер">
            <a:extLst>
              <a:ext uri="{FF2B5EF4-FFF2-40B4-BE49-F238E27FC236}">
                <ns2:creationId id="{618ABABB-740B-4301-8026-216E76F50DFB}"/>
              </a:ext>
            </a:extLst>
          </p:cNvPr>
          <p:cNvSpPr>
            <a:spLocks noGrp="1"/>
          </p:cNvSpPr>
          <p:nvPr/>
        </p:nvSpPr>
        <p:spPr>
          <a:xfrm>
            <a:off x="8553450" y="6572250"/>
            <a:ext cx="323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1D2733"/>
                </a:solidFill>
                <a:latin typeface="Times New Roman"/>
                <a:ea typeface="Times New Roman"/>
                <a:cs typeface="Times New Roman"/>
              </a:defRPr>
            </a:pPr>
            <a:r>
              <a:t>5</a:t>
            </a:r>
          </a:p>
        </p:txBody>
      </p:sp>
    </p:spTree>
    <p:extLst>
      <p:ext uri="{BB962C8B-B14F-4D97-AF65-F5344CB8AC3E}">
        <ns5:creationId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6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1152406"/>
            <a:ext cx="2917990" cy="480131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Robin Nano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Raspberry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</TotalTime>
  <Words>1101</Words>
  <Application>Microsoft Office PowerPoint</Application>
  <DocSecurity>0</DocSecurity>
  <PresentationFormat>Экран (4:3)</PresentationFormat>
  <Paragraphs>87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30</cp:revision>
  <dcterms:created xsi:type="dcterms:W3CDTF">2026-10-07T12:47:26Z</dcterms:created>
  <dcterms:modified xsi:type="dcterms:W3CDTF">2026-10-08T19:38:56Z</dcterms:modified>
</cp:coreProperties>
</file>