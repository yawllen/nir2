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9c1534d70740b3" /><Relationship Type="http://schemas.openxmlformats.org/officeDocument/2006/relationships/extended-properties" Target="/docProps/app.xml" Id="R5c91cd4b2cb74bce" /><Relationship Type="http://schemas.openxmlformats.org/officeDocument/2006/relationships/officeDocument" Target="/ppt/presentation.xml" Id="Rebf49a74c8794a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93a811003b40b4"/>
  </p:sldMasterIdLst>
  <p:notesMasterIdLst>
    <p:notesMasterId xmlns:r="http://schemas.openxmlformats.org/officeDocument/2006/relationships" r:id="R829bc0e9349848a3"/>
  </p:notesMasterIdLst>
  <p:sldIdLst>
    <p:sldId xmlns:r="http://schemas.openxmlformats.org/officeDocument/2006/relationships" id="256" r:id="R3b4a77ac5f3340af"/>
    <p:sldId xmlns:r="http://schemas.openxmlformats.org/officeDocument/2006/relationships" id="257" r:id="R9707207971854251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6501dc38654fb9" /><Relationship Type="http://schemas.openxmlformats.org/officeDocument/2006/relationships/slideMaster" Target="/ppt/slideMasters/slideMaster1.xml" Id="Re893a811003b40b4" /><Relationship Type="http://schemas.openxmlformats.org/officeDocument/2006/relationships/notesMaster" Target="/ppt/notesMasters/notesMaster1.xml" Id="R829bc0e9349848a3" /><Relationship Type="http://schemas.openxmlformats.org/officeDocument/2006/relationships/presProps" Target="/ppt/presProps.xml" Id="R9a31b37be3084d3d" /><Relationship Type="http://schemas.openxmlformats.org/officeDocument/2006/relationships/tableStyles" Target="/ppt/tableStyles.xml" Id="R55ee4c2106394668" /><Relationship Type="http://schemas.openxmlformats.org/officeDocument/2006/relationships/slide" Target="/ppt/slides/slide1.xml" Id="R3b4a77ac5f3340af" /><Relationship Type="http://schemas.openxmlformats.org/officeDocument/2006/relationships/slide" Target="/ppt/slides/slide2.xml" Id="R97072079718542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c15515379049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fc89d633c6403b" /><Relationship Type="http://schemas.openxmlformats.org/officeDocument/2006/relationships/notesMaster" Target="/ppt/notesMasters/notesMaster1.xml" Id="Ra920b358ed2e46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01b7e98550451f" /><Relationship Type="http://schemas.openxmlformats.org/officeDocument/2006/relationships/notesMaster" Target="/ppt/notesMasters/notesMaster1.xml" Id="Re03a8149024948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C:/Users/Yawllen/Documents/GitHub/printer-defect-server/models/spaghetti_presence_v12/training_config.json. Показан срез valid.printer_at_0_3: TP=6, FP=0, FN=5, TN=128, всего 139 кадров. Полнота 54.55 %, F1 70.59 %. Это валидация принтера, а не независимый тест и не оценка обнаружения по печатным заданиям. Веса 19-й эпохи выбирались по этой валидации при пороге 0.3. Общие тестовые метрики из смешанного набора не показаны. Обучение выполнено из ранее полученных весов.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C:/Users/Yawllen/Documents/GitHub/printer-defect-server/models/spaghetti_presence_v12/history.json; C:/Users/Yawllen/Documents/GitHub/printer-defect-server/models/spaghetti_presence_v12/training_config.json. Правило выбора: максимальная полнота при false_alarm_rate &lt;= 0.01 на валидации принтера и пороге 0.3. При равной полноте предпочтение отдаётся меньшей доле ложных тревог, затем большей AP принтера, затем общей AP. Эпохи 11,17,18,19,20 имеют полноту 6/11 и FP=0; AP принтера: 88.47,90.26,92.31,94.63,92.45 %. Тест не использован для выбора весов. Общие графики на слайде 5 описывают другой срез качества. Оценка по 11 положительным и 128 отрицательным кадрам предварительная.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f7e7764584a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c7d44bfab4f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c912da53847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a98c5cab74a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ff4b2b12545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e97e87a0344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C4C893-B308-424A-A024-918CE9873C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47AB3C-4812-4394-9EB1-3070C7BD7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376E3A-1D71-4490-B2D1-51DCBEBD67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049648-1712-430C-9205-A9FD9BBCE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CD8FA9-A2A4-44DD-96EA-F63783D478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05B026-D499-4565-BEAF-642FDF42C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FB162A-4487-4AAD-9468-3899B18144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06ABBD-60F9-49F1-8019-70E42980D6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B8CC31-D1CD-4368-9549-7AF9FC6AB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8C3DF2-907C-42F1-98FC-CD0808EBC5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f4493711f744f0" /><Relationship Type="http://schemas.openxmlformats.org/officeDocument/2006/relationships/slideLayout" Target="/ppt/slideLayouts/slideLayout1.xml" Id="Rbe934982a34c415d" /><Relationship Type="http://schemas.openxmlformats.org/officeDocument/2006/relationships/slideLayout" Target="/ppt/slideLayouts/slideLayout2.xml" Id="R4c11e62fb2e34446" /><Relationship Type="http://schemas.openxmlformats.org/officeDocument/2006/relationships/slideLayout" Target="/ppt/slideLayouts/slideLayout3.xml" Id="R41855b5ee691448b" /><Relationship Type="http://schemas.openxmlformats.org/officeDocument/2006/relationships/slideLayout" Target="/ppt/slideLayouts/slideLayout4.xml" Id="R06a75a2b0a834264" /><Relationship Type="http://schemas.openxmlformats.org/officeDocument/2006/relationships/slideLayout" Target="/ppt/slideLayouts/slideLayout5.xml" Id="R2e073ccbe0df4543" /><Relationship Type="http://schemas.openxmlformats.org/officeDocument/2006/relationships/slideLayout" Target="/ppt/slideLayouts/slideLayout6.xml" Id="Rc40c4c0c09f14e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934982a34c415d"/>
    <p:sldLayoutId xmlns:r="http://schemas.openxmlformats.org/officeDocument/2006/relationships" id="2147483650" r:id="R4c11e62fb2e34446"/>
    <p:sldLayoutId xmlns:r="http://schemas.openxmlformats.org/officeDocument/2006/relationships" id="2147483651" r:id="R41855b5ee691448b"/>
    <p:sldLayoutId xmlns:r="http://schemas.openxmlformats.org/officeDocument/2006/relationships" id="2147483652" r:id="R06a75a2b0a834264"/>
    <p:sldLayoutId xmlns:r="http://schemas.openxmlformats.org/officeDocument/2006/relationships" id="2147483653" r:id="R2e073ccbe0df4543"/>
    <p:sldLayoutId xmlns:r="http://schemas.openxmlformats.org/officeDocument/2006/relationships" id="2147483654" r:id="Rc40c4c0c09f14e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98ed2a0e074be3" /><Relationship Type="http://schemas.openxmlformats.org/officeDocument/2006/relationships/chart" Target="/ppt/slides/charts/chart1.xml" Id="Red99160c85ce45f1" /><Relationship Type="http://schemas.openxmlformats.org/officeDocument/2006/relationships/chart" Target="/ppt/slides/charts/chart2.xml" Id="R8f3def3c2275471c" /><Relationship Type="http://schemas.openxmlformats.org/officeDocument/2006/relationships/notesSlide" Target="/ppt/notesSlides/notesSlide1.xml" Id="R0aff39f993d546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4c570033e44a6" /><Relationship Type="http://schemas.openxmlformats.org/officeDocument/2006/relationships/chart" Target="/ppt/slides/charts/chart3.xml" Id="R95b78dcee8b94f71" /><Relationship Type="http://schemas.openxmlformats.org/officeDocument/2006/relationships/chart" Target="/ppt/slides/charts/chart4.xml" Id="R3e8bc4c2d97648d4" /><Relationship Type="http://schemas.openxmlformats.org/officeDocument/2006/relationships/notesSlide" Target="/ppt/notesSlides/notesSlide2.xml" Id="R6ed7e83a0db146b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Ошибка обучения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2467B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2467B2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cat>
          <c:val>
            <c:numLit>
              <c:formatCode>0.000</c:formatCode>
              <c:ptCount val="20"/>
              <c:pt idx="0">
                <c:v>0.005552</c:v>
              </c:pt>
              <c:pt idx="1">
                <c:v>0.00241</c:v>
              </c:pt>
              <c:pt idx="2">
                <c:v>0.009237</c:v>
              </c:pt>
              <c:pt idx="3">
                <c:v>0.00326</c:v>
              </c:pt>
              <c:pt idx="4">
                <c:v>0.002323</c:v>
              </c:pt>
              <c:pt idx="5">
                <c:v>0.001774</c:v>
              </c:pt>
              <c:pt idx="6">
                <c:v>0.001328</c:v>
              </c:pt>
              <c:pt idx="7">
                <c:v>0.000871</c:v>
              </c:pt>
              <c:pt idx="8">
                <c:v>0.001206</c:v>
              </c:pt>
              <c:pt idx="9">
                <c:v>0.004558</c:v>
              </c:pt>
              <c:pt idx="10">
                <c:v>0.001092</c:v>
              </c:pt>
              <c:pt idx="11">
                <c:v>0.003142</c:v>
              </c:pt>
              <c:pt idx="12">
                <c:v>0.001619</c:v>
              </c:pt>
              <c:pt idx="13">
                <c:v>0.001099</c:v>
              </c:pt>
              <c:pt idx="14">
                <c:v>0.000973</c:v>
              </c:pt>
              <c:pt idx="15">
                <c:v>0.000976</c:v>
              </c:pt>
              <c:pt idx="16">
                <c:v>0.001178</c:v>
              </c:pt>
              <c:pt idx="17">
                <c:v>0.001012</c:v>
              </c:pt>
              <c:pt idx="18">
                <c:v>0.002217</c:v>
              </c:pt>
              <c:pt idx="19">
                <c:v>0.002233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00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Полнота на кадрах принтера, %</c:v>
          </c:tx>
          <c:spPr>
            <a:ln xmlns:a="http://schemas.openxmlformats.org/drawingml/2006/main" w="22860">
              <a:solidFill>
                <a:srgbClr val="7C4BB1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7C4BB1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7C4BB1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cat>
          <c:val>
            <c:numLit>
              <c:formatCode>0" %"</c:formatCode>
              <c:ptCount val="20"/>
              <c:pt idx="0">
                <c:v>0</c:v>
              </c:pt>
              <c:pt idx="1">
                <c:v>27.272727</c:v>
              </c:pt>
              <c:pt idx="2">
                <c:v>45.454545</c:v>
              </c:pt>
              <c:pt idx="3">
                <c:v>36.363636</c:v>
              </c:pt>
              <c:pt idx="4">
                <c:v>27.272727</c:v>
              </c:pt>
              <c:pt idx="5">
                <c:v>27.272727</c:v>
              </c:pt>
              <c:pt idx="6">
                <c:v>45.454545</c:v>
              </c:pt>
              <c:pt idx="7">
                <c:v>45.454545</c:v>
              </c:pt>
              <c:pt idx="8">
                <c:v>72.727273</c:v>
              </c:pt>
              <c:pt idx="9">
                <c:v>45.454545</c:v>
              </c:pt>
              <c:pt idx="10">
                <c:v>54.545455</c:v>
              </c:pt>
              <c:pt idx="11">
                <c:v>45.454545</c:v>
              </c:pt>
              <c:pt idx="12">
                <c:v>27.272727</c:v>
              </c:pt>
              <c:pt idx="13">
                <c:v>36.363636</c:v>
              </c:pt>
              <c:pt idx="14">
                <c:v>45.454545</c:v>
              </c:pt>
              <c:pt idx="15">
                <c:v>45.454545</c:v>
              </c:pt>
              <c:pt idx="16">
                <c:v>54.545455</c:v>
              </c:pt>
              <c:pt idx="17">
                <c:v>54.545455</c:v>
              </c:pt>
              <c:pt idx="18">
                <c:v>54.545455</c:v>
              </c:pt>
              <c:pt idx="19">
                <c:v>54.545455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Полнота, %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2467B2"/>
              </a:solidFill>
            </c:spPr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2467B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2467B2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cat>
          <c:val>
            <c:numLit>
              <c:formatCode>0" %"</c:formatCode>
              <c:ptCount val="20"/>
              <c:pt idx="0">
                <c:v>0</c:v>
              </c:pt>
              <c:pt idx="1">
                <c:v>27.272727</c:v>
              </c:pt>
              <c:pt idx="2">
                <c:v>45.454545</c:v>
              </c:pt>
              <c:pt idx="3">
                <c:v>36.363636</c:v>
              </c:pt>
              <c:pt idx="4">
                <c:v>27.272727</c:v>
              </c:pt>
              <c:pt idx="5">
                <c:v>27.272727</c:v>
              </c:pt>
              <c:pt idx="6">
                <c:v>45.454545</c:v>
              </c:pt>
              <c:pt idx="7">
                <c:v>45.454545</c:v>
              </c:pt>
              <c:pt idx="8">
                <c:v>72.727273</c:v>
              </c:pt>
              <c:pt idx="9">
                <c:v>45.454545</c:v>
              </c:pt>
              <c:pt idx="10">
                <c:v>54.545455</c:v>
              </c:pt>
              <c:pt idx="11">
                <c:v>45.454545</c:v>
              </c:pt>
              <c:pt idx="12">
                <c:v>27.272727</c:v>
              </c:pt>
              <c:pt idx="13">
                <c:v>36.363636</c:v>
              </c:pt>
              <c:pt idx="14">
                <c:v>45.454545</c:v>
              </c:pt>
              <c:pt idx="15">
                <c:v>45.454545</c:v>
              </c:pt>
              <c:pt idx="16">
                <c:v>54.545455</c:v>
              </c:pt>
              <c:pt idx="17">
                <c:v>54.545455</c:v>
              </c:pt>
              <c:pt idx="18">
                <c:v>54.545455</c:v>
              </c:pt>
              <c:pt idx="19">
                <c:v>54.545455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Ложные тревоги, %</c:v>
          </c:tx>
          <c:spPr>
            <a:ln xmlns:a="http://schemas.openxmlformats.org/drawingml/2006/main" w="22860">
              <a:solidFill>
                <a:srgbClr val="A52B37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A52B37"/>
              </a:solidFill>
            </c:spPr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A52B37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A52B37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cat>
          <c:val>
            <c:numLit>
              <c:formatCode>0" %"</c:formatCode>
              <c:ptCount val="20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7.03125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</c:numLit>
          </c:val>
          <c:smooth val="0"/>
        </c:ser>
        <c:ser>
          <c:idx val="1"/>
          <c:order val="1"/>
          <c:tx>
            <c:v>Допустимый предел 1 %</c:v>
          </c:tx>
          <c:spPr>
            <a:ln xmlns:a="http://schemas.openxmlformats.org/drawingml/2006/main" w="16193">
              <a:solidFill>
                <a:srgbClr val="D48923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cat>
          <c:val>
            <c:numLit>
              <c:formatCode>0" %"</c:formatCode>
              <c:ptCount val="20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1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1</c:v>
              </c:pt>
              <c:pt idx="18">
                <c:v>1</c:v>
              </c:pt>
              <c:pt idx="19">
                <c:v>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24E1BD4-AE36-4ADC-B18A-EBE7B77F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36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6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Проверка модели на кадрах принтера</a:t>
            </a:r>
          </a:p>
        </p:txBody>
      </p:sp>
      <p:sp>
        <p:nvSpPr>
          <p:cNvPr id="2" name="Ошибка обучения">
            <a:extLst xmlns:a="http://schemas.openxmlformats.org/drawingml/2006/main">
              <a:ext uri="{FF2B5EF4-FFF2-40B4-BE49-F238E27FC236}">
                <a16:creationId xmlns:a16="http://schemas.microsoft.com/office/drawing/2014/main" id="{1F2E1EF0-8550-49C2-9032-8661C755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382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</a:t>
            </a:r>
          </a:p>
        </p:txBody>
      </p:sp>
      <p:sp>
        <p:nvSpPr>
          <p:cNvPr id="3" name="Валидация">
            <a:extLst xmlns:a="http://schemas.openxmlformats.org/drawingml/2006/main">
              <a:ext uri="{FF2B5EF4-FFF2-40B4-BE49-F238E27FC236}">
                <a16:creationId xmlns:a16="http://schemas.microsoft.com/office/drawing/2014/main" id="{5805B4B7-4ECA-4C50-8B5E-758D6B11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8382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на кадрах принтера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B6F657C-B274-4113-9D8C-9519FBCC0039}"/>
              </a:ext>
            </a:extLst>
          </p:cNvPr>
          <p:cNvGraphicFramePr/>
          <p:nvPr/>
        </p:nvGraphicFramePr>
        <p:xfrm>
          <a:off xmlns:a="http://schemas.openxmlformats.org/drawingml/2006/main" x="295275" y="1247775"/>
          <a:ext xmlns:a="http://schemas.openxmlformats.org/drawingml/2006/main" cx="412432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99160c85ce45f1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E360003-6B64-49B2-8478-74A75BC4164A}"/>
              </a:ext>
            </a:extLst>
          </p:cNvPr>
          <p:cNvGraphicFramePr/>
          <p:nvPr/>
        </p:nvGraphicFramePr>
        <p:xfrm>
          <a:off xmlns:a="http://schemas.openxmlformats.org/drawingml/2006/main" x="4705350" y="1247775"/>
          <a:ext xmlns:a="http://schemas.openxmlformats.org/drawingml/2006/main" cx="412432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3def3c2275471c"/>
          </a:graphicData>
        </a:graphic>
      </p:graphicFrame>
      <p:sp>
        <p:nvSpPr>
          <p:cNvPr id="6" name="Матрица ошибок">
            <a:extLst xmlns:a="http://schemas.openxmlformats.org/drawingml/2006/main">
              <a:ext uri="{FF2B5EF4-FFF2-40B4-BE49-F238E27FC236}">
                <a16:creationId xmlns:a16="http://schemas.microsoft.com/office/drawing/2014/main" id="{83A45998-BA7C-428D-BBA9-A585A7D5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86125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валидации</a:t>
            </a:r>
          </a:p>
        </p:txBody>
      </p:sp>
      <p:sp>
        <p:nvSpPr>
          <p:cNvPr id="7" name="Порог">
            <a:extLst xmlns:a="http://schemas.openxmlformats.org/drawingml/2006/main">
              <a:ext uri="{FF2B5EF4-FFF2-40B4-BE49-F238E27FC236}">
                <a16:creationId xmlns:a16="http://schemas.microsoft.com/office/drawing/2014/main" id="{B450B794-B24E-4F21-83F1-FCC99597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29025"/>
            <a:ext cx="3857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139 кадров принтера; порог 0,3</a:t>
            </a:r>
          </a:p>
        </p:txBody>
      </p:sp>
      <p:sp>
        <p:nvSpPr>
          <p:cNvPr id="8" name="Предсказание">
            <a:extLst xmlns:a="http://schemas.openxmlformats.org/drawingml/2006/main">
              <a:ext uri="{FF2B5EF4-FFF2-40B4-BE49-F238E27FC236}">
                <a16:creationId xmlns:a16="http://schemas.microsoft.com/office/drawing/2014/main" id="{A8DF5A85-E7C3-4FED-831E-6CE6395C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43350"/>
            <a:ext cx="2524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9" name="Разметка">
            <a:extLst xmlns:a="http://schemas.openxmlformats.org/drawingml/2006/main">
              <a:ext uri="{FF2B5EF4-FFF2-40B4-BE49-F238E27FC236}">
                <a16:creationId xmlns:a16="http://schemas.microsoft.com/office/drawing/2014/main" id="{1D5AABC3-76A8-4A43-8129-854808F1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38600"/>
            <a:ext cx="1057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</a:t>
            </a:r>
          </a:p>
          <a:p xmlns:a="http://schemas.openxmlformats.org/drawingml/2006/main"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разметке</a:t>
            </a:r>
          </a:p>
        </p:txBody>
      </p:sp>
      <p:sp>
        <p:nvSpPr>
          <p:cNvPr id="10" name="Нет дефекта">
            <a:extLst xmlns:a="http://schemas.openxmlformats.org/drawingml/2006/main">
              <a:ext uri="{FF2B5EF4-FFF2-40B4-BE49-F238E27FC236}">
                <a16:creationId xmlns:a16="http://schemas.microsoft.com/office/drawing/2014/main" id="{F68DB5DA-8EF7-4F58-B55B-2DAFE92C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1247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 xmlns:a="http://schemas.openxmlformats.org/drawingml/2006/main">
              <a:ext uri="{FF2B5EF4-FFF2-40B4-BE49-F238E27FC236}">
                <a16:creationId xmlns:a16="http://schemas.microsoft.com/office/drawing/2014/main" id="{D1E37B1A-1802-473A-A196-2869A0E0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1247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 xmlns:a="http://schemas.openxmlformats.org/drawingml/2006/main">
              <a:ext uri="{FF2B5EF4-FFF2-40B4-BE49-F238E27FC236}">
                <a16:creationId xmlns:a16="http://schemas.microsoft.com/office/drawing/2014/main" id="{9087B5D8-FF28-446C-B114-AA0DE00B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10100"/>
            <a:ext cx="1057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 xmlns:a="http://schemas.openxmlformats.org/drawingml/2006/main"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 xmlns:a="http://schemas.openxmlformats.org/drawingml/2006/main">
              <a:ext uri="{FF2B5EF4-FFF2-40B4-BE49-F238E27FC236}">
                <a16:creationId xmlns:a16="http://schemas.microsoft.com/office/drawing/2014/main" id="{9250A1B2-394D-4FA3-BE9C-462355A3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00700"/>
            <a:ext cx="110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 xmlns:a="http://schemas.openxmlformats.org/drawingml/2006/main">
              <a:ext uri="{FF2B5EF4-FFF2-40B4-BE49-F238E27FC236}">
                <a16:creationId xmlns:a16="http://schemas.microsoft.com/office/drawing/2014/main" id="{3D6507F9-B07C-4886-B4F9-98A28362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67225"/>
            <a:ext cx="1314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Число TN">
            <a:extLst xmlns:a="http://schemas.openxmlformats.org/drawingml/2006/main">
              <a:ext uri="{FF2B5EF4-FFF2-40B4-BE49-F238E27FC236}">
                <a16:creationId xmlns:a16="http://schemas.microsoft.com/office/drawing/2014/main" id="{E0D26C62-4643-4B3B-A44D-BA9062B9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128</a:t>
            </a:r>
          </a:p>
        </p:txBody>
      </p:sp>
      <p:sp>
        <p:nvSpPr>
          <p:cNvPr id="16" name="Смысл TN">
            <a:extLst xmlns:a="http://schemas.openxmlformats.org/drawingml/2006/main">
              <a:ext uri="{FF2B5EF4-FFF2-40B4-BE49-F238E27FC236}">
                <a16:creationId xmlns:a16="http://schemas.microsoft.com/office/drawing/2014/main" id="{B7F15119-C322-42F4-947A-4902E8AD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0006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 нет</a:t>
            </a:r>
          </a:p>
        </p:txBody>
      </p:sp>
      <p:sp>
        <p:nvSpPr>
          <p:cNvPr id="17" name="FP">
            <a:extLst xmlns:a="http://schemas.openxmlformats.org/drawingml/2006/main">
              <a:ext uri="{FF2B5EF4-FFF2-40B4-BE49-F238E27FC236}">
                <a16:creationId xmlns:a16="http://schemas.microsoft.com/office/drawing/2014/main" id="{ECE91DA9-B792-4385-842F-68DFC4C6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67225"/>
            <a:ext cx="1314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B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Число FP">
            <a:extLst xmlns:a="http://schemas.openxmlformats.org/drawingml/2006/main">
              <a:ext uri="{FF2B5EF4-FFF2-40B4-BE49-F238E27FC236}">
                <a16:creationId xmlns:a16="http://schemas.microsoft.com/office/drawing/2014/main" id="{447985AC-FBA0-4076-A74D-0B98A99F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815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0</a:t>
            </a:r>
          </a:p>
        </p:txBody>
      </p:sp>
      <p:sp>
        <p:nvSpPr>
          <p:cNvPr id="19" name="Смысл FP">
            <a:extLst xmlns:a="http://schemas.openxmlformats.org/drawingml/2006/main">
              <a:ext uri="{FF2B5EF4-FFF2-40B4-BE49-F238E27FC236}">
                <a16:creationId xmlns:a16="http://schemas.microsoft.com/office/drawing/2014/main" id="{439F640B-AD8E-461A-BC76-D42A81E3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0006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Ложная тревога</a:t>
            </a:r>
          </a:p>
        </p:txBody>
      </p:sp>
      <p:sp>
        <p:nvSpPr>
          <p:cNvPr id="20" name="FN">
            <a:extLst xmlns:a="http://schemas.openxmlformats.org/drawingml/2006/main">
              <a:ext uri="{FF2B5EF4-FFF2-40B4-BE49-F238E27FC236}">
                <a16:creationId xmlns:a16="http://schemas.microsoft.com/office/drawing/2014/main" id="{A00766DC-2746-4FDA-95BC-EDC3E02F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24475"/>
            <a:ext cx="1314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Число FN">
            <a:extLst xmlns:a="http://schemas.openxmlformats.org/drawingml/2006/main">
              <a:ext uri="{FF2B5EF4-FFF2-40B4-BE49-F238E27FC236}">
                <a16:creationId xmlns:a16="http://schemas.microsoft.com/office/drawing/2014/main" id="{C1A214A0-C337-4796-8973-0898A69E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3877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  <p:sp>
        <p:nvSpPr>
          <p:cNvPr id="22" name="Смысл FN">
            <a:extLst xmlns:a="http://schemas.openxmlformats.org/drawingml/2006/main">
              <a:ext uri="{FF2B5EF4-FFF2-40B4-BE49-F238E27FC236}">
                <a16:creationId xmlns:a16="http://schemas.microsoft.com/office/drawing/2014/main" id="{ED11A2DC-C6C8-49EB-8089-0E94FD25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8578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Пропуск дефекта</a:t>
            </a:r>
          </a:p>
        </p:txBody>
      </p:sp>
      <p:sp>
        <p:nvSpPr>
          <p:cNvPr id="23" name="TP">
            <a:extLst xmlns:a="http://schemas.openxmlformats.org/drawingml/2006/main">
              <a:ext uri="{FF2B5EF4-FFF2-40B4-BE49-F238E27FC236}">
                <a16:creationId xmlns:a16="http://schemas.microsoft.com/office/drawing/2014/main" id="{E24B5905-FA2B-46A3-B8F1-8A1F1AF0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24475"/>
            <a:ext cx="1314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Число TP">
            <a:extLst xmlns:a="http://schemas.openxmlformats.org/drawingml/2006/main">
              <a:ext uri="{FF2B5EF4-FFF2-40B4-BE49-F238E27FC236}">
                <a16:creationId xmlns:a16="http://schemas.microsoft.com/office/drawing/2014/main" id="{3E3E8538-22C7-476D-8DEC-BF0DCEF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3877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  <p:sp>
        <p:nvSpPr>
          <p:cNvPr id="25" name="Смысл TP">
            <a:extLst xmlns:a="http://schemas.openxmlformats.org/drawingml/2006/main">
              <a:ext uri="{FF2B5EF4-FFF2-40B4-BE49-F238E27FC236}">
                <a16:creationId xmlns:a16="http://schemas.microsoft.com/office/drawing/2014/main" id="{8AEE966F-F31E-44F5-A0C7-33277030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8578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 найден</a:t>
            </a:r>
          </a:p>
        </p:txBody>
      </p:sp>
      <p:sp>
        <p:nvSpPr>
          <p:cNvPr id="26" name="Метрики заголовок">
            <a:extLst xmlns:a="http://schemas.openxmlformats.org/drawingml/2006/main">
              <a:ext uri="{FF2B5EF4-FFF2-40B4-BE49-F238E27FC236}">
                <a16:creationId xmlns:a16="http://schemas.microsoft.com/office/drawing/2014/main" id="{5053F392-DF20-45FE-A748-E68A4FAB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валидации принтера</a:t>
            </a:r>
          </a:p>
        </p:txBody>
      </p:sp>
      <p:sp>
        <p:nvSpPr>
          <p:cNvPr id="27" name="Рамка метрик">
            <a:extLst xmlns:a="http://schemas.openxmlformats.org/drawingml/2006/main">
              <a:ext uri="{FF2B5EF4-FFF2-40B4-BE49-F238E27FC236}">
                <a16:creationId xmlns:a16="http://schemas.microsoft.com/office/drawing/2014/main" id="{29508ADC-71C8-435A-983A-D29C88E7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29025"/>
            <a:ext cx="4038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dash"/>
          </a:ln>
        </p:spPr>
      </p:sp>
      <p:sp>
        <p:nvSpPr>
          <p:cNvPr id="28" name="Основной результат">
            <a:extLst xmlns:a="http://schemas.openxmlformats.org/drawingml/2006/main">
              <a:ext uri="{FF2B5EF4-FFF2-40B4-BE49-F238E27FC236}">
                <a16:creationId xmlns:a16="http://schemas.microsoft.com/office/drawing/2014/main" id="{586BF904-CA4C-4B32-9E28-A22D7644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242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54,55 %</a:t>
            </a:r>
          </a:p>
        </p:txBody>
      </p:sp>
      <p:sp>
        <p:nvSpPr>
          <p:cNvPr id="29" name="Обнаружения">
            <a:extLst xmlns:a="http://schemas.openxmlformats.org/drawingml/2006/main">
              <a:ext uri="{FF2B5EF4-FFF2-40B4-BE49-F238E27FC236}">
                <a16:creationId xmlns:a16="http://schemas.microsoft.com/office/drawing/2014/main" id="{8C51B911-8848-4C03-9F85-D374049C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2291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Обнаружены 6 из 11; пропущены 5</a:t>
            </a:r>
          </a:p>
        </p:txBody>
      </p:sp>
      <p:sp>
        <p:nvSpPr>
          <p:cNvPr id="30" name="Ложные тревоги">
            <a:extLst xmlns:a="http://schemas.openxmlformats.org/drawingml/2006/main">
              <a:ext uri="{FF2B5EF4-FFF2-40B4-BE49-F238E27FC236}">
                <a16:creationId xmlns:a16="http://schemas.microsoft.com/office/drawing/2014/main" id="{5602CE4D-EB63-431E-A224-D8BACDBF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52437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Ложные тревоги: 0 из 128</a:t>
            </a:r>
          </a:p>
        </p:txBody>
      </p:sp>
      <p:sp>
        <p:nvSpPr>
          <p:cNvPr id="31" name="F1">
            <a:extLst xmlns:a="http://schemas.openxmlformats.org/drawingml/2006/main">
              <a:ext uri="{FF2B5EF4-FFF2-40B4-BE49-F238E27FC236}">
                <a16:creationId xmlns:a16="http://schemas.microsoft.com/office/drawing/2014/main" id="{8FC21DD1-ADC2-44D1-8999-39002DF2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19650"/>
            <a:ext cx="3857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Мера F1: 70,59 %</a:t>
            </a:r>
          </a:p>
        </p:txBody>
      </p:sp>
      <p:sp>
        <p:nvSpPr>
          <p:cNvPr id="32" name="Смысл проверки">
            <a:extLst xmlns:a="http://schemas.openxmlformats.org/drawingml/2006/main">
              <a:ext uri="{FF2B5EF4-FFF2-40B4-BE49-F238E27FC236}">
                <a16:creationId xmlns:a16="http://schemas.microsoft.com/office/drawing/2014/main" id="{EC93E8F1-01FC-4795-B212-CB6C7001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67325"/>
            <a:ext cx="403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Почему выбрана 19-я эпоха</a:t>
            </a:r>
          </a:p>
        </p:txBody>
      </p:sp>
      <p:sp>
        <p:nvSpPr>
          <p:cNvPr id="33" name="Объяснение">
            <a:extLst xmlns:a="http://schemas.openxmlformats.org/drawingml/2006/main">
              <a:ext uri="{FF2B5EF4-FFF2-40B4-BE49-F238E27FC236}">
                <a16:creationId xmlns:a16="http://schemas.microsoft.com/office/drawing/2014/main" id="{5D1C4B12-BF0C-432A-BA57-03911004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10225"/>
            <a:ext cx="4038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При пределе ложных тревог 1 % это максимальная полнота. Среди эпох с таким результатом у 19-й выше средняя точность: 94,63 %. Выборку нужно расширить новыми сессиями.</a:t>
            </a:r>
          </a:p>
        </p:txBody>
      </p:sp>
      <p:sp>
        <p:nvSpPr>
          <p:cNvPr id="34" name="Номер">
            <a:extLst xmlns:a="http://schemas.openxmlformats.org/drawingml/2006/main">
              <a:ext uri="{FF2B5EF4-FFF2-40B4-BE49-F238E27FC236}">
                <a16:creationId xmlns:a16="http://schemas.microsoft.com/office/drawing/2014/main" id="{C2F32F25-0428-4196-95E5-6CFBAD5C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57225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32325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Заголовок выбора">
            <a:extLst xmlns:a="http://schemas.openxmlformats.org/drawingml/2006/main">
              <a:ext uri="{FF2B5EF4-FFF2-40B4-BE49-F238E27FC236}">
                <a16:creationId xmlns:a16="http://schemas.microsoft.com/office/drawing/2014/main" id="{C7C7E27B-C421-4713-8DD6-CBE08968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625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Почему выбраны веса 19-й эпохи</a:t>
            </a:r>
          </a:p>
        </p:txBody>
      </p:sp>
      <p:sp>
        <p:nvSpPr>
          <p:cNvPr id="2" name="Правило выбора">
            <a:extLst xmlns:a="http://schemas.openxmlformats.org/drawingml/2006/main">
              <a:ext uri="{FF2B5EF4-FFF2-40B4-BE49-F238E27FC236}">
                <a16:creationId xmlns:a16="http://schemas.microsoft.com/office/drawing/2014/main" id="{CA533718-09AD-4BC6-8068-BC0E4426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38200"/>
            <a:ext cx="8324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Максимум полноты при доле ложных тревог не выше 1 %</a:t>
            </a:r>
          </a:p>
        </p:txBody>
      </p:sp>
      <p:sp>
        <p:nvSpPr>
          <p:cNvPr id="3" name="Выборка для выбора">
            <a:extLst xmlns:a="http://schemas.openxmlformats.org/drawingml/2006/main">
              <a:ext uri="{FF2B5EF4-FFF2-40B4-BE49-F238E27FC236}">
                <a16:creationId xmlns:a16="http://schemas.microsoft.com/office/drawing/2014/main" id="{7C50752A-4390-4BBC-8EE2-36004AB9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7775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Валидация принтера: 11 кадров с дефектом и 128 без него; порог 0,3</a:t>
            </a:r>
          </a:p>
        </p:txBody>
      </p:sp>
      <p:sp>
        <p:nvSpPr>
          <p:cNvPr id="4" name="Полнота заголовок">
            <a:extLst xmlns:a="http://schemas.openxmlformats.org/drawingml/2006/main">
              <a:ext uri="{FF2B5EF4-FFF2-40B4-BE49-F238E27FC236}">
                <a16:creationId xmlns:a16="http://schemas.microsoft.com/office/drawing/2014/main" id="{166B246D-496A-4E6F-94D5-635E7087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04975"/>
            <a:ext cx="3981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обнаружения, %</a:t>
            </a:r>
          </a:p>
        </p:txBody>
      </p:sp>
      <p:sp>
        <p:nvSpPr>
          <p:cNvPr id="5" name="Тревоги заголовок">
            <a:extLst xmlns:a="http://schemas.openxmlformats.org/drawingml/2006/main">
              <a:ext uri="{FF2B5EF4-FFF2-40B4-BE49-F238E27FC236}">
                <a16:creationId xmlns:a16="http://schemas.microsoft.com/office/drawing/2014/main" id="{156E1EB8-0EA1-4BAD-9990-4801812C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04975"/>
            <a:ext cx="3981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Доля ложных тревог, %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4F545FA-8E69-4BA2-82DA-520198CFD82A}"/>
              </a:ext>
            </a:extLst>
          </p:cNvPr>
          <p:cNvGraphicFramePr/>
          <p:nvPr/>
        </p:nvGraphicFramePr>
        <p:xfrm>
          <a:off xmlns:a="http://schemas.openxmlformats.org/drawingml/2006/main" x="295275" y="2133600"/>
          <a:ext xmlns:a="http://schemas.openxmlformats.org/drawingml/2006/main" cx="4124325" cy="1819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b78dcee8b94f71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ED964F21-4A7B-4BA8-8982-01937B37DB25}"/>
              </a:ext>
            </a:extLst>
          </p:cNvPr>
          <p:cNvGraphicFramePr/>
          <p:nvPr/>
        </p:nvGraphicFramePr>
        <p:xfrm>
          <a:off xmlns:a="http://schemas.openxmlformats.org/drawingml/2006/main" x="4705350" y="2133600"/>
          <a:ext xmlns:a="http://schemas.openxmlformats.org/drawingml/2006/main" cx="4124325" cy="1819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8bc4c2d97648d4"/>
          </a:graphicData>
        </a:graphic>
      </p:graphicFrame>
      <p:sp>
        <p:nvSpPr>
          <p:cNvPr id="8" name="Предел">
            <a:extLst xmlns:a="http://schemas.openxmlformats.org/drawingml/2006/main">
              <a:ext uri="{FF2B5EF4-FFF2-40B4-BE49-F238E27FC236}">
                <a16:creationId xmlns:a16="http://schemas.microsoft.com/office/drawing/2014/main" id="{5ECB61D2-F939-443C-95F9-E4334234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10025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Пунктир — допустимая доля ложных тревог 1 %</a:t>
            </a:r>
          </a:p>
        </p:txBody>
      </p:sp>
      <p:sp>
        <p:nvSpPr>
          <p:cNvPr id="9" name="Таблица 0 0">
            <a:extLst xmlns:a="http://schemas.openxmlformats.org/drawingml/2006/main">
              <a:ext uri="{FF2B5EF4-FFF2-40B4-BE49-F238E27FC236}">
                <a16:creationId xmlns:a16="http://schemas.microsoft.com/office/drawing/2014/main" id="{1536D90B-FC01-4CD3-8A40-F052FAD8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1975"/>
            <a:ext cx="7143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6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10" name="Текст 0 0">
            <a:extLst xmlns:a="http://schemas.openxmlformats.org/drawingml/2006/main">
              <a:ext uri="{FF2B5EF4-FFF2-40B4-BE49-F238E27FC236}">
                <a16:creationId xmlns:a16="http://schemas.microsoft.com/office/drawing/2014/main" id="{DDAB1A6F-CD84-4C09-9790-16E92B06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Эпоха</a:t>
            </a:r>
          </a:p>
        </p:txBody>
      </p:sp>
      <p:sp>
        <p:nvSpPr>
          <p:cNvPr id="11" name="Таблица 0 1">
            <a:extLst xmlns:a="http://schemas.openxmlformats.org/drawingml/2006/main">
              <a:ext uri="{FF2B5EF4-FFF2-40B4-BE49-F238E27FC236}">
                <a16:creationId xmlns:a16="http://schemas.microsoft.com/office/drawing/2014/main" id="{AA530320-027B-463D-A5A5-0A152DA8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71975"/>
            <a:ext cx="1562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6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12" name="Текст 0 1">
            <a:extLst xmlns:a="http://schemas.openxmlformats.org/drawingml/2006/main">
              <a:ext uri="{FF2B5EF4-FFF2-40B4-BE49-F238E27FC236}">
                <a16:creationId xmlns:a16="http://schemas.microsoft.com/office/drawing/2014/main" id="{D1CB9F6C-EA31-43D8-BED5-C1C52206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3865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Полнота, %</a:t>
            </a:r>
          </a:p>
        </p:txBody>
      </p:sp>
      <p:sp>
        <p:nvSpPr>
          <p:cNvPr id="13" name="Таблица 0 2">
            <a:extLst xmlns:a="http://schemas.openxmlformats.org/drawingml/2006/main">
              <a:ext uri="{FF2B5EF4-FFF2-40B4-BE49-F238E27FC236}">
                <a16:creationId xmlns:a16="http://schemas.microsoft.com/office/drawing/2014/main" id="{F3B0633C-921E-4B4E-A4A2-02815BF4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371975"/>
            <a:ext cx="19716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6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14" name="Текст 0 2">
            <a:extLst xmlns:a="http://schemas.openxmlformats.org/drawingml/2006/main">
              <a:ext uri="{FF2B5EF4-FFF2-40B4-BE49-F238E27FC236}">
                <a16:creationId xmlns:a16="http://schemas.microsoft.com/office/drawing/2014/main" id="{692E0902-A3E4-4EB1-B564-8A774F9E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438650"/>
            <a:ext cx="1895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Ложные тревоги, %</a:t>
            </a:r>
          </a:p>
        </p:txBody>
      </p:sp>
      <p:sp>
        <p:nvSpPr>
          <p:cNvPr id="15" name="Таблица 0 3">
            <a:extLst xmlns:a="http://schemas.openxmlformats.org/drawingml/2006/main">
              <a:ext uri="{FF2B5EF4-FFF2-40B4-BE49-F238E27FC236}">
                <a16:creationId xmlns:a16="http://schemas.microsoft.com/office/drawing/2014/main" id="{6D230025-7ED1-44D4-83D8-39A274F8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71975"/>
            <a:ext cx="1600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6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16" name="Текст 0 3">
            <a:extLst xmlns:a="http://schemas.openxmlformats.org/drawingml/2006/main">
              <a:ext uri="{FF2B5EF4-FFF2-40B4-BE49-F238E27FC236}">
                <a16:creationId xmlns:a16="http://schemas.microsoft.com/office/drawing/2014/main" id="{1CD69CA5-E5B4-433C-9E6D-4BC06FF6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386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</a:t>
            </a:r>
          </a:p>
        </p:txBody>
      </p:sp>
      <p:sp>
        <p:nvSpPr>
          <p:cNvPr id="17" name="Таблица 0 4">
            <a:extLst xmlns:a="http://schemas.openxmlformats.org/drawingml/2006/main">
              <a:ext uri="{FF2B5EF4-FFF2-40B4-BE49-F238E27FC236}">
                <a16:creationId xmlns:a16="http://schemas.microsoft.com/office/drawing/2014/main" id="{213DD281-1B22-4D19-9945-6569EEB1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71975"/>
            <a:ext cx="2381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6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18" name="Текст 0 4">
            <a:extLst xmlns:a="http://schemas.openxmlformats.org/drawingml/2006/main">
              <a:ext uri="{FF2B5EF4-FFF2-40B4-BE49-F238E27FC236}">
                <a16:creationId xmlns:a16="http://schemas.microsoft.com/office/drawing/2014/main" id="{71920C84-CB84-43EF-9566-4BB43864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Решение</a:t>
            </a:r>
          </a:p>
        </p:txBody>
      </p:sp>
      <p:sp>
        <p:nvSpPr>
          <p:cNvPr id="19" name="Таблица 1 0">
            <a:extLst xmlns:a="http://schemas.openxmlformats.org/drawingml/2006/main">
              <a:ext uri="{FF2B5EF4-FFF2-40B4-BE49-F238E27FC236}">
                <a16:creationId xmlns:a16="http://schemas.microsoft.com/office/drawing/2014/main" id="{5865A54E-698B-42C1-961C-46589AC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7143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20" name="Текст 1 0">
            <a:extLst xmlns:a="http://schemas.openxmlformats.org/drawingml/2006/main">
              <a:ext uri="{FF2B5EF4-FFF2-40B4-BE49-F238E27FC236}">
                <a16:creationId xmlns:a16="http://schemas.microsoft.com/office/drawing/2014/main" id="{07555B58-E66C-4CDA-B89A-0A46778D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52975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1" name="Таблица 1 1">
            <a:extLst xmlns:a="http://schemas.openxmlformats.org/drawingml/2006/main">
              <a:ext uri="{FF2B5EF4-FFF2-40B4-BE49-F238E27FC236}">
                <a16:creationId xmlns:a16="http://schemas.microsoft.com/office/drawing/2014/main" id="{079DF7F1-FECF-4D37-80F0-68C28D24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686300"/>
            <a:ext cx="1562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22" name="Текст 1 1">
            <a:extLst xmlns:a="http://schemas.openxmlformats.org/drawingml/2006/main">
              <a:ext uri="{FF2B5EF4-FFF2-40B4-BE49-F238E27FC236}">
                <a16:creationId xmlns:a16="http://schemas.microsoft.com/office/drawing/2014/main" id="{291F401C-B52B-4D32-80FA-3AB94E68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75297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72,73</a:t>
            </a:r>
          </a:p>
        </p:txBody>
      </p:sp>
      <p:sp>
        <p:nvSpPr>
          <p:cNvPr id="23" name="Таблица 1 2">
            <a:extLst xmlns:a="http://schemas.openxmlformats.org/drawingml/2006/main">
              <a:ext uri="{FF2B5EF4-FFF2-40B4-BE49-F238E27FC236}">
                <a16:creationId xmlns:a16="http://schemas.microsoft.com/office/drawing/2014/main" id="{ED5D7D8F-18ED-4AFD-93AA-4C982FA3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86300"/>
            <a:ext cx="19716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24" name="Текст 1 2">
            <a:extLst xmlns:a="http://schemas.openxmlformats.org/drawingml/2006/main">
              <a:ext uri="{FF2B5EF4-FFF2-40B4-BE49-F238E27FC236}">
                <a16:creationId xmlns:a16="http://schemas.microsoft.com/office/drawing/2014/main" id="{E0C000C0-FE7C-4EAD-92CB-B475C2F9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752975"/>
            <a:ext cx="1895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7,03</a:t>
            </a:r>
          </a:p>
        </p:txBody>
      </p:sp>
      <p:sp>
        <p:nvSpPr>
          <p:cNvPr id="25" name="Таблица 1 3">
            <a:extLst xmlns:a="http://schemas.openxmlformats.org/drawingml/2006/main">
              <a:ext uri="{FF2B5EF4-FFF2-40B4-BE49-F238E27FC236}">
                <a16:creationId xmlns:a16="http://schemas.microsoft.com/office/drawing/2014/main" id="{EE8E3F10-6D38-4138-8D6D-1131E74F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86300"/>
            <a:ext cx="1600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26" name="Текст 1 3">
            <a:extLst xmlns:a="http://schemas.openxmlformats.org/drawingml/2006/main">
              <a:ext uri="{FF2B5EF4-FFF2-40B4-BE49-F238E27FC236}">
                <a16:creationId xmlns:a16="http://schemas.microsoft.com/office/drawing/2014/main" id="{B7FBCFBE-E83C-4925-B01A-F0BF1C14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529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75,12 %</a:t>
            </a:r>
          </a:p>
        </p:txBody>
      </p:sp>
      <p:sp>
        <p:nvSpPr>
          <p:cNvPr id="27" name="Таблица 1 4">
            <a:extLst xmlns:a="http://schemas.openxmlformats.org/drawingml/2006/main">
              <a:ext uri="{FF2B5EF4-FFF2-40B4-BE49-F238E27FC236}">
                <a16:creationId xmlns:a16="http://schemas.microsoft.com/office/drawing/2014/main" id="{579E4BD2-7700-4235-9C99-6A0A9E6A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2381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28" name="Текст 1 4">
            <a:extLst xmlns:a="http://schemas.openxmlformats.org/drawingml/2006/main">
              <a:ext uri="{FF2B5EF4-FFF2-40B4-BE49-F238E27FC236}">
                <a16:creationId xmlns:a16="http://schemas.microsoft.com/office/drawing/2014/main" id="{E295AC18-F043-4F94-95FF-FAEDBC91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52975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Превышен предел 1 %</a:t>
            </a:r>
          </a:p>
        </p:txBody>
      </p:sp>
      <p:sp>
        <p:nvSpPr>
          <p:cNvPr id="29" name="Таблица 2 0">
            <a:extLst xmlns:a="http://schemas.openxmlformats.org/drawingml/2006/main">
              <a:ext uri="{FF2B5EF4-FFF2-40B4-BE49-F238E27FC236}">
                <a16:creationId xmlns:a16="http://schemas.microsoft.com/office/drawing/2014/main" id="{CBCF7055-C346-4EEE-8221-2B6ACAF7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7143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30" name="Текст 2 0">
            <a:extLst xmlns:a="http://schemas.openxmlformats.org/drawingml/2006/main">
              <a:ext uri="{FF2B5EF4-FFF2-40B4-BE49-F238E27FC236}">
                <a16:creationId xmlns:a16="http://schemas.microsoft.com/office/drawing/2014/main" id="{2A84F501-7643-404E-9EB4-787CF3CB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18</a:t>
            </a:r>
          </a:p>
        </p:txBody>
      </p:sp>
      <p:sp>
        <p:nvSpPr>
          <p:cNvPr id="31" name="Таблица 2 1">
            <a:extLst xmlns:a="http://schemas.openxmlformats.org/drawingml/2006/main">
              <a:ext uri="{FF2B5EF4-FFF2-40B4-BE49-F238E27FC236}">
                <a16:creationId xmlns:a16="http://schemas.microsoft.com/office/drawing/2014/main" id="{6F728CFE-7345-4914-BF30-9C2EBE34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000625"/>
            <a:ext cx="1562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32" name="Текст 2 1">
            <a:extLst xmlns:a="http://schemas.openxmlformats.org/drawingml/2006/main">
              <a:ext uri="{FF2B5EF4-FFF2-40B4-BE49-F238E27FC236}">
                <a16:creationId xmlns:a16="http://schemas.microsoft.com/office/drawing/2014/main" id="{60F911EA-0EE0-4689-BDFA-B936CDA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673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33" name="Таблица 2 2">
            <a:extLst xmlns:a="http://schemas.openxmlformats.org/drawingml/2006/main">
              <a:ext uri="{FF2B5EF4-FFF2-40B4-BE49-F238E27FC236}">
                <a16:creationId xmlns:a16="http://schemas.microsoft.com/office/drawing/2014/main" id="{2ACD9013-B0AB-4561-A960-146295E8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000625"/>
            <a:ext cx="19716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34" name="Текст 2 2">
            <a:extLst xmlns:a="http://schemas.openxmlformats.org/drawingml/2006/main">
              <a:ext uri="{FF2B5EF4-FFF2-40B4-BE49-F238E27FC236}">
                <a16:creationId xmlns:a16="http://schemas.microsoft.com/office/drawing/2014/main" id="{97896988-CBB5-4654-A64B-61B57C3D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067300"/>
            <a:ext cx="1895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35" name="Таблица 2 3">
            <a:extLst xmlns:a="http://schemas.openxmlformats.org/drawingml/2006/main">
              <a:ext uri="{FF2B5EF4-FFF2-40B4-BE49-F238E27FC236}">
                <a16:creationId xmlns:a16="http://schemas.microsoft.com/office/drawing/2014/main" id="{2FA2EDA4-186C-4CE5-887F-474BC073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00625"/>
            <a:ext cx="1600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36" name="Текст 2 3">
            <a:extLst xmlns:a="http://schemas.openxmlformats.org/drawingml/2006/main">
              <a:ext uri="{FF2B5EF4-FFF2-40B4-BE49-F238E27FC236}">
                <a16:creationId xmlns:a16="http://schemas.microsoft.com/office/drawing/2014/main" id="{3EE2FA56-E817-4346-90F4-D3ECF98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673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92,31 %</a:t>
            </a:r>
          </a:p>
        </p:txBody>
      </p:sp>
      <p:sp>
        <p:nvSpPr>
          <p:cNvPr id="37" name="Таблица 2 4">
            <a:extLst xmlns:a="http://schemas.openxmlformats.org/drawingml/2006/main">
              <a:ext uri="{FF2B5EF4-FFF2-40B4-BE49-F238E27FC236}">
                <a16:creationId xmlns:a16="http://schemas.microsoft.com/office/drawing/2014/main" id="{964AF8C7-D32A-46FB-8831-7A57C4EA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00625"/>
            <a:ext cx="2381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38" name="Текст 2 4">
            <a:extLst xmlns:a="http://schemas.openxmlformats.org/drawingml/2006/main">
              <a:ext uri="{FF2B5EF4-FFF2-40B4-BE49-F238E27FC236}">
                <a16:creationId xmlns:a16="http://schemas.microsoft.com/office/drawing/2014/main" id="{2887C4A4-BCD9-403A-A590-0104D2CC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67300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39" name="Таблица 3 0">
            <a:extLst xmlns:a="http://schemas.openxmlformats.org/drawingml/2006/main">
              <a:ext uri="{FF2B5EF4-FFF2-40B4-BE49-F238E27FC236}">
                <a16:creationId xmlns:a16="http://schemas.microsoft.com/office/drawing/2014/main" id="{7045BDBA-E83F-456B-A8BD-9BCFA9B2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7143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DDE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40" name="Текст 3 0">
            <a:extLst xmlns:a="http://schemas.openxmlformats.org/drawingml/2006/main">
              <a:ext uri="{FF2B5EF4-FFF2-40B4-BE49-F238E27FC236}">
                <a16:creationId xmlns:a16="http://schemas.microsoft.com/office/drawing/2014/main" id="{4F2FA95D-DCCA-4F52-815D-8264D6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19</a:t>
            </a:r>
          </a:p>
        </p:txBody>
      </p:sp>
      <p:sp>
        <p:nvSpPr>
          <p:cNvPr id="41" name="Таблица 3 1">
            <a:extLst xmlns:a="http://schemas.openxmlformats.org/drawingml/2006/main">
              <a:ext uri="{FF2B5EF4-FFF2-40B4-BE49-F238E27FC236}">
                <a16:creationId xmlns:a16="http://schemas.microsoft.com/office/drawing/2014/main" id="{AECA0BF2-3404-4BE2-880A-F20D168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314950"/>
            <a:ext cx="1562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DDE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42" name="Текст 3 1">
            <a:extLst xmlns:a="http://schemas.openxmlformats.org/drawingml/2006/main">
              <a:ext uri="{FF2B5EF4-FFF2-40B4-BE49-F238E27FC236}">
                <a16:creationId xmlns:a16="http://schemas.microsoft.com/office/drawing/2014/main" id="{06DDACFF-B074-444F-8971-E5C3A08A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381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43" name="Таблица 3 2">
            <a:extLst xmlns:a="http://schemas.openxmlformats.org/drawingml/2006/main">
              <a:ext uri="{FF2B5EF4-FFF2-40B4-BE49-F238E27FC236}">
                <a16:creationId xmlns:a16="http://schemas.microsoft.com/office/drawing/2014/main" id="{32729F54-53A3-4585-BAFB-B9DCAC4C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314950"/>
            <a:ext cx="19716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DDE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44" name="Текст 3 2">
            <a:extLst xmlns:a="http://schemas.openxmlformats.org/drawingml/2006/main">
              <a:ext uri="{FF2B5EF4-FFF2-40B4-BE49-F238E27FC236}">
                <a16:creationId xmlns:a16="http://schemas.microsoft.com/office/drawing/2014/main" id="{AEC02963-FAC2-4F6D-9050-7D92786E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381625"/>
            <a:ext cx="1895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45" name="Таблица 3 3">
            <a:extLst xmlns:a="http://schemas.openxmlformats.org/drawingml/2006/main">
              <a:ext uri="{FF2B5EF4-FFF2-40B4-BE49-F238E27FC236}">
                <a16:creationId xmlns:a16="http://schemas.microsoft.com/office/drawing/2014/main" id="{07A5AA23-56CE-4D0F-8712-B336580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14950"/>
            <a:ext cx="1600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DDE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46" name="Текст 3 3">
            <a:extLst xmlns:a="http://schemas.openxmlformats.org/drawingml/2006/main">
              <a:ext uri="{FF2B5EF4-FFF2-40B4-BE49-F238E27FC236}">
                <a16:creationId xmlns:a16="http://schemas.microsoft.com/office/drawing/2014/main" id="{5A5414E3-5F6D-4E99-A599-0092C4D6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816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94,63 %</a:t>
            </a:r>
          </a:p>
        </p:txBody>
      </p:sp>
      <p:sp>
        <p:nvSpPr>
          <p:cNvPr id="47" name="Таблица 3 4">
            <a:extLst xmlns:a="http://schemas.openxmlformats.org/drawingml/2006/main">
              <a:ext uri="{FF2B5EF4-FFF2-40B4-BE49-F238E27FC236}">
                <a16:creationId xmlns:a16="http://schemas.microsoft.com/office/drawing/2014/main" id="{1D51B389-AA76-4262-AFAA-73900ECB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14950"/>
            <a:ext cx="2381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DDE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48" name="Текст 3 4">
            <a:extLst xmlns:a="http://schemas.openxmlformats.org/drawingml/2006/main">
              <a:ext uri="{FF2B5EF4-FFF2-40B4-BE49-F238E27FC236}">
                <a16:creationId xmlns:a16="http://schemas.microsoft.com/office/drawing/2014/main" id="{2A05845B-B204-4C71-9238-EDFD1CEA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81625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Выбрана</a:t>
            </a:r>
          </a:p>
        </p:txBody>
      </p:sp>
      <p:sp>
        <p:nvSpPr>
          <p:cNvPr id="49" name="Таблица 4 0">
            <a:extLst xmlns:a="http://schemas.openxmlformats.org/drawingml/2006/main">
              <a:ext uri="{FF2B5EF4-FFF2-40B4-BE49-F238E27FC236}">
                <a16:creationId xmlns:a16="http://schemas.microsoft.com/office/drawing/2014/main" id="{ABB65E8B-544D-495D-9927-84B663F9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29275"/>
            <a:ext cx="7143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50" name="Текст 4 0">
            <a:extLst xmlns:a="http://schemas.openxmlformats.org/drawingml/2006/main">
              <a:ext uri="{FF2B5EF4-FFF2-40B4-BE49-F238E27FC236}">
                <a16:creationId xmlns:a16="http://schemas.microsoft.com/office/drawing/2014/main" id="{88A98AD4-85F6-4642-AFBC-71AC54C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20</a:t>
            </a:r>
          </a:p>
        </p:txBody>
      </p:sp>
      <p:sp>
        <p:nvSpPr>
          <p:cNvPr id="51" name="Таблица 4 1">
            <a:extLst xmlns:a="http://schemas.openxmlformats.org/drawingml/2006/main">
              <a:ext uri="{FF2B5EF4-FFF2-40B4-BE49-F238E27FC236}">
                <a16:creationId xmlns:a16="http://schemas.microsoft.com/office/drawing/2014/main" id="{6BEC2855-9830-4B5F-B6B3-742BC4E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629275"/>
            <a:ext cx="1562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52" name="Текст 4 1">
            <a:extLst xmlns:a="http://schemas.openxmlformats.org/drawingml/2006/main">
              <a:ext uri="{FF2B5EF4-FFF2-40B4-BE49-F238E27FC236}">
                <a16:creationId xmlns:a16="http://schemas.microsoft.com/office/drawing/2014/main" id="{A5A16B6A-513A-416E-81C3-F52ED50A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69595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53" name="Таблица 4 2">
            <a:extLst xmlns:a="http://schemas.openxmlformats.org/drawingml/2006/main">
              <a:ext uri="{FF2B5EF4-FFF2-40B4-BE49-F238E27FC236}">
                <a16:creationId xmlns:a16="http://schemas.microsoft.com/office/drawing/2014/main" id="{2808D197-633C-4375-AD68-D9F718B5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629275"/>
            <a:ext cx="19716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54" name="Текст 4 2">
            <a:extLst xmlns:a="http://schemas.openxmlformats.org/drawingml/2006/main">
              <a:ext uri="{FF2B5EF4-FFF2-40B4-BE49-F238E27FC236}">
                <a16:creationId xmlns:a16="http://schemas.microsoft.com/office/drawing/2014/main" id="{396804F3-23E3-46E4-80D1-C98EE5B7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695950"/>
            <a:ext cx="1895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55" name="Таблица 4 3">
            <a:extLst xmlns:a="http://schemas.openxmlformats.org/drawingml/2006/main">
              <a:ext uri="{FF2B5EF4-FFF2-40B4-BE49-F238E27FC236}">
                <a16:creationId xmlns:a16="http://schemas.microsoft.com/office/drawing/2014/main" id="{07FF36A2-9BD4-4F87-9B13-53C6A734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629275"/>
            <a:ext cx="1600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56" name="Текст 4 3">
            <a:extLst xmlns:a="http://schemas.openxmlformats.org/drawingml/2006/main">
              <a:ext uri="{FF2B5EF4-FFF2-40B4-BE49-F238E27FC236}">
                <a16:creationId xmlns:a16="http://schemas.microsoft.com/office/drawing/2014/main" id="{CB6D0B6D-1C9A-454F-9B4A-94D7D360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959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92,45 %</a:t>
            </a:r>
          </a:p>
        </p:txBody>
      </p:sp>
      <p:sp>
        <p:nvSpPr>
          <p:cNvPr id="57" name="Таблица 4 4">
            <a:extLst xmlns:a="http://schemas.openxmlformats.org/drawingml/2006/main">
              <a:ext uri="{FF2B5EF4-FFF2-40B4-BE49-F238E27FC236}">
                <a16:creationId xmlns:a16="http://schemas.microsoft.com/office/drawing/2014/main" id="{C42B87B4-27F3-4D8B-B85A-10C3AEA5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29275"/>
            <a:ext cx="2381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4BEC9"/>
            </a:solidFill>
            <a:prstDash val="solid"/>
          </a:ln>
        </p:spPr>
      </p:sp>
      <p:sp>
        <p:nvSpPr>
          <p:cNvPr id="58" name="Текст 4 4">
            <a:extLst xmlns:a="http://schemas.openxmlformats.org/drawingml/2006/main">
              <a:ext uri="{FF2B5EF4-FFF2-40B4-BE49-F238E27FC236}">
                <a16:creationId xmlns:a16="http://schemas.microsoft.com/office/drawing/2014/main" id="{993035EC-A141-495C-94B7-827F9F92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95950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59" name="Обоснование">
            <a:extLst xmlns:a="http://schemas.openxmlformats.org/drawingml/2006/main">
              <a:ext uri="{FF2B5EF4-FFF2-40B4-BE49-F238E27FC236}">
                <a16:creationId xmlns:a16="http://schemas.microsoft.com/office/drawing/2014/main" id="{D66663B7-F3D2-4686-940B-74AB59BB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4575"/>
            <a:ext cx="8229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19-я эпоха: 6 из 11 дефектных кадров, ни одной ложной тревоги. При равной полноте средняя точность на кадрах принтера максимальна.</a:t>
            </a:r>
          </a:p>
        </p:txBody>
      </p:sp>
      <p:sp>
        <p:nvSpPr>
          <p:cNvPr id="60" name="Номер">
            <a:extLst xmlns:a="http://schemas.openxmlformats.org/drawingml/2006/main">
              <a:ext uri="{FF2B5EF4-FFF2-40B4-BE49-F238E27FC236}">
                <a16:creationId xmlns:a16="http://schemas.microsoft.com/office/drawing/2014/main" id="{0F5FD285-0829-4C59-84DD-5C8BF77B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57225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3148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2026-10-08T22:57:36.8140000Z</dcterms:created>
  <dcterms:modified xsi:type="dcterms:W3CDTF">2026-10-08T22:57:36.8140000Z</dcterms:modified>
</coreProperties>
</file>